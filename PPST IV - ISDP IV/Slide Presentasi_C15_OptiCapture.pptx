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nter Bold" charset="1" panose="02000503000000020004"/>
      <p:regular r:id="rId21"/>
    </p:embeddedFont>
    <p:embeddedFont>
      <p:font typeface="Montserrat Semi-Bold" charset="1" panose="00000700000000000000"/>
      <p:regular r:id="rId22"/>
    </p:embeddedFont>
    <p:embeddedFont>
      <p:font typeface="Poppins Bold" charset="1" panose="00000800000000000000"/>
      <p:regular r:id="rId23"/>
    </p:embeddedFont>
    <p:embeddedFont>
      <p:font typeface="Inter" charset="1" panose="02000503000000020004"/>
      <p:regular r:id="rId24"/>
    </p:embeddedFont>
    <p:embeddedFont>
      <p:font typeface="Public Sans 1 Bold" charset="1" panose="00000000000000000000"/>
      <p:regular r:id="rId25"/>
    </p:embeddedFont>
    <p:embeddedFont>
      <p:font typeface="Public Sans 2 Bold" charset="1" panose="00000000000000000000"/>
      <p:regular r:id="rId26"/>
    </p:embeddedFont>
    <p:embeddedFont>
      <p:font typeface="Public Sans 2" charset="1" panose="00000000000000000000"/>
      <p:regular r:id="rId27"/>
    </p:embeddedFont>
    <p:embeddedFont>
      <p:font typeface="Open Sans Bold" charset="1" panose="020B0806030504020204"/>
      <p:regular r:id="rId28"/>
    </p:embeddedFont>
    <p:embeddedFont>
      <p:font typeface="Inter Medium" charset="1" panose="02000503000000020004"/>
      <p:regular r:id="rId29"/>
    </p:embeddedFont>
    <p:embeddedFont>
      <p:font typeface="Inter Italics" charset="1" panose="020005030000000200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0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34.png" Type="http://schemas.openxmlformats.org/officeDocument/2006/relationships/image"/><Relationship Id="rId4" Target="../embeddings/oleObject1.bin" Type="http://schemas.openxmlformats.org/officeDocument/2006/relationships/oleObject"/><Relationship Id="rId5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35.jpe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111" r="0" b="-21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97453"/>
            <a:ext cx="18569227" cy="10384453"/>
            <a:chOff x="0" y="0"/>
            <a:chExt cx="4890661" cy="273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90661" cy="2735000"/>
            </a:xfrm>
            <a:custGeom>
              <a:avLst/>
              <a:gdLst/>
              <a:ahLst/>
              <a:cxnLst/>
              <a:rect r="r" b="b" t="t" l="l"/>
              <a:pathLst>
                <a:path h="2735000" w="4890661">
                  <a:moveTo>
                    <a:pt x="0" y="0"/>
                  </a:moveTo>
                  <a:lnTo>
                    <a:pt x="4890661" y="0"/>
                  </a:lnTo>
                  <a:lnTo>
                    <a:pt x="4890661" y="2735000"/>
                  </a:lnTo>
                  <a:lnTo>
                    <a:pt x="0" y="273500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25000">
                  <a:srgbClr val="FFFFFF">
                    <a:alpha val="22500"/>
                  </a:srgbClr>
                </a:gs>
                <a:gs pos="50000">
                  <a:srgbClr val="FFFFFF">
                    <a:alpha val="56000"/>
                  </a:srgbClr>
                </a:gs>
                <a:gs pos="7500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90661" cy="27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45813" y="2700045"/>
            <a:ext cx="10653613" cy="1634304"/>
            <a:chOff x="0" y="0"/>
            <a:chExt cx="2805890" cy="4304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05890" cy="430434"/>
            </a:xfrm>
            <a:custGeom>
              <a:avLst/>
              <a:gdLst/>
              <a:ahLst/>
              <a:cxnLst/>
              <a:rect r="r" b="b" t="t" l="l"/>
              <a:pathLst>
                <a:path h="430434" w="2805890">
                  <a:moveTo>
                    <a:pt x="25434" y="0"/>
                  </a:moveTo>
                  <a:lnTo>
                    <a:pt x="2780456" y="0"/>
                  </a:lnTo>
                  <a:cubicBezTo>
                    <a:pt x="2794503" y="0"/>
                    <a:pt x="2805890" y="11387"/>
                    <a:pt x="2805890" y="25434"/>
                  </a:cubicBezTo>
                  <a:lnTo>
                    <a:pt x="2805890" y="405000"/>
                  </a:lnTo>
                  <a:cubicBezTo>
                    <a:pt x="2805890" y="411745"/>
                    <a:pt x="2803210" y="418215"/>
                    <a:pt x="2798440" y="422984"/>
                  </a:cubicBezTo>
                  <a:cubicBezTo>
                    <a:pt x="2793671" y="427754"/>
                    <a:pt x="2787201" y="430434"/>
                    <a:pt x="2780456" y="430434"/>
                  </a:cubicBezTo>
                  <a:lnTo>
                    <a:pt x="25434" y="430434"/>
                  </a:lnTo>
                  <a:cubicBezTo>
                    <a:pt x="11387" y="430434"/>
                    <a:pt x="0" y="419047"/>
                    <a:pt x="0" y="405000"/>
                  </a:cubicBezTo>
                  <a:lnTo>
                    <a:pt x="0" y="25434"/>
                  </a:lnTo>
                  <a:cubicBezTo>
                    <a:pt x="0" y="11387"/>
                    <a:pt x="11387" y="0"/>
                    <a:pt x="254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05890" cy="4685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620546" y="8060491"/>
            <a:ext cx="11546822" cy="3025868"/>
            <a:chOff x="0" y="0"/>
            <a:chExt cx="3041138" cy="7969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41138" cy="796936"/>
            </a:xfrm>
            <a:custGeom>
              <a:avLst/>
              <a:gdLst/>
              <a:ahLst/>
              <a:cxnLst/>
              <a:rect r="r" b="b" t="t" l="l"/>
              <a:pathLst>
                <a:path h="796936" w="3041138">
                  <a:moveTo>
                    <a:pt x="44922" y="0"/>
                  </a:moveTo>
                  <a:lnTo>
                    <a:pt x="2996216" y="0"/>
                  </a:lnTo>
                  <a:cubicBezTo>
                    <a:pt x="3008130" y="0"/>
                    <a:pt x="3019556" y="4733"/>
                    <a:pt x="3027981" y="13157"/>
                  </a:cubicBezTo>
                  <a:cubicBezTo>
                    <a:pt x="3036405" y="21582"/>
                    <a:pt x="3041138" y="33008"/>
                    <a:pt x="3041138" y="44922"/>
                  </a:cubicBezTo>
                  <a:lnTo>
                    <a:pt x="3041138" y="752014"/>
                  </a:lnTo>
                  <a:cubicBezTo>
                    <a:pt x="3041138" y="763928"/>
                    <a:pt x="3036405" y="775354"/>
                    <a:pt x="3027981" y="783779"/>
                  </a:cubicBezTo>
                  <a:cubicBezTo>
                    <a:pt x="3019556" y="792204"/>
                    <a:pt x="3008130" y="796936"/>
                    <a:pt x="2996216" y="796936"/>
                  </a:cubicBezTo>
                  <a:lnTo>
                    <a:pt x="44922" y="796936"/>
                  </a:lnTo>
                  <a:cubicBezTo>
                    <a:pt x="33008" y="796936"/>
                    <a:pt x="21582" y="792204"/>
                    <a:pt x="13157" y="783779"/>
                  </a:cubicBezTo>
                  <a:cubicBezTo>
                    <a:pt x="4733" y="775354"/>
                    <a:pt x="0" y="763928"/>
                    <a:pt x="0" y="752014"/>
                  </a:cubicBezTo>
                  <a:lnTo>
                    <a:pt x="0" y="44922"/>
                  </a:lnTo>
                  <a:cubicBezTo>
                    <a:pt x="0" y="33008"/>
                    <a:pt x="4733" y="21582"/>
                    <a:pt x="13157" y="13157"/>
                  </a:cubicBezTo>
                  <a:cubicBezTo>
                    <a:pt x="21582" y="4733"/>
                    <a:pt x="33008" y="0"/>
                    <a:pt x="449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3041138" cy="854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05193" y="6851628"/>
            <a:ext cx="2201842" cy="220184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3450" r="0" b="-154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997585" y="6851628"/>
            <a:ext cx="2201842" cy="220184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61102" r="0" b="-6110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2625224" y="2036692"/>
            <a:ext cx="11416799" cy="10936844"/>
            <a:chOff x="0" y="0"/>
            <a:chExt cx="15222399" cy="145824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32507" y="0"/>
              <a:ext cx="13589892" cy="13589892"/>
            </a:xfrm>
            <a:custGeom>
              <a:avLst/>
              <a:gdLst/>
              <a:ahLst/>
              <a:cxnLst/>
              <a:rect r="r" b="b" t="t" l="l"/>
              <a:pathLst>
                <a:path h="13589892" w="13589892">
                  <a:moveTo>
                    <a:pt x="0" y="0"/>
                  </a:moveTo>
                  <a:lnTo>
                    <a:pt x="13589892" y="0"/>
                  </a:lnTo>
                  <a:lnTo>
                    <a:pt x="13589892" y="13589892"/>
                  </a:lnTo>
                  <a:lnTo>
                    <a:pt x="0" y="13589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992567"/>
              <a:ext cx="13589892" cy="13589892"/>
            </a:xfrm>
            <a:custGeom>
              <a:avLst/>
              <a:gdLst/>
              <a:ahLst/>
              <a:cxnLst/>
              <a:rect r="r" b="b" t="t" l="l"/>
              <a:pathLst>
                <a:path h="13589892" w="13589892">
                  <a:moveTo>
                    <a:pt x="0" y="0"/>
                  </a:moveTo>
                  <a:lnTo>
                    <a:pt x="13589892" y="0"/>
                  </a:lnTo>
                  <a:lnTo>
                    <a:pt x="13589892" y="13589892"/>
                  </a:lnTo>
                  <a:lnTo>
                    <a:pt x="0" y="13589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895510" y="669609"/>
              <a:ext cx="7862640" cy="12920283"/>
            </a:xfrm>
            <a:custGeom>
              <a:avLst/>
              <a:gdLst/>
              <a:ahLst/>
              <a:cxnLst/>
              <a:rect r="r" b="b" t="t" l="l"/>
              <a:pathLst>
                <a:path h="12920283" w="7862640">
                  <a:moveTo>
                    <a:pt x="0" y="0"/>
                  </a:moveTo>
                  <a:lnTo>
                    <a:pt x="7862640" y="0"/>
                  </a:lnTo>
                  <a:lnTo>
                    <a:pt x="7862640" y="12920283"/>
                  </a:lnTo>
                  <a:lnTo>
                    <a:pt x="0" y="12920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7260" r="-2857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45813" y="4419013"/>
            <a:ext cx="4835988" cy="888582"/>
            <a:chOff x="0" y="0"/>
            <a:chExt cx="1273676" cy="2340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73676" cy="234030"/>
            </a:xfrm>
            <a:custGeom>
              <a:avLst/>
              <a:gdLst/>
              <a:ahLst/>
              <a:cxnLst/>
              <a:rect r="r" b="b" t="t" l="l"/>
              <a:pathLst>
                <a:path h="234030" w="1273676">
                  <a:moveTo>
                    <a:pt x="36821" y="0"/>
                  </a:moveTo>
                  <a:lnTo>
                    <a:pt x="1236855" y="0"/>
                  </a:lnTo>
                  <a:cubicBezTo>
                    <a:pt x="1257191" y="0"/>
                    <a:pt x="1273676" y="16485"/>
                    <a:pt x="1273676" y="36821"/>
                  </a:cubicBezTo>
                  <a:lnTo>
                    <a:pt x="1273676" y="197209"/>
                  </a:lnTo>
                  <a:cubicBezTo>
                    <a:pt x="1273676" y="217545"/>
                    <a:pt x="1257191" y="234030"/>
                    <a:pt x="1236855" y="234030"/>
                  </a:cubicBezTo>
                  <a:lnTo>
                    <a:pt x="36821" y="234030"/>
                  </a:lnTo>
                  <a:cubicBezTo>
                    <a:pt x="27055" y="234030"/>
                    <a:pt x="17690" y="230151"/>
                    <a:pt x="10785" y="223245"/>
                  </a:cubicBezTo>
                  <a:cubicBezTo>
                    <a:pt x="3879" y="216340"/>
                    <a:pt x="0" y="206975"/>
                    <a:pt x="0" y="197209"/>
                  </a:cubicBezTo>
                  <a:lnTo>
                    <a:pt x="0" y="36821"/>
                  </a:lnTo>
                  <a:cubicBezTo>
                    <a:pt x="0" y="16485"/>
                    <a:pt x="16485" y="0"/>
                    <a:pt x="36821" y="0"/>
                  </a:cubicBezTo>
                  <a:close/>
                </a:path>
              </a:pathLst>
            </a:custGeom>
            <a:solidFill>
              <a:srgbClr val="034C4D">
                <a:alpha val="53725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73676" cy="272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246584" y="506606"/>
            <a:ext cx="3526582" cy="785415"/>
            <a:chOff x="0" y="0"/>
            <a:chExt cx="928812" cy="2068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8812" cy="206858"/>
            </a:xfrm>
            <a:custGeom>
              <a:avLst/>
              <a:gdLst/>
              <a:ahLst/>
              <a:cxnLst/>
              <a:rect r="r" b="b" t="t" l="l"/>
              <a:pathLst>
                <a:path h="206858" w="928812">
                  <a:moveTo>
                    <a:pt x="103429" y="0"/>
                  </a:moveTo>
                  <a:lnTo>
                    <a:pt x="825383" y="0"/>
                  </a:lnTo>
                  <a:cubicBezTo>
                    <a:pt x="882505" y="0"/>
                    <a:pt x="928812" y="46307"/>
                    <a:pt x="928812" y="103429"/>
                  </a:cubicBezTo>
                  <a:lnTo>
                    <a:pt x="928812" y="103429"/>
                  </a:lnTo>
                  <a:cubicBezTo>
                    <a:pt x="928812" y="160552"/>
                    <a:pt x="882505" y="206858"/>
                    <a:pt x="825383" y="206858"/>
                  </a:cubicBezTo>
                  <a:lnTo>
                    <a:pt x="103429" y="206858"/>
                  </a:lnTo>
                  <a:cubicBezTo>
                    <a:pt x="46307" y="206858"/>
                    <a:pt x="0" y="160552"/>
                    <a:pt x="0" y="103429"/>
                  </a:cubicBezTo>
                  <a:lnTo>
                    <a:pt x="0" y="103429"/>
                  </a:lnTo>
                  <a:cubicBezTo>
                    <a:pt x="0" y="46307"/>
                    <a:pt x="46307" y="0"/>
                    <a:pt x="103429" y="0"/>
                  </a:cubicBez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28812" cy="2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5990825" y="605426"/>
            <a:ext cx="0" cy="587775"/>
          </a:xfrm>
          <a:prstGeom prst="line">
            <a:avLst/>
          </a:prstGeom>
          <a:ln cap="flat" w="19050">
            <a:solidFill>
              <a:srgbClr val="F9F8E4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6822473" y="2871086"/>
            <a:ext cx="10376954" cy="132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582" b="true">
                <a:gradFill>
                  <a:gsLst>
                    <a:gs pos="0">
                      <a:srgbClr val="D8F9FF">
                        <a:alpha val="100000"/>
                      </a:srgbClr>
                    </a:gs>
                    <a:gs pos="100000">
                      <a:srgbClr val="F9F8E4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Perancangan Pabrik Tripod PT PPST Manufacturing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39345" y="4426563"/>
            <a:ext cx="4448924" cy="7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5"/>
              </a:lnSpc>
            </a:pPr>
            <a:r>
              <a:rPr lang="en-US" b="true" sz="4610">
                <a:gradFill>
                  <a:gsLst>
                    <a:gs pos="0">
                      <a:srgbClr val="D8F9FF">
                        <a:alpha val="100000"/>
                      </a:srgbClr>
                    </a:gs>
                    <a:gs pos="100000">
                      <a:srgbClr val="F9F8E4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PT OptiCapture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0" y="9156141"/>
            <a:ext cx="3061193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Nur Yasin A.F</a:t>
            </a:r>
          </a:p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13423113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72824" y="9156141"/>
            <a:ext cx="1866581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Rizky Miftah 13423118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592389" y="9156141"/>
            <a:ext cx="2666911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 Yasin Nurfadlilah</a:t>
            </a:r>
            <a:r>
              <a:rPr lang="en-US" b="true" sz="2100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13423136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22473" y="5421896"/>
            <a:ext cx="2756362" cy="539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1"/>
              </a:lnSpc>
            </a:pPr>
            <a:r>
              <a:rPr lang="en-US" sz="3151" b="true">
                <a:solidFill>
                  <a:srgbClr val="003C43"/>
                </a:solidFill>
                <a:latin typeface="Inter Bold"/>
                <a:ea typeface="Inter Bold"/>
                <a:cs typeface="Inter Bold"/>
                <a:sym typeface="Inter Bold"/>
              </a:rPr>
              <a:t>Kelompok C15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08188" y="537442"/>
            <a:ext cx="1525487" cy="61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TI3094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073792" y="720514"/>
            <a:ext cx="1529957" cy="42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3243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PPST IV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395495" y="6851628"/>
            <a:ext cx="2330029" cy="2330029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6194" t="0" r="-6194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05222" y="201321"/>
            <a:ext cx="2874537" cy="610570"/>
            <a:chOff x="0" y="0"/>
            <a:chExt cx="757080" cy="160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7080" cy="160809"/>
            </a:xfrm>
            <a:custGeom>
              <a:avLst/>
              <a:gdLst/>
              <a:ahLst/>
              <a:cxnLst/>
              <a:rect r="r" b="b" t="t" l="l"/>
              <a:pathLst>
                <a:path h="160809" w="757080">
                  <a:moveTo>
                    <a:pt x="0" y="0"/>
                  </a:moveTo>
                  <a:lnTo>
                    <a:pt x="757080" y="0"/>
                  </a:lnTo>
                  <a:lnTo>
                    <a:pt x="757080" y="160809"/>
                  </a:lnTo>
                  <a:lnTo>
                    <a:pt x="0" y="160809"/>
                  </a:lnTo>
                  <a:close/>
                </a:path>
              </a:pathLst>
            </a:custGeom>
            <a:gradFill rotWithShape="true">
              <a:gsLst>
                <a:gs pos="0">
                  <a:srgbClr val="06D1B2">
                    <a:alpha val="100000"/>
                  </a:srgbClr>
                </a:gs>
                <a:gs pos="100000">
                  <a:srgbClr val="006D8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7080" cy="19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93108" y="-19244"/>
            <a:ext cx="12352120" cy="10325489"/>
          </a:xfrm>
          <a:custGeom>
            <a:avLst/>
            <a:gdLst/>
            <a:ahLst/>
            <a:cxnLst/>
            <a:rect r="r" b="b" t="t" l="l"/>
            <a:pathLst>
              <a:path h="10325489" w="12352120">
                <a:moveTo>
                  <a:pt x="0" y="0"/>
                </a:moveTo>
                <a:lnTo>
                  <a:pt x="12352120" y="0"/>
                </a:lnTo>
                <a:lnTo>
                  <a:pt x="12352120" y="10325488"/>
                </a:lnTo>
                <a:lnTo>
                  <a:pt x="0" y="10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33" t="0" r="-1273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83309" y="-275581"/>
            <a:ext cx="10972320" cy="10758087"/>
            <a:chOff x="0" y="0"/>
            <a:chExt cx="2889829" cy="28334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829" cy="2833406"/>
            </a:xfrm>
            <a:custGeom>
              <a:avLst/>
              <a:gdLst/>
              <a:ahLst/>
              <a:cxnLst/>
              <a:rect r="r" b="b" t="t" l="l"/>
              <a:pathLst>
                <a:path h="2833406" w="2889829">
                  <a:moveTo>
                    <a:pt x="0" y="0"/>
                  </a:moveTo>
                  <a:lnTo>
                    <a:pt x="2889829" y="0"/>
                  </a:lnTo>
                  <a:lnTo>
                    <a:pt x="2889829" y="2833406"/>
                  </a:lnTo>
                  <a:lnTo>
                    <a:pt x="0" y="2833406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0000"/>
                  </a:srgbClr>
                </a:gs>
                <a:gs pos="100000">
                  <a:srgbClr val="135D66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89829" cy="2871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51565" y="3343619"/>
            <a:ext cx="8544494" cy="736643"/>
            <a:chOff x="0" y="0"/>
            <a:chExt cx="2692710" cy="2321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92710" cy="232146"/>
            </a:xfrm>
            <a:custGeom>
              <a:avLst/>
              <a:gdLst/>
              <a:ahLst/>
              <a:cxnLst/>
              <a:rect r="r" b="b" t="t" l="l"/>
              <a:pathLst>
                <a:path h="232146" w="2692710">
                  <a:moveTo>
                    <a:pt x="0" y="0"/>
                  </a:moveTo>
                  <a:lnTo>
                    <a:pt x="2692710" y="0"/>
                  </a:lnTo>
                  <a:lnTo>
                    <a:pt x="2692710" y="232146"/>
                  </a:lnTo>
                  <a:lnTo>
                    <a:pt x="0" y="232146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92710" cy="270246"/>
            </a:xfrm>
            <a:prstGeom prst="rect">
              <a:avLst/>
            </a:prstGeom>
          </p:spPr>
          <p:txBody>
            <a:bodyPr anchor="ctr" rtlCol="false" tIns="42456" lIns="42456" bIns="42456" rIns="42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1873" y="1601582"/>
            <a:ext cx="8544494" cy="736643"/>
            <a:chOff x="0" y="0"/>
            <a:chExt cx="2692710" cy="2321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92710" cy="232146"/>
            </a:xfrm>
            <a:custGeom>
              <a:avLst/>
              <a:gdLst/>
              <a:ahLst/>
              <a:cxnLst/>
              <a:rect r="r" b="b" t="t" l="l"/>
              <a:pathLst>
                <a:path h="232146" w="2692710">
                  <a:moveTo>
                    <a:pt x="0" y="0"/>
                  </a:moveTo>
                  <a:lnTo>
                    <a:pt x="2692710" y="0"/>
                  </a:lnTo>
                  <a:lnTo>
                    <a:pt x="2692710" y="232146"/>
                  </a:lnTo>
                  <a:lnTo>
                    <a:pt x="0" y="232146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692710" cy="270246"/>
            </a:xfrm>
            <a:prstGeom prst="rect">
              <a:avLst/>
            </a:prstGeom>
          </p:spPr>
          <p:txBody>
            <a:bodyPr anchor="ctr" rtlCol="false" tIns="42456" lIns="42456" bIns="42456" rIns="42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366986" y="1804752"/>
            <a:ext cx="8291479" cy="30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Menganalisis </a:t>
            </a:r>
            <a:r>
              <a:rPr lang="en-US" sz="18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permintaan produk</a:t>
            </a: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yang harus diproduksi PT PPST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1873" y="2465667"/>
            <a:ext cx="8544494" cy="736643"/>
            <a:chOff x="0" y="0"/>
            <a:chExt cx="2692710" cy="23214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92710" cy="232146"/>
            </a:xfrm>
            <a:custGeom>
              <a:avLst/>
              <a:gdLst/>
              <a:ahLst/>
              <a:cxnLst/>
              <a:rect r="r" b="b" t="t" l="l"/>
              <a:pathLst>
                <a:path h="232146" w="2692710">
                  <a:moveTo>
                    <a:pt x="0" y="0"/>
                  </a:moveTo>
                  <a:lnTo>
                    <a:pt x="2692710" y="0"/>
                  </a:lnTo>
                  <a:lnTo>
                    <a:pt x="2692710" y="232146"/>
                  </a:lnTo>
                  <a:lnTo>
                    <a:pt x="0" y="232146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692710" cy="270246"/>
            </a:xfrm>
            <a:prstGeom prst="rect">
              <a:avLst/>
            </a:prstGeom>
          </p:spPr>
          <p:txBody>
            <a:bodyPr anchor="ctr" rtlCol="false" tIns="42456" lIns="42456" bIns="42456" rIns="42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51565" y="4232345"/>
            <a:ext cx="8544494" cy="736643"/>
            <a:chOff x="0" y="0"/>
            <a:chExt cx="2692710" cy="2321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92710" cy="232146"/>
            </a:xfrm>
            <a:custGeom>
              <a:avLst/>
              <a:gdLst/>
              <a:ahLst/>
              <a:cxnLst/>
              <a:rect r="r" b="b" t="t" l="l"/>
              <a:pathLst>
                <a:path h="232146" w="2692710">
                  <a:moveTo>
                    <a:pt x="0" y="0"/>
                  </a:moveTo>
                  <a:lnTo>
                    <a:pt x="2692710" y="0"/>
                  </a:lnTo>
                  <a:lnTo>
                    <a:pt x="2692710" y="232146"/>
                  </a:lnTo>
                  <a:lnTo>
                    <a:pt x="0" y="232146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692710" cy="270246"/>
            </a:xfrm>
            <a:prstGeom prst="rect">
              <a:avLst/>
            </a:prstGeom>
          </p:spPr>
          <p:txBody>
            <a:bodyPr anchor="ctr" rtlCol="false" tIns="42456" lIns="42456" bIns="42456" rIns="42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378793" y="2513609"/>
            <a:ext cx="8307574" cy="61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Menyusun </a:t>
            </a:r>
            <a:r>
              <a:rPr lang="en-US" sz="18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Multi Product Process Chart (MPPC)</a:t>
            </a: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untuk mengetahui jumlah mesin yang dibutuhkan untuk memproduksi tripod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78793" y="3546789"/>
            <a:ext cx="8291479" cy="30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Menghitung </a:t>
            </a:r>
            <a:r>
              <a:rPr lang="en-US" sz="18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Ongkos Material Handling (OMH)</a:t>
            </a: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PT PPST Manufacturing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66986" y="4334991"/>
            <a:ext cx="8236763" cy="61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6"/>
              </a:lnSpc>
            </a:pP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Merancang </a:t>
            </a:r>
            <a:r>
              <a:rPr lang="en-US" sz="18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ARC, ARD, AAD</a:t>
            </a: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kantor dan keseluruhan pabrik PT PPST Manufacturing</a:t>
            </a:r>
          </a:p>
        </p:txBody>
      </p:sp>
      <p:grpSp>
        <p:nvGrpSpPr>
          <p:cNvPr name="Group 25" id="25"/>
          <p:cNvGrpSpPr/>
          <p:nvPr/>
        </p:nvGrpSpPr>
        <p:grpSpPr>
          <a:xfrm rot="5400000">
            <a:off x="8174174" y="1711204"/>
            <a:ext cx="1289752" cy="865903"/>
            <a:chOff x="0" y="0"/>
            <a:chExt cx="744224" cy="4996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4224" cy="499651"/>
            </a:xfrm>
            <a:custGeom>
              <a:avLst/>
              <a:gdLst/>
              <a:ahLst/>
              <a:cxnLst/>
              <a:rect r="r" b="b" t="t" l="l"/>
              <a:pathLst>
                <a:path h="499651" w="744224">
                  <a:moveTo>
                    <a:pt x="0" y="0"/>
                  </a:moveTo>
                  <a:lnTo>
                    <a:pt x="541024" y="0"/>
                  </a:lnTo>
                  <a:lnTo>
                    <a:pt x="744224" y="249825"/>
                  </a:lnTo>
                  <a:lnTo>
                    <a:pt x="541024" y="499651"/>
                  </a:lnTo>
                  <a:lnTo>
                    <a:pt x="0" y="499651"/>
                  </a:lnTo>
                  <a:lnTo>
                    <a:pt x="203200" y="2498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DCD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77800" y="-38100"/>
              <a:ext cx="490224" cy="537751"/>
            </a:xfrm>
            <a:prstGeom prst="rect">
              <a:avLst/>
            </a:prstGeom>
          </p:spPr>
          <p:txBody>
            <a:bodyPr anchor="ctr" rtlCol="false" tIns="42456" lIns="42456" bIns="42456" rIns="42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566397" y="1959886"/>
            <a:ext cx="505306" cy="476313"/>
            <a:chOff x="0" y="0"/>
            <a:chExt cx="862275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2275" cy="812800"/>
            </a:xfrm>
            <a:custGeom>
              <a:avLst/>
              <a:gdLst/>
              <a:ahLst/>
              <a:cxnLst/>
              <a:rect r="r" b="b" t="t" l="l"/>
              <a:pathLst>
                <a:path h="812800" w="862275">
                  <a:moveTo>
                    <a:pt x="431138" y="0"/>
                  </a:moveTo>
                  <a:cubicBezTo>
                    <a:pt x="193027" y="0"/>
                    <a:pt x="0" y="181951"/>
                    <a:pt x="0" y="406400"/>
                  </a:cubicBezTo>
                  <a:cubicBezTo>
                    <a:pt x="0" y="630849"/>
                    <a:pt x="193027" y="812800"/>
                    <a:pt x="431138" y="812800"/>
                  </a:cubicBezTo>
                  <a:cubicBezTo>
                    <a:pt x="669248" y="812800"/>
                    <a:pt x="862275" y="630849"/>
                    <a:pt x="862275" y="406400"/>
                  </a:cubicBezTo>
                  <a:cubicBezTo>
                    <a:pt x="862275" y="181951"/>
                    <a:pt x="669248" y="0"/>
                    <a:pt x="4311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80838" y="19050"/>
              <a:ext cx="700599" cy="717550"/>
            </a:xfrm>
            <a:prstGeom prst="rect">
              <a:avLst/>
            </a:prstGeom>
          </p:spPr>
          <p:txBody>
            <a:bodyPr anchor="ctr" rtlCol="false" tIns="55816" lIns="55816" bIns="55816" rIns="55816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668608" y="2020956"/>
            <a:ext cx="314975" cy="36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8"/>
              </a:lnSpc>
            </a:pPr>
            <a:r>
              <a:rPr lang="en-US" b="true" sz="2346">
                <a:solidFill>
                  <a:srgbClr val="AA000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grpSp>
        <p:nvGrpSpPr>
          <p:cNvPr name="Group 32" id="32"/>
          <p:cNvGrpSpPr/>
          <p:nvPr/>
        </p:nvGrpSpPr>
        <p:grpSpPr>
          <a:xfrm rot="5400000">
            <a:off x="8174174" y="2547026"/>
            <a:ext cx="1289752" cy="865903"/>
            <a:chOff x="0" y="0"/>
            <a:chExt cx="744224" cy="4996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4224" cy="499651"/>
            </a:xfrm>
            <a:custGeom>
              <a:avLst/>
              <a:gdLst/>
              <a:ahLst/>
              <a:cxnLst/>
              <a:rect r="r" b="b" t="t" l="l"/>
              <a:pathLst>
                <a:path h="499651" w="744224">
                  <a:moveTo>
                    <a:pt x="0" y="0"/>
                  </a:moveTo>
                  <a:lnTo>
                    <a:pt x="541024" y="0"/>
                  </a:lnTo>
                  <a:lnTo>
                    <a:pt x="744224" y="249825"/>
                  </a:lnTo>
                  <a:lnTo>
                    <a:pt x="541024" y="499651"/>
                  </a:lnTo>
                  <a:lnTo>
                    <a:pt x="0" y="499651"/>
                  </a:lnTo>
                  <a:lnTo>
                    <a:pt x="203200" y="2498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B0AA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77800" y="-38100"/>
              <a:ext cx="490224" cy="537751"/>
            </a:xfrm>
            <a:prstGeom prst="rect">
              <a:avLst/>
            </a:prstGeom>
          </p:spPr>
          <p:txBody>
            <a:bodyPr anchor="ctr" rtlCol="false" tIns="42456" lIns="42456" bIns="42456" rIns="42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5400000">
            <a:off x="8174174" y="3393331"/>
            <a:ext cx="1289752" cy="865903"/>
            <a:chOff x="0" y="0"/>
            <a:chExt cx="744224" cy="4996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4224" cy="499651"/>
            </a:xfrm>
            <a:custGeom>
              <a:avLst/>
              <a:gdLst/>
              <a:ahLst/>
              <a:cxnLst/>
              <a:rect r="r" b="b" t="t" l="l"/>
              <a:pathLst>
                <a:path h="499651" w="744224">
                  <a:moveTo>
                    <a:pt x="0" y="0"/>
                  </a:moveTo>
                  <a:lnTo>
                    <a:pt x="541024" y="0"/>
                  </a:lnTo>
                  <a:lnTo>
                    <a:pt x="744224" y="249825"/>
                  </a:lnTo>
                  <a:lnTo>
                    <a:pt x="541024" y="499651"/>
                  </a:lnTo>
                  <a:lnTo>
                    <a:pt x="0" y="499651"/>
                  </a:lnTo>
                  <a:lnTo>
                    <a:pt x="203200" y="2498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7B8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77800" y="-38100"/>
              <a:ext cx="490224" cy="537751"/>
            </a:xfrm>
            <a:prstGeom prst="rect">
              <a:avLst/>
            </a:prstGeom>
          </p:spPr>
          <p:txBody>
            <a:bodyPr anchor="ctr" rtlCol="false" tIns="42456" lIns="42456" bIns="42456" rIns="42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5400000">
            <a:off x="8174174" y="4255602"/>
            <a:ext cx="1289752" cy="865903"/>
            <a:chOff x="0" y="0"/>
            <a:chExt cx="744224" cy="4996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4224" cy="499651"/>
            </a:xfrm>
            <a:custGeom>
              <a:avLst/>
              <a:gdLst/>
              <a:ahLst/>
              <a:cxnLst/>
              <a:rect r="r" b="b" t="t" l="l"/>
              <a:pathLst>
                <a:path h="499651" w="744224">
                  <a:moveTo>
                    <a:pt x="0" y="0"/>
                  </a:moveTo>
                  <a:lnTo>
                    <a:pt x="541024" y="0"/>
                  </a:lnTo>
                  <a:lnTo>
                    <a:pt x="744224" y="249825"/>
                  </a:lnTo>
                  <a:lnTo>
                    <a:pt x="541024" y="499651"/>
                  </a:lnTo>
                  <a:lnTo>
                    <a:pt x="0" y="499651"/>
                  </a:lnTo>
                  <a:lnTo>
                    <a:pt x="203200" y="2498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5D6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77800" y="-38100"/>
              <a:ext cx="490224" cy="537751"/>
            </a:xfrm>
            <a:prstGeom prst="rect">
              <a:avLst/>
            </a:prstGeom>
          </p:spPr>
          <p:txBody>
            <a:bodyPr anchor="ctr" rtlCol="false" tIns="42456" lIns="42456" bIns="42456" rIns="42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566397" y="2807519"/>
            <a:ext cx="505306" cy="476313"/>
            <a:chOff x="0" y="0"/>
            <a:chExt cx="862275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62275" cy="812800"/>
            </a:xfrm>
            <a:custGeom>
              <a:avLst/>
              <a:gdLst/>
              <a:ahLst/>
              <a:cxnLst/>
              <a:rect r="r" b="b" t="t" l="l"/>
              <a:pathLst>
                <a:path h="812800" w="862275">
                  <a:moveTo>
                    <a:pt x="431138" y="0"/>
                  </a:moveTo>
                  <a:cubicBezTo>
                    <a:pt x="193027" y="0"/>
                    <a:pt x="0" y="181951"/>
                    <a:pt x="0" y="406400"/>
                  </a:cubicBezTo>
                  <a:cubicBezTo>
                    <a:pt x="0" y="630849"/>
                    <a:pt x="193027" y="812800"/>
                    <a:pt x="431138" y="812800"/>
                  </a:cubicBezTo>
                  <a:cubicBezTo>
                    <a:pt x="669248" y="812800"/>
                    <a:pt x="862275" y="630849"/>
                    <a:pt x="862275" y="406400"/>
                  </a:cubicBezTo>
                  <a:cubicBezTo>
                    <a:pt x="862275" y="181951"/>
                    <a:pt x="669248" y="0"/>
                    <a:pt x="4311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3" id="43"/>
            <p:cNvSpPr txBox="true"/>
            <p:nvPr/>
          </p:nvSpPr>
          <p:spPr>
            <a:xfrm>
              <a:off x="80838" y="19050"/>
              <a:ext cx="700599" cy="717550"/>
            </a:xfrm>
            <a:prstGeom prst="rect">
              <a:avLst/>
            </a:prstGeom>
          </p:spPr>
          <p:txBody>
            <a:bodyPr anchor="ctr" rtlCol="false" tIns="55816" lIns="55816" bIns="55816" rIns="55816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8668608" y="2868588"/>
            <a:ext cx="314975" cy="36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8"/>
              </a:lnSpc>
            </a:pPr>
            <a:r>
              <a:rPr lang="en-US" sz="2346" b="true">
                <a:solidFill>
                  <a:srgbClr val="AA000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566397" y="3655151"/>
            <a:ext cx="505306" cy="476313"/>
            <a:chOff x="0" y="0"/>
            <a:chExt cx="862275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62275" cy="812800"/>
            </a:xfrm>
            <a:custGeom>
              <a:avLst/>
              <a:gdLst/>
              <a:ahLst/>
              <a:cxnLst/>
              <a:rect r="r" b="b" t="t" l="l"/>
              <a:pathLst>
                <a:path h="812800" w="862275">
                  <a:moveTo>
                    <a:pt x="431138" y="0"/>
                  </a:moveTo>
                  <a:cubicBezTo>
                    <a:pt x="193027" y="0"/>
                    <a:pt x="0" y="181951"/>
                    <a:pt x="0" y="406400"/>
                  </a:cubicBezTo>
                  <a:cubicBezTo>
                    <a:pt x="0" y="630849"/>
                    <a:pt x="193027" y="812800"/>
                    <a:pt x="431138" y="812800"/>
                  </a:cubicBezTo>
                  <a:cubicBezTo>
                    <a:pt x="669248" y="812800"/>
                    <a:pt x="862275" y="630849"/>
                    <a:pt x="862275" y="406400"/>
                  </a:cubicBezTo>
                  <a:cubicBezTo>
                    <a:pt x="862275" y="181951"/>
                    <a:pt x="669248" y="0"/>
                    <a:pt x="4311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7" id="47"/>
            <p:cNvSpPr txBox="true"/>
            <p:nvPr/>
          </p:nvSpPr>
          <p:spPr>
            <a:xfrm>
              <a:off x="80838" y="19050"/>
              <a:ext cx="700599" cy="717550"/>
            </a:xfrm>
            <a:prstGeom prst="rect">
              <a:avLst/>
            </a:prstGeom>
          </p:spPr>
          <p:txBody>
            <a:bodyPr anchor="ctr" rtlCol="false" tIns="55816" lIns="55816" bIns="55816" rIns="55816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8668608" y="3716220"/>
            <a:ext cx="314975" cy="36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8"/>
              </a:lnSpc>
            </a:pPr>
            <a:r>
              <a:rPr lang="en-US" sz="2346" b="true">
                <a:solidFill>
                  <a:srgbClr val="AA000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566397" y="4530934"/>
            <a:ext cx="505306" cy="476313"/>
            <a:chOff x="0" y="0"/>
            <a:chExt cx="862275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62275" cy="812800"/>
            </a:xfrm>
            <a:custGeom>
              <a:avLst/>
              <a:gdLst/>
              <a:ahLst/>
              <a:cxnLst/>
              <a:rect r="r" b="b" t="t" l="l"/>
              <a:pathLst>
                <a:path h="812800" w="862275">
                  <a:moveTo>
                    <a:pt x="431138" y="0"/>
                  </a:moveTo>
                  <a:cubicBezTo>
                    <a:pt x="193027" y="0"/>
                    <a:pt x="0" y="181951"/>
                    <a:pt x="0" y="406400"/>
                  </a:cubicBezTo>
                  <a:cubicBezTo>
                    <a:pt x="0" y="630849"/>
                    <a:pt x="193027" y="812800"/>
                    <a:pt x="431138" y="812800"/>
                  </a:cubicBezTo>
                  <a:cubicBezTo>
                    <a:pt x="669248" y="812800"/>
                    <a:pt x="862275" y="630849"/>
                    <a:pt x="862275" y="406400"/>
                  </a:cubicBezTo>
                  <a:cubicBezTo>
                    <a:pt x="862275" y="181951"/>
                    <a:pt x="669248" y="0"/>
                    <a:pt x="4311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1" id="51"/>
            <p:cNvSpPr txBox="true"/>
            <p:nvPr/>
          </p:nvSpPr>
          <p:spPr>
            <a:xfrm>
              <a:off x="80838" y="19050"/>
              <a:ext cx="700599" cy="717550"/>
            </a:xfrm>
            <a:prstGeom prst="rect">
              <a:avLst/>
            </a:prstGeom>
          </p:spPr>
          <p:txBody>
            <a:bodyPr anchor="ctr" rtlCol="false" tIns="55816" lIns="55816" bIns="55816" rIns="55816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8668608" y="4592004"/>
            <a:ext cx="314975" cy="36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8"/>
              </a:lnSpc>
            </a:pPr>
            <a:r>
              <a:rPr lang="en-US" sz="2346" b="true">
                <a:solidFill>
                  <a:srgbClr val="AA0000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151565" y="5102338"/>
            <a:ext cx="8544494" cy="736643"/>
            <a:chOff x="0" y="0"/>
            <a:chExt cx="2692710" cy="23214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92710" cy="232146"/>
            </a:xfrm>
            <a:custGeom>
              <a:avLst/>
              <a:gdLst/>
              <a:ahLst/>
              <a:cxnLst/>
              <a:rect r="r" b="b" t="t" l="l"/>
              <a:pathLst>
                <a:path h="232146" w="2692710">
                  <a:moveTo>
                    <a:pt x="0" y="0"/>
                  </a:moveTo>
                  <a:lnTo>
                    <a:pt x="2692710" y="0"/>
                  </a:lnTo>
                  <a:lnTo>
                    <a:pt x="2692710" y="232146"/>
                  </a:lnTo>
                  <a:lnTo>
                    <a:pt x="0" y="232146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692710" cy="270246"/>
            </a:xfrm>
            <a:prstGeom prst="rect">
              <a:avLst/>
            </a:prstGeom>
          </p:spPr>
          <p:txBody>
            <a:bodyPr anchor="ctr" rtlCol="false" tIns="42456" lIns="42456" bIns="42456" rIns="42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51565" y="5972331"/>
            <a:ext cx="8544494" cy="736643"/>
            <a:chOff x="0" y="0"/>
            <a:chExt cx="2692710" cy="23214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92710" cy="232146"/>
            </a:xfrm>
            <a:custGeom>
              <a:avLst/>
              <a:gdLst/>
              <a:ahLst/>
              <a:cxnLst/>
              <a:rect r="r" b="b" t="t" l="l"/>
              <a:pathLst>
                <a:path h="232146" w="2692710">
                  <a:moveTo>
                    <a:pt x="0" y="0"/>
                  </a:moveTo>
                  <a:lnTo>
                    <a:pt x="2692710" y="0"/>
                  </a:lnTo>
                  <a:lnTo>
                    <a:pt x="2692710" y="232146"/>
                  </a:lnTo>
                  <a:lnTo>
                    <a:pt x="0" y="232146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692710" cy="270246"/>
            </a:xfrm>
            <a:prstGeom prst="rect">
              <a:avLst/>
            </a:prstGeom>
          </p:spPr>
          <p:txBody>
            <a:bodyPr anchor="ctr" rtlCol="false" tIns="42456" lIns="42456" bIns="42456" rIns="42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5400000">
            <a:off x="8169666" y="5166838"/>
            <a:ext cx="1289752" cy="865903"/>
            <a:chOff x="0" y="0"/>
            <a:chExt cx="744224" cy="49965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44224" cy="499651"/>
            </a:xfrm>
            <a:custGeom>
              <a:avLst/>
              <a:gdLst/>
              <a:ahLst/>
              <a:cxnLst/>
              <a:rect r="r" b="b" t="t" l="l"/>
              <a:pathLst>
                <a:path h="499651" w="744224">
                  <a:moveTo>
                    <a:pt x="0" y="0"/>
                  </a:moveTo>
                  <a:lnTo>
                    <a:pt x="541024" y="0"/>
                  </a:lnTo>
                  <a:lnTo>
                    <a:pt x="744224" y="249825"/>
                  </a:lnTo>
                  <a:lnTo>
                    <a:pt x="541024" y="499651"/>
                  </a:lnTo>
                  <a:lnTo>
                    <a:pt x="0" y="499651"/>
                  </a:lnTo>
                  <a:lnTo>
                    <a:pt x="203200" y="2498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5159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177800" y="-38100"/>
              <a:ext cx="490224" cy="537751"/>
            </a:xfrm>
            <a:prstGeom prst="rect">
              <a:avLst/>
            </a:prstGeom>
          </p:spPr>
          <p:txBody>
            <a:bodyPr anchor="ctr" rtlCol="false" tIns="42456" lIns="42456" bIns="42456" rIns="42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5400000">
            <a:off x="8169666" y="6023315"/>
            <a:ext cx="1289752" cy="865903"/>
            <a:chOff x="0" y="0"/>
            <a:chExt cx="744224" cy="49965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44224" cy="499651"/>
            </a:xfrm>
            <a:custGeom>
              <a:avLst/>
              <a:gdLst/>
              <a:ahLst/>
              <a:cxnLst/>
              <a:rect r="r" b="b" t="t" l="l"/>
              <a:pathLst>
                <a:path h="499651" w="744224">
                  <a:moveTo>
                    <a:pt x="0" y="0"/>
                  </a:moveTo>
                  <a:lnTo>
                    <a:pt x="541024" y="0"/>
                  </a:lnTo>
                  <a:lnTo>
                    <a:pt x="744224" y="249825"/>
                  </a:lnTo>
                  <a:lnTo>
                    <a:pt x="541024" y="499651"/>
                  </a:lnTo>
                  <a:lnTo>
                    <a:pt x="0" y="499651"/>
                  </a:lnTo>
                  <a:lnTo>
                    <a:pt x="203200" y="2498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177800" y="-38100"/>
              <a:ext cx="490224" cy="537751"/>
            </a:xfrm>
            <a:prstGeom prst="rect">
              <a:avLst/>
            </a:prstGeom>
          </p:spPr>
          <p:txBody>
            <a:bodyPr anchor="ctr" rtlCol="false" tIns="42456" lIns="42456" bIns="42456" rIns="4245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566397" y="5390579"/>
            <a:ext cx="505306" cy="476313"/>
            <a:chOff x="0" y="0"/>
            <a:chExt cx="862275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62275" cy="812800"/>
            </a:xfrm>
            <a:custGeom>
              <a:avLst/>
              <a:gdLst/>
              <a:ahLst/>
              <a:cxnLst/>
              <a:rect r="r" b="b" t="t" l="l"/>
              <a:pathLst>
                <a:path h="812800" w="862275">
                  <a:moveTo>
                    <a:pt x="431138" y="0"/>
                  </a:moveTo>
                  <a:cubicBezTo>
                    <a:pt x="193027" y="0"/>
                    <a:pt x="0" y="181951"/>
                    <a:pt x="0" y="406400"/>
                  </a:cubicBezTo>
                  <a:cubicBezTo>
                    <a:pt x="0" y="630849"/>
                    <a:pt x="193027" y="812800"/>
                    <a:pt x="431138" y="812800"/>
                  </a:cubicBezTo>
                  <a:cubicBezTo>
                    <a:pt x="669248" y="812800"/>
                    <a:pt x="862275" y="630849"/>
                    <a:pt x="862275" y="406400"/>
                  </a:cubicBezTo>
                  <a:cubicBezTo>
                    <a:pt x="862275" y="181951"/>
                    <a:pt x="669248" y="0"/>
                    <a:pt x="4311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7" id="67"/>
            <p:cNvSpPr txBox="true"/>
            <p:nvPr/>
          </p:nvSpPr>
          <p:spPr>
            <a:xfrm>
              <a:off x="80838" y="19050"/>
              <a:ext cx="700599" cy="717550"/>
            </a:xfrm>
            <a:prstGeom prst="rect">
              <a:avLst/>
            </a:prstGeom>
          </p:spPr>
          <p:txBody>
            <a:bodyPr anchor="ctr" rtlCol="false" tIns="55816" lIns="55816" bIns="55816" rIns="55816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8668608" y="5451649"/>
            <a:ext cx="314975" cy="36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8"/>
              </a:lnSpc>
            </a:pPr>
            <a:r>
              <a:rPr lang="en-US" sz="2346" b="true">
                <a:solidFill>
                  <a:srgbClr val="AA0000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8555313" y="6244665"/>
            <a:ext cx="505306" cy="476313"/>
            <a:chOff x="0" y="0"/>
            <a:chExt cx="862275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62275" cy="812800"/>
            </a:xfrm>
            <a:custGeom>
              <a:avLst/>
              <a:gdLst/>
              <a:ahLst/>
              <a:cxnLst/>
              <a:rect r="r" b="b" t="t" l="l"/>
              <a:pathLst>
                <a:path h="812800" w="862275">
                  <a:moveTo>
                    <a:pt x="431138" y="0"/>
                  </a:moveTo>
                  <a:cubicBezTo>
                    <a:pt x="193027" y="0"/>
                    <a:pt x="0" y="181951"/>
                    <a:pt x="0" y="406400"/>
                  </a:cubicBezTo>
                  <a:cubicBezTo>
                    <a:pt x="0" y="630849"/>
                    <a:pt x="193027" y="812800"/>
                    <a:pt x="431138" y="812800"/>
                  </a:cubicBezTo>
                  <a:cubicBezTo>
                    <a:pt x="669248" y="812800"/>
                    <a:pt x="862275" y="630849"/>
                    <a:pt x="862275" y="406400"/>
                  </a:cubicBezTo>
                  <a:cubicBezTo>
                    <a:pt x="862275" y="181951"/>
                    <a:pt x="669248" y="0"/>
                    <a:pt x="4311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1" id="71"/>
            <p:cNvSpPr txBox="true"/>
            <p:nvPr/>
          </p:nvSpPr>
          <p:spPr>
            <a:xfrm>
              <a:off x="80838" y="19050"/>
              <a:ext cx="700599" cy="717550"/>
            </a:xfrm>
            <a:prstGeom prst="rect">
              <a:avLst/>
            </a:prstGeom>
          </p:spPr>
          <p:txBody>
            <a:bodyPr anchor="ctr" rtlCol="false" tIns="55816" lIns="55816" bIns="55816" rIns="55816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8657525" y="6305735"/>
            <a:ext cx="314975" cy="36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8"/>
              </a:lnSpc>
            </a:pPr>
            <a:r>
              <a:rPr lang="en-US" sz="2346" b="true">
                <a:solidFill>
                  <a:srgbClr val="AA0000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366986" y="5295753"/>
            <a:ext cx="8406180" cy="30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Merancang </a:t>
            </a:r>
            <a:r>
              <a:rPr lang="en-US" sz="18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tata letak optimal</a:t>
            </a: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dari pabrik tripod PT PPST Manufacturing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366986" y="6010431"/>
            <a:ext cx="8406180" cy="61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Menganalisis </a:t>
            </a:r>
            <a:r>
              <a:rPr lang="en-US" sz="18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kelayakan investasi</a:t>
            </a: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beserta skenario </a:t>
            </a:r>
            <a:r>
              <a:rPr lang="en-US" sz="18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pengembalian pinjaman</a:t>
            </a: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dari PT PPST Manufacturing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4476613" y="248359"/>
            <a:ext cx="3526582" cy="785415"/>
            <a:chOff x="0" y="0"/>
            <a:chExt cx="928812" cy="20685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28812" cy="206858"/>
            </a:xfrm>
            <a:custGeom>
              <a:avLst/>
              <a:gdLst/>
              <a:ahLst/>
              <a:cxnLst/>
              <a:rect r="r" b="b" t="t" l="l"/>
              <a:pathLst>
                <a:path h="206858" w="928812">
                  <a:moveTo>
                    <a:pt x="103429" y="0"/>
                  </a:moveTo>
                  <a:lnTo>
                    <a:pt x="825383" y="0"/>
                  </a:lnTo>
                  <a:cubicBezTo>
                    <a:pt x="882505" y="0"/>
                    <a:pt x="928812" y="46307"/>
                    <a:pt x="928812" y="103429"/>
                  </a:cubicBezTo>
                  <a:lnTo>
                    <a:pt x="928812" y="103429"/>
                  </a:lnTo>
                  <a:cubicBezTo>
                    <a:pt x="928812" y="160552"/>
                    <a:pt x="882505" y="206858"/>
                    <a:pt x="825383" y="206858"/>
                  </a:cubicBezTo>
                  <a:lnTo>
                    <a:pt x="103429" y="206858"/>
                  </a:lnTo>
                  <a:cubicBezTo>
                    <a:pt x="46307" y="206858"/>
                    <a:pt x="0" y="160552"/>
                    <a:pt x="0" y="103429"/>
                  </a:cubicBezTo>
                  <a:lnTo>
                    <a:pt x="0" y="103429"/>
                  </a:lnTo>
                  <a:cubicBezTo>
                    <a:pt x="0" y="46307"/>
                    <a:pt x="46307" y="0"/>
                    <a:pt x="103429" y="0"/>
                  </a:cubicBez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928812" cy="2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78" id="78"/>
          <p:cNvSpPr/>
          <p:nvPr/>
        </p:nvSpPr>
        <p:spPr>
          <a:xfrm>
            <a:off x="16220854" y="347180"/>
            <a:ext cx="0" cy="587775"/>
          </a:xfrm>
          <a:prstGeom prst="line">
            <a:avLst/>
          </a:prstGeom>
          <a:ln cap="flat" w="19050">
            <a:solidFill>
              <a:srgbClr val="F9F8E4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79" id="79"/>
          <p:cNvSpPr/>
          <p:nvPr/>
        </p:nvSpPr>
        <p:spPr>
          <a:xfrm flipH="false" flipV="false" rot="0">
            <a:off x="341024" y="1123296"/>
            <a:ext cx="1874537" cy="3019871"/>
          </a:xfrm>
          <a:custGeom>
            <a:avLst/>
            <a:gdLst/>
            <a:ahLst/>
            <a:cxnLst/>
            <a:rect r="r" b="b" t="t" l="l"/>
            <a:pathLst>
              <a:path h="3019871" w="1874537">
                <a:moveTo>
                  <a:pt x="0" y="0"/>
                </a:moveTo>
                <a:lnTo>
                  <a:pt x="1874537" y="0"/>
                </a:lnTo>
                <a:lnTo>
                  <a:pt x="1874537" y="3019871"/>
                </a:lnTo>
                <a:lnTo>
                  <a:pt x="0" y="3019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362" t="0" r="-76548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2395997" y="1228858"/>
            <a:ext cx="622507" cy="584323"/>
          </a:xfrm>
          <a:custGeom>
            <a:avLst/>
            <a:gdLst/>
            <a:ahLst/>
            <a:cxnLst/>
            <a:rect r="r" b="b" t="t" l="l"/>
            <a:pathLst>
              <a:path h="584323" w="622507">
                <a:moveTo>
                  <a:pt x="0" y="0"/>
                </a:moveTo>
                <a:lnTo>
                  <a:pt x="622508" y="0"/>
                </a:lnTo>
                <a:lnTo>
                  <a:pt x="622508" y="584322"/>
                </a:lnTo>
                <a:lnTo>
                  <a:pt x="0" y="584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534" r="0" b="0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0">
            <a:off x="2215561" y="1643794"/>
            <a:ext cx="5519193" cy="2499373"/>
            <a:chOff x="0" y="0"/>
            <a:chExt cx="1289240" cy="58383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289240" cy="583834"/>
            </a:xfrm>
            <a:custGeom>
              <a:avLst/>
              <a:gdLst/>
              <a:ahLst/>
              <a:cxnLst/>
              <a:rect r="r" b="b" t="t" l="l"/>
              <a:pathLst>
                <a:path h="583834" w="1289240">
                  <a:moveTo>
                    <a:pt x="25249" y="0"/>
                  </a:moveTo>
                  <a:lnTo>
                    <a:pt x="1263991" y="0"/>
                  </a:lnTo>
                  <a:cubicBezTo>
                    <a:pt x="1270687" y="0"/>
                    <a:pt x="1277110" y="2660"/>
                    <a:pt x="1281845" y="7395"/>
                  </a:cubicBezTo>
                  <a:cubicBezTo>
                    <a:pt x="1286580" y="12130"/>
                    <a:pt x="1289240" y="18553"/>
                    <a:pt x="1289240" y="25249"/>
                  </a:cubicBezTo>
                  <a:lnTo>
                    <a:pt x="1289240" y="558585"/>
                  </a:lnTo>
                  <a:cubicBezTo>
                    <a:pt x="1289240" y="565281"/>
                    <a:pt x="1286580" y="571703"/>
                    <a:pt x="1281845" y="576439"/>
                  </a:cubicBezTo>
                  <a:cubicBezTo>
                    <a:pt x="1277110" y="581174"/>
                    <a:pt x="1270687" y="583834"/>
                    <a:pt x="1263991" y="583834"/>
                  </a:cubicBezTo>
                  <a:lnTo>
                    <a:pt x="25249" y="583834"/>
                  </a:lnTo>
                  <a:cubicBezTo>
                    <a:pt x="18553" y="583834"/>
                    <a:pt x="12130" y="581174"/>
                    <a:pt x="7395" y="576439"/>
                  </a:cubicBezTo>
                  <a:cubicBezTo>
                    <a:pt x="2660" y="571703"/>
                    <a:pt x="0" y="565281"/>
                    <a:pt x="0" y="558585"/>
                  </a:cubicBezTo>
                  <a:lnTo>
                    <a:pt x="0" y="25249"/>
                  </a:lnTo>
                  <a:cubicBezTo>
                    <a:pt x="0" y="18553"/>
                    <a:pt x="2660" y="12130"/>
                    <a:pt x="7395" y="7395"/>
                  </a:cubicBezTo>
                  <a:cubicBezTo>
                    <a:pt x="12130" y="2660"/>
                    <a:pt x="18553" y="0"/>
                    <a:pt x="252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17200"/>
                  </a:srgbClr>
                </a:gs>
                <a:gs pos="50000">
                  <a:srgbClr val="FBDC96">
                    <a:alpha val="2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1289240" cy="640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2348375" y="1917053"/>
            <a:ext cx="3603044" cy="329190"/>
            <a:chOff x="0" y="0"/>
            <a:chExt cx="973377" cy="8893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73377" cy="88932"/>
            </a:xfrm>
            <a:custGeom>
              <a:avLst/>
              <a:gdLst/>
              <a:ahLst/>
              <a:cxnLst/>
              <a:rect r="r" b="b" t="t" l="l"/>
              <a:pathLst>
                <a:path h="88932" w="973377">
                  <a:moveTo>
                    <a:pt x="27933" y="0"/>
                  </a:moveTo>
                  <a:lnTo>
                    <a:pt x="945444" y="0"/>
                  </a:lnTo>
                  <a:cubicBezTo>
                    <a:pt x="960871" y="0"/>
                    <a:pt x="973377" y="12506"/>
                    <a:pt x="973377" y="27933"/>
                  </a:cubicBezTo>
                  <a:lnTo>
                    <a:pt x="973377" y="60999"/>
                  </a:lnTo>
                  <a:cubicBezTo>
                    <a:pt x="973377" y="76426"/>
                    <a:pt x="960871" y="88932"/>
                    <a:pt x="945444" y="88932"/>
                  </a:cubicBezTo>
                  <a:lnTo>
                    <a:pt x="27933" y="88932"/>
                  </a:lnTo>
                  <a:cubicBezTo>
                    <a:pt x="12506" y="88932"/>
                    <a:pt x="0" y="76426"/>
                    <a:pt x="0" y="60999"/>
                  </a:cubicBezTo>
                  <a:lnTo>
                    <a:pt x="0" y="27933"/>
                  </a:lnTo>
                  <a:cubicBezTo>
                    <a:pt x="0" y="12506"/>
                    <a:pt x="12506" y="0"/>
                    <a:pt x="27933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973377" cy="146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341024" y="4533692"/>
            <a:ext cx="5678364" cy="4584267"/>
          </a:xfrm>
          <a:custGeom>
            <a:avLst/>
            <a:gdLst/>
            <a:ahLst/>
            <a:cxnLst/>
            <a:rect r="r" b="b" t="t" l="l"/>
            <a:pathLst>
              <a:path h="4584267" w="5678364">
                <a:moveTo>
                  <a:pt x="0" y="0"/>
                </a:moveTo>
                <a:lnTo>
                  <a:pt x="5678364" y="0"/>
                </a:lnTo>
                <a:lnTo>
                  <a:pt x="5678364" y="4584267"/>
                </a:lnTo>
                <a:lnTo>
                  <a:pt x="0" y="4584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4975158" y="2277185"/>
            <a:ext cx="1863405" cy="289397"/>
            <a:chOff x="0" y="0"/>
            <a:chExt cx="503407" cy="7818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03407" cy="78182"/>
            </a:xfrm>
            <a:custGeom>
              <a:avLst/>
              <a:gdLst/>
              <a:ahLst/>
              <a:cxnLst/>
              <a:rect r="r" b="b" t="t" l="l"/>
              <a:pathLst>
                <a:path h="78182" w="503407">
                  <a:moveTo>
                    <a:pt x="39091" y="0"/>
                  </a:moveTo>
                  <a:lnTo>
                    <a:pt x="464316" y="0"/>
                  </a:lnTo>
                  <a:cubicBezTo>
                    <a:pt x="485905" y="0"/>
                    <a:pt x="503407" y="17502"/>
                    <a:pt x="503407" y="39091"/>
                  </a:cubicBezTo>
                  <a:lnTo>
                    <a:pt x="503407" y="39091"/>
                  </a:lnTo>
                  <a:cubicBezTo>
                    <a:pt x="503407" y="49459"/>
                    <a:pt x="499288" y="59401"/>
                    <a:pt x="491957" y="66732"/>
                  </a:cubicBezTo>
                  <a:cubicBezTo>
                    <a:pt x="484626" y="74063"/>
                    <a:pt x="474683" y="78182"/>
                    <a:pt x="464316" y="78182"/>
                  </a:cubicBezTo>
                  <a:lnTo>
                    <a:pt x="39091" y="78182"/>
                  </a:lnTo>
                  <a:cubicBezTo>
                    <a:pt x="17502" y="78182"/>
                    <a:pt x="0" y="60680"/>
                    <a:pt x="0" y="39091"/>
                  </a:cubicBezTo>
                  <a:lnTo>
                    <a:pt x="0" y="39091"/>
                  </a:lnTo>
                  <a:cubicBezTo>
                    <a:pt x="0" y="17502"/>
                    <a:pt x="17502" y="0"/>
                    <a:pt x="39091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503407" cy="135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5342936" y="2618488"/>
            <a:ext cx="890841" cy="289397"/>
            <a:chOff x="0" y="0"/>
            <a:chExt cx="240664" cy="7818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40664" cy="78182"/>
            </a:xfrm>
            <a:custGeom>
              <a:avLst/>
              <a:gdLst/>
              <a:ahLst/>
              <a:cxnLst/>
              <a:rect r="r" b="b" t="t" l="l"/>
              <a:pathLst>
                <a:path h="78182" w="240664">
                  <a:moveTo>
                    <a:pt x="39091" y="0"/>
                  </a:moveTo>
                  <a:lnTo>
                    <a:pt x="201573" y="0"/>
                  </a:lnTo>
                  <a:cubicBezTo>
                    <a:pt x="223163" y="0"/>
                    <a:pt x="240664" y="17502"/>
                    <a:pt x="240664" y="39091"/>
                  </a:cubicBezTo>
                  <a:lnTo>
                    <a:pt x="240664" y="39091"/>
                  </a:lnTo>
                  <a:cubicBezTo>
                    <a:pt x="240664" y="49459"/>
                    <a:pt x="236546" y="59401"/>
                    <a:pt x="229215" y="66732"/>
                  </a:cubicBezTo>
                  <a:cubicBezTo>
                    <a:pt x="221884" y="74063"/>
                    <a:pt x="211941" y="78182"/>
                    <a:pt x="201573" y="78182"/>
                  </a:cubicBezTo>
                  <a:lnTo>
                    <a:pt x="39091" y="78182"/>
                  </a:lnTo>
                  <a:cubicBezTo>
                    <a:pt x="17502" y="78182"/>
                    <a:pt x="0" y="60680"/>
                    <a:pt x="0" y="39091"/>
                  </a:cubicBezTo>
                  <a:lnTo>
                    <a:pt x="0" y="39091"/>
                  </a:lnTo>
                  <a:cubicBezTo>
                    <a:pt x="0" y="17502"/>
                    <a:pt x="17502" y="0"/>
                    <a:pt x="39091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57150"/>
              <a:ext cx="240664" cy="135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2311423" y="3609320"/>
            <a:ext cx="1046220" cy="289397"/>
            <a:chOff x="0" y="0"/>
            <a:chExt cx="282641" cy="7818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82641" cy="78182"/>
            </a:xfrm>
            <a:custGeom>
              <a:avLst/>
              <a:gdLst/>
              <a:ahLst/>
              <a:cxnLst/>
              <a:rect r="r" b="b" t="t" l="l"/>
              <a:pathLst>
                <a:path h="78182" w="282641">
                  <a:moveTo>
                    <a:pt x="39091" y="0"/>
                  </a:moveTo>
                  <a:lnTo>
                    <a:pt x="243550" y="0"/>
                  </a:lnTo>
                  <a:cubicBezTo>
                    <a:pt x="253917" y="0"/>
                    <a:pt x="263860" y="4118"/>
                    <a:pt x="271191" y="11449"/>
                  </a:cubicBezTo>
                  <a:cubicBezTo>
                    <a:pt x="278522" y="18780"/>
                    <a:pt x="282641" y="28723"/>
                    <a:pt x="282641" y="39091"/>
                  </a:cubicBezTo>
                  <a:lnTo>
                    <a:pt x="282641" y="39091"/>
                  </a:lnTo>
                  <a:cubicBezTo>
                    <a:pt x="282641" y="60680"/>
                    <a:pt x="265139" y="78182"/>
                    <a:pt x="243550" y="78182"/>
                  </a:cubicBezTo>
                  <a:lnTo>
                    <a:pt x="39091" y="78182"/>
                  </a:lnTo>
                  <a:cubicBezTo>
                    <a:pt x="17502" y="78182"/>
                    <a:pt x="0" y="60680"/>
                    <a:pt x="0" y="39091"/>
                  </a:cubicBezTo>
                  <a:lnTo>
                    <a:pt x="0" y="39091"/>
                  </a:lnTo>
                  <a:cubicBezTo>
                    <a:pt x="0" y="17502"/>
                    <a:pt x="17502" y="0"/>
                    <a:pt x="39091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57150"/>
              <a:ext cx="282641" cy="135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2348375" y="3273482"/>
            <a:ext cx="5205943" cy="289397"/>
            <a:chOff x="0" y="0"/>
            <a:chExt cx="1406407" cy="7818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406407" cy="78182"/>
            </a:xfrm>
            <a:custGeom>
              <a:avLst/>
              <a:gdLst/>
              <a:ahLst/>
              <a:cxnLst/>
              <a:rect r="r" b="b" t="t" l="l"/>
              <a:pathLst>
                <a:path h="78182" w="1406407">
                  <a:moveTo>
                    <a:pt x="19333" y="0"/>
                  </a:moveTo>
                  <a:lnTo>
                    <a:pt x="1387075" y="0"/>
                  </a:lnTo>
                  <a:cubicBezTo>
                    <a:pt x="1392202" y="0"/>
                    <a:pt x="1397119" y="2037"/>
                    <a:pt x="1400745" y="5662"/>
                  </a:cubicBezTo>
                  <a:cubicBezTo>
                    <a:pt x="1404370" y="9288"/>
                    <a:pt x="1406407" y="14205"/>
                    <a:pt x="1406407" y="19333"/>
                  </a:cubicBezTo>
                  <a:lnTo>
                    <a:pt x="1406407" y="58849"/>
                  </a:lnTo>
                  <a:cubicBezTo>
                    <a:pt x="1406407" y="69526"/>
                    <a:pt x="1397752" y="78182"/>
                    <a:pt x="1387075" y="78182"/>
                  </a:cubicBezTo>
                  <a:lnTo>
                    <a:pt x="19333" y="78182"/>
                  </a:lnTo>
                  <a:cubicBezTo>
                    <a:pt x="8656" y="78182"/>
                    <a:pt x="0" y="69526"/>
                    <a:pt x="0" y="58849"/>
                  </a:cubicBezTo>
                  <a:lnTo>
                    <a:pt x="0" y="19333"/>
                  </a:lnTo>
                  <a:cubicBezTo>
                    <a:pt x="0" y="8656"/>
                    <a:pt x="8656" y="0"/>
                    <a:pt x="19333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57150"/>
              <a:ext cx="1406407" cy="135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4717768" y="2955510"/>
            <a:ext cx="2836550" cy="289397"/>
            <a:chOff x="0" y="0"/>
            <a:chExt cx="766306" cy="7818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66306" cy="78182"/>
            </a:xfrm>
            <a:custGeom>
              <a:avLst/>
              <a:gdLst/>
              <a:ahLst/>
              <a:cxnLst/>
              <a:rect r="r" b="b" t="t" l="l"/>
              <a:pathLst>
                <a:path h="78182" w="766306">
                  <a:moveTo>
                    <a:pt x="35481" y="0"/>
                  </a:moveTo>
                  <a:lnTo>
                    <a:pt x="730824" y="0"/>
                  </a:lnTo>
                  <a:cubicBezTo>
                    <a:pt x="740235" y="0"/>
                    <a:pt x="749259" y="3738"/>
                    <a:pt x="755914" y="10392"/>
                  </a:cubicBezTo>
                  <a:cubicBezTo>
                    <a:pt x="762568" y="17046"/>
                    <a:pt x="766306" y="26071"/>
                    <a:pt x="766306" y="35481"/>
                  </a:cubicBezTo>
                  <a:lnTo>
                    <a:pt x="766306" y="42700"/>
                  </a:lnTo>
                  <a:cubicBezTo>
                    <a:pt x="766306" y="52111"/>
                    <a:pt x="762568" y="61136"/>
                    <a:pt x="755914" y="67790"/>
                  </a:cubicBezTo>
                  <a:cubicBezTo>
                    <a:pt x="749259" y="74444"/>
                    <a:pt x="740235" y="78182"/>
                    <a:pt x="730824" y="78182"/>
                  </a:cubicBezTo>
                  <a:lnTo>
                    <a:pt x="35481" y="78182"/>
                  </a:lnTo>
                  <a:cubicBezTo>
                    <a:pt x="26071" y="78182"/>
                    <a:pt x="17046" y="74444"/>
                    <a:pt x="10392" y="67790"/>
                  </a:cubicBezTo>
                  <a:cubicBezTo>
                    <a:pt x="3738" y="61136"/>
                    <a:pt x="0" y="52111"/>
                    <a:pt x="0" y="42700"/>
                  </a:cubicBezTo>
                  <a:lnTo>
                    <a:pt x="0" y="35481"/>
                  </a:lnTo>
                  <a:cubicBezTo>
                    <a:pt x="0" y="26071"/>
                    <a:pt x="3738" y="17046"/>
                    <a:pt x="10392" y="10392"/>
                  </a:cubicBezTo>
                  <a:cubicBezTo>
                    <a:pt x="17046" y="3738"/>
                    <a:pt x="26071" y="0"/>
                    <a:pt x="35481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57150"/>
              <a:ext cx="766306" cy="135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3" id="103"/>
          <p:cNvGrpSpPr/>
          <p:nvPr/>
        </p:nvGrpSpPr>
        <p:grpSpPr>
          <a:xfrm rot="5400000">
            <a:off x="7941708" y="7711883"/>
            <a:ext cx="1102798" cy="1086401"/>
            <a:chOff x="0" y="0"/>
            <a:chExt cx="812800" cy="80071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12800" cy="800714"/>
            </a:xfrm>
            <a:custGeom>
              <a:avLst/>
              <a:gdLst/>
              <a:ahLst/>
              <a:cxnLst/>
              <a:rect r="r" b="b" t="t" l="l"/>
              <a:pathLst>
                <a:path h="800714" w="812800">
                  <a:moveTo>
                    <a:pt x="203200" y="0"/>
                  </a:moveTo>
                  <a:lnTo>
                    <a:pt x="609600" y="0"/>
                  </a:lnTo>
                  <a:lnTo>
                    <a:pt x="812800" y="800714"/>
                  </a:lnTo>
                  <a:lnTo>
                    <a:pt x="0" y="800714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5D66">
                    <a:alpha val="100000"/>
                  </a:srgbClr>
                </a:gs>
                <a:gs pos="50000">
                  <a:srgbClr val="52888E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5" id="105"/>
            <p:cNvSpPr txBox="true"/>
            <p:nvPr/>
          </p:nvSpPr>
          <p:spPr>
            <a:xfrm>
              <a:off x="127000" y="-38100"/>
              <a:ext cx="558800" cy="838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6233777" y="7382509"/>
            <a:ext cx="1864049" cy="1735449"/>
            <a:chOff x="0" y="0"/>
            <a:chExt cx="490943" cy="457073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90943" cy="457073"/>
            </a:xfrm>
            <a:custGeom>
              <a:avLst/>
              <a:gdLst/>
              <a:ahLst/>
              <a:cxnLst/>
              <a:rect r="r" b="b" t="t" l="l"/>
              <a:pathLst>
                <a:path h="457073" w="490943">
                  <a:moveTo>
                    <a:pt x="145365" y="0"/>
                  </a:moveTo>
                  <a:lnTo>
                    <a:pt x="345578" y="0"/>
                  </a:lnTo>
                  <a:cubicBezTo>
                    <a:pt x="384131" y="0"/>
                    <a:pt x="421105" y="15315"/>
                    <a:pt x="448367" y="42576"/>
                  </a:cubicBezTo>
                  <a:cubicBezTo>
                    <a:pt x="475628" y="69838"/>
                    <a:pt x="490943" y="106812"/>
                    <a:pt x="490943" y="145365"/>
                  </a:cubicBezTo>
                  <a:lnTo>
                    <a:pt x="490943" y="311708"/>
                  </a:lnTo>
                  <a:cubicBezTo>
                    <a:pt x="490943" y="350261"/>
                    <a:pt x="475628" y="387235"/>
                    <a:pt x="448367" y="414497"/>
                  </a:cubicBezTo>
                  <a:cubicBezTo>
                    <a:pt x="421105" y="441758"/>
                    <a:pt x="384131" y="457073"/>
                    <a:pt x="345578" y="457073"/>
                  </a:cubicBezTo>
                  <a:lnTo>
                    <a:pt x="145365" y="457073"/>
                  </a:lnTo>
                  <a:cubicBezTo>
                    <a:pt x="106812" y="457073"/>
                    <a:pt x="69838" y="441758"/>
                    <a:pt x="42576" y="414497"/>
                  </a:cubicBezTo>
                  <a:cubicBezTo>
                    <a:pt x="15315" y="387235"/>
                    <a:pt x="0" y="350261"/>
                    <a:pt x="0" y="311708"/>
                  </a:cubicBezTo>
                  <a:lnTo>
                    <a:pt x="0" y="145365"/>
                  </a:lnTo>
                  <a:cubicBezTo>
                    <a:pt x="0" y="106812"/>
                    <a:pt x="15315" y="69838"/>
                    <a:pt x="42576" y="42576"/>
                  </a:cubicBezTo>
                  <a:cubicBezTo>
                    <a:pt x="69838" y="15315"/>
                    <a:pt x="106812" y="0"/>
                    <a:pt x="1453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490943" cy="495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9" id="109"/>
          <p:cNvSpPr/>
          <p:nvPr/>
        </p:nvSpPr>
        <p:spPr>
          <a:xfrm flipH="false" flipV="false" rot="0">
            <a:off x="6104871" y="4552296"/>
            <a:ext cx="1992955" cy="2548847"/>
          </a:xfrm>
          <a:custGeom>
            <a:avLst/>
            <a:gdLst/>
            <a:ahLst/>
            <a:cxnLst/>
            <a:rect r="r" b="b" t="t" l="l"/>
            <a:pathLst>
              <a:path h="2548847" w="1992955">
                <a:moveTo>
                  <a:pt x="0" y="0"/>
                </a:moveTo>
                <a:lnTo>
                  <a:pt x="1992955" y="0"/>
                </a:lnTo>
                <a:lnTo>
                  <a:pt x="1992955" y="2548847"/>
                </a:lnTo>
                <a:lnTo>
                  <a:pt x="0" y="25488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757" t="0" r="-76631" b="0"/>
            </a:stretch>
          </a:blipFill>
        </p:spPr>
      </p:sp>
      <p:grpSp>
        <p:nvGrpSpPr>
          <p:cNvPr name="Group 110" id="110"/>
          <p:cNvGrpSpPr/>
          <p:nvPr/>
        </p:nvGrpSpPr>
        <p:grpSpPr>
          <a:xfrm rot="5400000">
            <a:off x="10367148" y="7711883"/>
            <a:ext cx="1102798" cy="1086401"/>
            <a:chOff x="0" y="0"/>
            <a:chExt cx="812800" cy="80071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12800" cy="800714"/>
            </a:xfrm>
            <a:custGeom>
              <a:avLst/>
              <a:gdLst/>
              <a:ahLst/>
              <a:cxnLst/>
              <a:rect r="r" b="b" t="t" l="l"/>
              <a:pathLst>
                <a:path h="800714" w="812800">
                  <a:moveTo>
                    <a:pt x="203200" y="0"/>
                  </a:moveTo>
                  <a:lnTo>
                    <a:pt x="609600" y="0"/>
                  </a:lnTo>
                  <a:lnTo>
                    <a:pt x="812800" y="800714"/>
                  </a:lnTo>
                  <a:lnTo>
                    <a:pt x="0" y="800714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5D66">
                    <a:alpha val="100000"/>
                  </a:srgbClr>
                </a:gs>
                <a:gs pos="50000">
                  <a:srgbClr val="52888E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2" id="112"/>
            <p:cNvSpPr txBox="true"/>
            <p:nvPr/>
          </p:nvSpPr>
          <p:spPr>
            <a:xfrm>
              <a:off x="127000" y="-38100"/>
              <a:ext cx="558800" cy="838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8681195" y="7382509"/>
            <a:ext cx="1864049" cy="1735449"/>
            <a:chOff x="0" y="0"/>
            <a:chExt cx="490943" cy="45707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90943" cy="457073"/>
            </a:xfrm>
            <a:custGeom>
              <a:avLst/>
              <a:gdLst/>
              <a:ahLst/>
              <a:cxnLst/>
              <a:rect r="r" b="b" t="t" l="l"/>
              <a:pathLst>
                <a:path h="457073" w="490943">
                  <a:moveTo>
                    <a:pt x="145365" y="0"/>
                  </a:moveTo>
                  <a:lnTo>
                    <a:pt x="345578" y="0"/>
                  </a:lnTo>
                  <a:cubicBezTo>
                    <a:pt x="384131" y="0"/>
                    <a:pt x="421105" y="15315"/>
                    <a:pt x="448367" y="42576"/>
                  </a:cubicBezTo>
                  <a:cubicBezTo>
                    <a:pt x="475628" y="69838"/>
                    <a:pt x="490943" y="106812"/>
                    <a:pt x="490943" y="145365"/>
                  </a:cubicBezTo>
                  <a:lnTo>
                    <a:pt x="490943" y="311708"/>
                  </a:lnTo>
                  <a:cubicBezTo>
                    <a:pt x="490943" y="350261"/>
                    <a:pt x="475628" y="387235"/>
                    <a:pt x="448367" y="414497"/>
                  </a:cubicBezTo>
                  <a:cubicBezTo>
                    <a:pt x="421105" y="441758"/>
                    <a:pt x="384131" y="457073"/>
                    <a:pt x="345578" y="457073"/>
                  </a:cubicBezTo>
                  <a:lnTo>
                    <a:pt x="145365" y="457073"/>
                  </a:lnTo>
                  <a:cubicBezTo>
                    <a:pt x="106812" y="457073"/>
                    <a:pt x="69838" y="441758"/>
                    <a:pt x="42576" y="414497"/>
                  </a:cubicBezTo>
                  <a:cubicBezTo>
                    <a:pt x="15315" y="387235"/>
                    <a:pt x="0" y="350261"/>
                    <a:pt x="0" y="311708"/>
                  </a:cubicBezTo>
                  <a:lnTo>
                    <a:pt x="0" y="145365"/>
                  </a:lnTo>
                  <a:cubicBezTo>
                    <a:pt x="0" y="106812"/>
                    <a:pt x="15315" y="69838"/>
                    <a:pt x="42576" y="42576"/>
                  </a:cubicBezTo>
                  <a:cubicBezTo>
                    <a:pt x="69838" y="15315"/>
                    <a:pt x="106812" y="0"/>
                    <a:pt x="1453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90943" cy="495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6" id="116"/>
          <p:cNvGrpSpPr/>
          <p:nvPr/>
        </p:nvGrpSpPr>
        <p:grpSpPr>
          <a:xfrm rot="5400000">
            <a:off x="12792588" y="7707034"/>
            <a:ext cx="1102798" cy="1086401"/>
            <a:chOff x="0" y="0"/>
            <a:chExt cx="812800" cy="80071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812800" cy="800714"/>
            </a:xfrm>
            <a:custGeom>
              <a:avLst/>
              <a:gdLst/>
              <a:ahLst/>
              <a:cxnLst/>
              <a:rect r="r" b="b" t="t" l="l"/>
              <a:pathLst>
                <a:path h="800714" w="812800">
                  <a:moveTo>
                    <a:pt x="203200" y="0"/>
                  </a:moveTo>
                  <a:lnTo>
                    <a:pt x="609600" y="0"/>
                  </a:lnTo>
                  <a:lnTo>
                    <a:pt x="812800" y="800714"/>
                  </a:lnTo>
                  <a:lnTo>
                    <a:pt x="0" y="800714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5D66">
                    <a:alpha val="100000"/>
                  </a:srgbClr>
                </a:gs>
                <a:gs pos="50000">
                  <a:srgbClr val="52888E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8" id="118"/>
            <p:cNvSpPr txBox="true"/>
            <p:nvPr/>
          </p:nvSpPr>
          <p:spPr>
            <a:xfrm>
              <a:off x="127000" y="-38100"/>
              <a:ext cx="558800" cy="838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1128612" y="7382509"/>
            <a:ext cx="1864049" cy="1735449"/>
            <a:chOff x="0" y="0"/>
            <a:chExt cx="490943" cy="45707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90943" cy="457073"/>
            </a:xfrm>
            <a:custGeom>
              <a:avLst/>
              <a:gdLst/>
              <a:ahLst/>
              <a:cxnLst/>
              <a:rect r="r" b="b" t="t" l="l"/>
              <a:pathLst>
                <a:path h="457073" w="490943">
                  <a:moveTo>
                    <a:pt x="145365" y="0"/>
                  </a:moveTo>
                  <a:lnTo>
                    <a:pt x="345578" y="0"/>
                  </a:lnTo>
                  <a:cubicBezTo>
                    <a:pt x="384131" y="0"/>
                    <a:pt x="421105" y="15315"/>
                    <a:pt x="448367" y="42576"/>
                  </a:cubicBezTo>
                  <a:cubicBezTo>
                    <a:pt x="475628" y="69838"/>
                    <a:pt x="490943" y="106812"/>
                    <a:pt x="490943" y="145365"/>
                  </a:cubicBezTo>
                  <a:lnTo>
                    <a:pt x="490943" y="311708"/>
                  </a:lnTo>
                  <a:cubicBezTo>
                    <a:pt x="490943" y="350261"/>
                    <a:pt x="475628" y="387235"/>
                    <a:pt x="448367" y="414497"/>
                  </a:cubicBezTo>
                  <a:cubicBezTo>
                    <a:pt x="421105" y="441758"/>
                    <a:pt x="384131" y="457073"/>
                    <a:pt x="345578" y="457073"/>
                  </a:cubicBezTo>
                  <a:lnTo>
                    <a:pt x="145365" y="457073"/>
                  </a:lnTo>
                  <a:cubicBezTo>
                    <a:pt x="106812" y="457073"/>
                    <a:pt x="69838" y="441758"/>
                    <a:pt x="42576" y="414497"/>
                  </a:cubicBezTo>
                  <a:cubicBezTo>
                    <a:pt x="15315" y="387235"/>
                    <a:pt x="0" y="350261"/>
                    <a:pt x="0" y="311708"/>
                  </a:cubicBezTo>
                  <a:lnTo>
                    <a:pt x="0" y="145365"/>
                  </a:lnTo>
                  <a:cubicBezTo>
                    <a:pt x="0" y="106812"/>
                    <a:pt x="15315" y="69838"/>
                    <a:pt x="42576" y="42576"/>
                  </a:cubicBezTo>
                  <a:cubicBezTo>
                    <a:pt x="69838" y="15315"/>
                    <a:pt x="106812" y="0"/>
                    <a:pt x="1453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490943" cy="495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2" id="122"/>
          <p:cNvGrpSpPr/>
          <p:nvPr/>
        </p:nvGrpSpPr>
        <p:grpSpPr>
          <a:xfrm rot="5400000">
            <a:off x="15299646" y="7707034"/>
            <a:ext cx="1102798" cy="1086401"/>
            <a:chOff x="0" y="0"/>
            <a:chExt cx="812800" cy="800715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812800" cy="800714"/>
            </a:xfrm>
            <a:custGeom>
              <a:avLst/>
              <a:gdLst/>
              <a:ahLst/>
              <a:cxnLst/>
              <a:rect r="r" b="b" t="t" l="l"/>
              <a:pathLst>
                <a:path h="800714" w="812800">
                  <a:moveTo>
                    <a:pt x="203200" y="0"/>
                  </a:moveTo>
                  <a:lnTo>
                    <a:pt x="609600" y="0"/>
                  </a:lnTo>
                  <a:lnTo>
                    <a:pt x="812800" y="800714"/>
                  </a:lnTo>
                  <a:lnTo>
                    <a:pt x="0" y="800714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35D66">
                    <a:alpha val="100000"/>
                  </a:srgbClr>
                </a:gs>
                <a:gs pos="50000">
                  <a:srgbClr val="52888E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4" id="124"/>
            <p:cNvSpPr txBox="true"/>
            <p:nvPr/>
          </p:nvSpPr>
          <p:spPr>
            <a:xfrm>
              <a:off x="127000" y="-38100"/>
              <a:ext cx="558800" cy="838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576030" y="7382509"/>
            <a:ext cx="1864049" cy="1735449"/>
            <a:chOff x="0" y="0"/>
            <a:chExt cx="490943" cy="457073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90943" cy="457073"/>
            </a:xfrm>
            <a:custGeom>
              <a:avLst/>
              <a:gdLst/>
              <a:ahLst/>
              <a:cxnLst/>
              <a:rect r="r" b="b" t="t" l="l"/>
              <a:pathLst>
                <a:path h="457073" w="490943">
                  <a:moveTo>
                    <a:pt x="145365" y="0"/>
                  </a:moveTo>
                  <a:lnTo>
                    <a:pt x="345578" y="0"/>
                  </a:lnTo>
                  <a:cubicBezTo>
                    <a:pt x="384131" y="0"/>
                    <a:pt x="421105" y="15315"/>
                    <a:pt x="448367" y="42576"/>
                  </a:cubicBezTo>
                  <a:cubicBezTo>
                    <a:pt x="475628" y="69838"/>
                    <a:pt x="490943" y="106812"/>
                    <a:pt x="490943" y="145365"/>
                  </a:cubicBezTo>
                  <a:lnTo>
                    <a:pt x="490943" y="311708"/>
                  </a:lnTo>
                  <a:cubicBezTo>
                    <a:pt x="490943" y="350261"/>
                    <a:pt x="475628" y="387235"/>
                    <a:pt x="448367" y="414497"/>
                  </a:cubicBezTo>
                  <a:cubicBezTo>
                    <a:pt x="421105" y="441758"/>
                    <a:pt x="384131" y="457073"/>
                    <a:pt x="345578" y="457073"/>
                  </a:cubicBezTo>
                  <a:lnTo>
                    <a:pt x="145365" y="457073"/>
                  </a:lnTo>
                  <a:cubicBezTo>
                    <a:pt x="106812" y="457073"/>
                    <a:pt x="69838" y="441758"/>
                    <a:pt x="42576" y="414497"/>
                  </a:cubicBezTo>
                  <a:cubicBezTo>
                    <a:pt x="15315" y="387235"/>
                    <a:pt x="0" y="350261"/>
                    <a:pt x="0" y="311708"/>
                  </a:cubicBezTo>
                  <a:lnTo>
                    <a:pt x="0" y="145365"/>
                  </a:lnTo>
                  <a:cubicBezTo>
                    <a:pt x="0" y="106812"/>
                    <a:pt x="15315" y="69838"/>
                    <a:pt x="42576" y="42576"/>
                  </a:cubicBezTo>
                  <a:cubicBezTo>
                    <a:pt x="69838" y="15315"/>
                    <a:pt x="106812" y="0"/>
                    <a:pt x="1453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490943" cy="495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6023448" y="7382509"/>
            <a:ext cx="1864049" cy="1735449"/>
            <a:chOff x="0" y="0"/>
            <a:chExt cx="490943" cy="45707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90943" cy="457073"/>
            </a:xfrm>
            <a:custGeom>
              <a:avLst/>
              <a:gdLst/>
              <a:ahLst/>
              <a:cxnLst/>
              <a:rect r="r" b="b" t="t" l="l"/>
              <a:pathLst>
                <a:path h="457073" w="490943">
                  <a:moveTo>
                    <a:pt x="145365" y="0"/>
                  </a:moveTo>
                  <a:lnTo>
                    <a:pt x="345578" y="0"/>
                  </a:lnTo>
                  <a:cubicBezTo>
                    <a:pt x="384131" y="0"/>
                    <a:pt x="421105" y="15315"/>
                    <a:pt x="448367" y="42576"/>
                  </a:cubicBezTo>
                  <a:cubicBezTo>
                    <a:pt x="475628" y="69838"/>
                    <a:pt x="490943" y="106812"/>
                    <a:pt x="490943" y="145365"/>
                  </a:cubicBezTo>
                  <a:lnTo>
                    <a:pt x="490943" y="311708"/>
                  </a:lnTo>
                  <a:cubicBezTo>
                    <a:pt x="490943" y="350261"/>
                    <a:pt x="475628" y="387235"/>
                    <a:pt x="448367" y="414497"/>
                  </a:cubicBezTo>
                  <a:cubicBezTo>
                    <a:pt x="421105" y="441758"/>
                    <a:pt x="384131" y="457073"/>
                    <a:pt x="345578" y="457073"/>
                  </a:cubicBezTo>
                  <a:lnTo>
                    <a:pt x="145365" y="457073"/>
                  </a:lnTo>
                  <a:cubicBezTo>
                    <a:pt x="106812" y="457073"/>
                    <a:pt x="69838" y="441758"/>
                    <a:pt x="42576" y="414497"/>
                  </a:cubicBezTo>
                  <a:cubicBezTo>
                    <a:pt x="15315" y="387235"/>
                    <a:pt x="0" y="350261"/>
                    <a:pt x="0" y="311708"/>
                  </a:cubicBezTo>
                  <a:lnTo>
                    <a:pt x="0" y="145365"/>
                  </a:lnTo>
                  <a:cubicBezTo>
                    <a:pt x="0" y="106812"/>
                    <a:pt x="15315" y="69838"/>
                    <a:pt x="42576" y="42576"/>
                  </a:cubicBezTo>
                  <a:cubicBezTo>
                    <a:pt x="69838" y="15315"/>
                    <a:pt x="106812" y="0"/>
                    <a:pt x="1453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490943" cy="495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1" id="131"/>
          <p:cNvSpPr txBox="true"/>
          <p:nvPr/>
        </p:nvSpPr>
        <p:spPr>
          <a:xfrm rot="0">
            <a:off x="207208" y="172159"/>
            <a:ext cx="5098777" cy="592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1"/>
              </a:lnSpc>
            </a:pPr>
            <a:r>
              <a:rPr lang="en-US" sz="3422" b="true">
                <a:solidFill>
                  <a:srgbClr val="00000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Latar belakang &amp; Tujuan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4638217" y="279195"/>
            <a:ext cx="1525487" cy="61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TI3094 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6303821" y="462267"/>
            <a:ext cx="1529957" cy="42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3243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PPST IV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3018505" y="1302186"/>
            <a:ext cx="3443102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Latar Belakang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2395997" y="1888478"/>
            <a:ext cx="5158320" cy="2010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5"/>
              </a:lnSpc>
            </a:pPr>
            <a:r>
              <a:rPr lang="en-US" sz="2090" b="true">
                <a:solidFill>
                  <a:srgbClr val="034C4D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PT PPST Manufacturing</a:t>
            </a:r>
            <a:r>
              <a:rPr lang="en-US" sz="2090">
                <a:solidFill>
                  <a:srgbClr val="034C4D"/>
                </a:solidFill>
                <a:latin typeface="Public Sans 2"/>
                <a:ea typeface="Public Sans 2"/>
                <a:cs typeface="Public Sans 2"/>
                <a:sym typeface="Public Sans 2"/>
              </a:rPr>
              <a:t> merupakan perusahaan yang </a:t>
            </a:r>
            <a:r>
              <a:rPr lang="en-US" sz="2090" b="true">
                <a:solidFill>
                  <a:srgbClr val="034C4D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memproduksi</a:t>
            </a:r>
            <a:r>
              <a:rPr lang="en-US" sz="2090">
                <a:solidFill>
                  <a:srgbClr val="034C4D"/>
                </a:solidFill>
                <a:latin typeface="Public Sans 2"/>
                <a:ea typeface="Public Sans 2"/>
                <a:cs typeface="Public Sans 2"/>
                <a:sym typeface="Public Sans 2"/>
              </a:rPr>
              <a:t> alat bantu fotografi berupa</a:t>
            </a:r>
            <a:r>
              <a:rPr lang="en-US" sz="2090" b="true">
                <a:solidFill>
                  <a:srgbClr val="034C4D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 tripod</a:t>
            </a:r>
            <a:r>
              <a:rPr lang="en-US" sz="2090">
                <a:solidFill>
                  <a:srgbClr val="034C4D"/>
                </a:solidFill>
                <a:latin typeface="Public Sans 2"/>
                <a:ea typeface="Public Sans 2"/>
                <a:cs typeface="Public Sans 2"/>
                <a:sym typeface="Public Sans 2"/>
              </a:rPr>
              <a:t> yang saat ini membutuhkan </a:t>
            </a:r>
            <a:r>
              <a:rPr lang="en-US" sz="2090" b="true">
                <a:solidFill>
                  <a:srgbClr val="034C4D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rancangan tata letak pabrik, lokasi pabrik, dan luas lantai pabrik. 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8381590" y="1035486"/>
            <a:ext cx="3443102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Tujuan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6478060" y="7597727"/>
            <a:ext cx="1375483" cy="45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9"/>
              </a:lnSpc>
            </a:pPr>
            <a:r>
              <a:rPr lang="en-US" sz="257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MODUL 1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8893560" y="7597727"/>
            <a:ext cx="1439319" cy="45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9"/>
              </a:lnSpc>
            </a:pPr>
            <a:r>
              <a:rPr lang="en-US" sz="257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MODUL 2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1345344" y="7597727"/>
            <a:ext cx="1450441" cy="45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9"/>
              </a:lnSpc>
            </a:pPr>
            <a:r>
              <a:rPr lang="en-US" sz="257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MODUL 3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3771046" y="7597727"/>
            <a:ext cx="1474018" cy="45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9"/>
              </a:lnSpc>
            </a:pPr>
            <a:r>
              <a:rPr lang="en-US" sz="257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MODUL 4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6239904" y="7597727"/>
            <a:ext cx="1465195" cy="45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9"/>
              </a:lnSpc>
            </a:pPr>
            <a:r>
              <a:rPr lang="en-US" sz="257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MODUL 5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6478060" y="8134754"/>
            <a:ext cx="1357442" cy="671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b="true" sz="1799">
                <a:solidFill>
                  <a:srgbClr val="003C43"/>
                </a:solidFill>
                <a:latin typeface="Inter Bold"/>
                <a:ea typeface="Inter Bold"/>
                <a:cs typeface="Inter Bold"/>
                <a:sym typeface="Inter Bold"/>
              </a:rPr>
              <a:t>Perhitungan Luas Lantai Pabrik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8934498" y="8093438"/>
            <a:ext cx="1357442" cy="893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799" b="true">
                <a:solidFill>
                  <a:srgbClr val="003C43"/>
                </a:solidFill>
                <a:latin typeface="Inter Bold"/>
                <a:ea typeface="Inter Bold"/>
                <a:cs typeface="Inter Bold"/>
                <a:sym typeface="Inter Bold"/>
              </a:rPr>
              <a:t>Perhitungan Ongkos Material Handling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1319731" y="8093438"/>
            <a:ext cx="1501666" cy="671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799" b="true">
                <a:solidFill>
                  <a:srgbClr val="003C43"/>
                </a:solidFill>
                <a:latin typeface="Inter Bold"/>
                <a:ea typeface="Inter Bold"/>
                <a:cs typeface="Inter Bold"/>
                <a:sym typeface="Inter Bold"/>
              </a:rPr>
              <a:t>Perancangan ARC, ARD, dan AAD 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3771046" y="8129904"/>
            <a:ext cx="1501666" cy="671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799" b="true">
                <a:solidFill>
                  <a:srgbClr val="003C43"/>
                </a:solidFill>
                <a:latin typeface="Inter Bold"/>
                <a:ea typeface="Inter Bold"/>
                <a:cs typeface="Inter Bold"/>
                <a:sym typeface="Inter Bold"/>
              </a:rPr>
              <a:t>Perbaikan Tata Letak dan AAD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6203433" y="8134754"/>
            <a:ext cx="1501666" cy="671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799" b="true">
                <a:solidFill>
                  <a:srgbClr val="003C43"/>
                </a:solidFill>
                <a:latin typeface="Inter Bold"/>
                <a:ea typeface="Inter Bold"/>
                <a:cs typeface="Inter Bold"/>
                <a:sym typeface="Inter Bold"/>
              </a:rPr>
              <a:t>Analisis Kelayakan Investasi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05222" y="201321"/>
            <a:ext cx="2874537" cy="610570"/>
            <a:chOff x="0" y="0"/>
            <a:chExt cx="757080" cy="160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7080" cy="160809"/>
            </a:xfrm>
            <a:custGeom>
              <a:avLst/>
              <a:gdLst/>
              <a:ahLst/>
              <a:cxnLst/>
              <a:rect r="r" b="b" t="t" l="l"/>
              <a:pathLst>
                <a:path h="160809" w="757080">
                  <a:moveTo>
                    <a:pt x="0" y="0"/>
                  </a:moveTo>
                  <a:lnTo>
                    <a:pt x="757080" y="0"/>
                  </a:lnTo>
                  <a:lnTo>
                    <a:pt x="757080" y="160809"/>
                  </a:lnTo>
                  <a:lnTo>
                    <a:pt x="0" y="160809"/>
                  </a:lnTo>
                  <a:close/>
                </a:path>
              </a:pathLst>
            </a:custGeom>
            <a:gradFill rotWithShape="true">
              <a:gsLst>
                <a:gs pos="0">
                  <a:srgbClr val="06D1B2">
                    <a:alpha val="100000"/>
                  </a:srgbClr>
                </a:gs>
                <a:gs pos="100000">
                  <a:srgbClr val="006D8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7080" cy="19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93108" y="-19244"/>
            <a:ext cx="12352120" cy="10325489"/>
          </a:xfrm>
          <a:custGeom>
            <a:avLst/>
            <a:gdLst/>
            <a:ahLst/>
            <a:cxnLst/>
            <a:rect r="r" b="b" t="t" l="l"/>
            <a:pathLst>
              <a:path h="10325489" w="12352120">
                <a:moveTo>
                  <a:pt x="0" y="0"/>
                </a:moveTo>
                <a:lnTo>
                  <a:pt x="12352120" y="0"/>
                </a:lnTo>
                <a:lnTo>
                  <a:pt x="12352120" y="10325488"/>
                </a:lnTo>
                <a:lnTo>
                  <a:pt x="0" y="10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33" t="0" r="-1273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83309" y="-275581"/>
            <a:ext cx="10972320" cy="10758087"/>
            <a:chOff x="0" y="0"/>
            <a:chExt cx="2889829" cy="28334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829" cy="2833406"/>
            </a:xfrm>
            <a:custGeom>
              <a:avLst/>
              <a:gdLst/>
              <a:ahLst/>
              <a:cxnLst/>
              <a:rect r="r" b="b" t="t" l="l"/>
              <a:pathLst>
                <a:path h="2833406" w="2889829">
                  <a:moveTo>
                    <a:pt x="0" y="0"/>
                  </a:moveTo>
                  <a:lnTo>
                    <a:pt x="2889829" y="0"/>
                  </a:lnTo>
                  <a:lnTo>
                    <a:pt x="2889829" y="2833406"/>
                  </a:lnTo>
                  <a:lnTo>
                    <a:pt x="0" y="2833406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0000"/>
                  </a:srgbClr>
                </a:gs>
                <a:gs pos="100000">
                  <a:srgbClr val="135D66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89829" cy="2871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46584" y="506606"/>
            <a:ext cx="3526582" cy="785415"/>
            <a:chOff x="0" y="0"/>
            <a:chExt cx="928812" cy="2068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812" cy="206858"/>
            </a:xfrm>
            <a:custGeom>
              <a:avLst/>
              <a:gdLst/>
              <a:ahLst/>
              <a:cxnLst/>
              <a:rect r="r" b="b" t="t" l="l"/>
              <a:pathLst>
                <a:path h="206858" w="928812">
                  <a:moveTo>
                    <a:pt x="103429" y="0"/>
                  </a:moveTo>
                  <a:lnTo>
                    <a:pt x="825383" y="0"/>
                  </a:lnTo>
                  <a:cubicBezTo>
                    <a:pt x="882505" y="0"/>
                    <a:pt x="928812" y="46307"/>
                    <a:pt x="928812" y="103429"/>
                  </a:cubicBezTo>
                  <a:lnTo>
                    <a:pt x="928812" y="103429"/>
                  </a:lnTo>
                  <a:cubicBezTo>
                    <a:pt x="928812" y="160552"/>
                    <a:pt x="882505" y="206858"/>
                    <a:pt x="825383" y="206858"/>
                  </a:cubicBezTo>
                  <a:lnTo>
                    <a:pt x="103429" y="206858"/>
                  </a:lnTo>
                  <a:cubicBezTo>
                    <a:pt x="46307" y="206858"/>
                    <a:pt x="0" y="160552"/>
                    <a:pt x="0" y="103429"/>
                  </a:cubicBezTo>
                  <a:lnTo>
                    <a:pt x="0" y="103429"/>
                  </a:lnTo>
                  <a:cubicBezTo>
                    <a:pt x="0" y="46307"/>
                    <a:pt x="46307" y="0"/>
                    <a:pt x="103429" y="0"/>
                  </a:cubicBez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8812" cy="2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5990825" y="605426"/>
            <a:ext cx="0" cy="587775"/>
          </a:xfrm>
          <a:prstGeom prst="line">
            <a:avLst/>
          </a:prstGeom>
          <a:ln cap="flat" w="19050">
            <a:solidFill>
              <a:srgbClr val="F9F8E4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302504" y="1029618"/>
            <a:ext cx="591143" cy="557225"/>
            <a:chOff x="0" y="0"/>
            <a:chExt cx="788191" cy="74296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788191" cy="742967"/>
              <a:chOff x="0" y="0"/>
              <a:chExt cx="862275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622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2275">
                    <a:moveTo>
                      <a:pt x="431138" y="0"/>
                    </a:moveTo>
                    <a:cubicBezTo>
                      <a:pt x="193027" y="0"/>
                      <a:pt x="0" y="181951"/>
                      <a:pt x="0" y="406400"/>
                    </a:cubicBezTo>
                    <a:cubicBezTo>
                      <a:pt x="0" y="630849"/>
                      <a:pt x="193027" y="812800"/>
                      <a:pt x="431138" y="812800"/>
                    </a:cubicBezTo>
                    <a:cubicBezTo>
                      <a:pt x="669248" y="812800"/>
                      <a:pt x="862275" y="630849"/>
                      <a:pt x="862275" y="406400"/>
                    </a:cubicBezTo>
                    <a:cubicBezTo>
                      <a:pt x="862275" y="181951"/>
                      <a:pt x="669248" y="0"/>
                      <a:pt x="43113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D47900">
                      <a:alpha val="86000"/>
                    </a:srgbClr>
                  </a:gs>
                  <a:gs pos="50000">
                    <a:srgbClr val="FBDC9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80838" y="19050"/>
                <a:ext cx="700599" cy="717550"/>
              </a:xfrm>
              <a:prstGeom prst="rect">
                <a:avLst/>
              </a:prstGeom>
            </p:spPr>
            <p:txBody>
              <a:bodyPr anchor="ctr" rtlCol="false" tIns="55816" lIns="55816" bIns="55816" rIns="55816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59432" y="91065"/>
              <a:ext cx="491308" cy="5767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7"/>
                </a:lnSpc>
              </a:pPr>
              <a:r>
                <a:rPr lang="en-US" sz="2745" b="true">
                  <a:solidFill>
                    <a:srgbClr val="AA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28700" y="1530178"/>
            <a:ext cx="4721743" cy="3811966"/>
          </a:xfrm>
          <a:custGeom>
            <a:avLst/>
            <a:gdLst/>
            <a:ahLst/>
            <a:cxnLst/>
            <a:rect r="r" b="b" t="t" l="l"/>
            <a:pathLst>
              <a:path h="3811966" w="4721743">
                <a:moveTo>
                  <a:pt x="0" y="0"/>
                </a:moveTo>
                <a:lnTo>
                  <a:pt x="4721743" y="0"/>
                </a:lnTo>
                <a:lnTo>
                  <a:pt x="4721743" y="3811966"/>
                </a:lnTo>
                <a:lnTo>
                  <a:pt x="0" y="3811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155093" y="1698856"/>
            <a:ext cx="1933365" cy="1456929"/>
            <a:chOff x="0" y="0"/>
            <a:chExt cx="509199" cy="3837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9199" cy="383718"/>
            </a:xfrm>
            <a:custGeom>
              <a:avLst/>
              <a:gdLst/>
              <a:ahLst/>
              <a:cxnLst/>
              <a:rect r="r" b="b" t="t" l="l"/>
              <a:pathLst>
                <a:path h="383718" w="509199">
                  <a:moveTo>
                    <a:pt x="0" y="0"/>
                  </a:moveTo>
                  <a:lnTo>
                    <a:pt x="509199" y="0"/>
                  </a:lnTo>
                  <a:lnTo>
                    <a:pt x="509199" y="383718"/>
                  </a:lnTo>
                  <a:lnTo>
                    <a:pt x="0" y="383718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28575" cap="sq">
              <a:gradFill>
                <a:gsLst>
                  <a:gs pos="0">
                    <a:srgbClr val="D47900">
                      <a:alpha val="51600"/>
                    </a:srgbClr>
                  </a:gs>
                  <a:gs pos="50000">
                    <a:srgbClr val="FBDC96">
                      <a:alpha val="60000"/>
                    </a:srgbClr>
                  </a:gs>
                  <a:gs pos="100000">
                    <a:srgbClr val="FFFFFF">
                      <a:alpha val="6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09199" cy="431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8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55093" y="1586843"/>
            <a:ext cx="1933365" cy="224025"/>
            <a:chOff x="0" y="0"/>
            <a:chExt cx="156457" cy="1812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6457" cy="18129"/>
            </a:xfrm>
            <a:custGeom>
              <a:avLst/>
              <a:gdLst/>
              <a:ahLst/>
              <a:cxnLst/>
              <a:rect r="r" b="b" t="t" l="l"/>
              <a:pathLst>
                <a:path h="18129" w="156457">
                  <a:moveTo>
                    <a:pt x="8009" y="0"/>
                  </a:moveTo>
                  <a:lnTo>
                    <a:pt x="148449" y="0"/>
                  </a:lnTo>
                  <a:cubicBezTo>
                    <a:pt x="150573" y="0"/>
                    <a:pt x="152610" y="844"/>
                    <a:pt x="154112" y="2346"/>
                  </a:cubicBezTo>
                  <a:cubicBezTo>
                    <a:pt x="155614" y="3848"/>
                    <a:pt x="156457" y="5885"/>
                    <a:pt x="156457" y="8009"/>
                  </a:cubicBezTo>
                  <a:lnTo>
                    <a:pt x="156457" y="10120"/>
                  </a:lnTo>
                  <a:cubicBezTo>
                    <a:pt x="156457" y="14544"/>
                    <a:pt x="152872" y="18129"/>
                    <a:pt x="148449" y="18129"/>
                  </a:cubicBezTo>
                  <a:lnTo>
                    <a:pt x="8009" y="18129"/>
                  </a:lnTo>
                  <a:cubicBezTo>
                    <a:pt x="5885" y="18129"/>
                    <a:pt x="3848" y="17285"/>
                    <a:pt x="2346" y="15783"/>
                  </a:cubicBezTo>
                  <a:cubicBezTo>
                    <a:pt x="844" y="14282"/>
                    <a:pt x="0" y="12245"/>
                    <a:pt x="0" y="10120"/>
                  </a:cubicBezTo>
                  <a:lnTo>
                    <a:pt x="0" y="8009"/>
                  </a:lnTo>
                  <a:cubicBezTo>
                    <a:pt x="0" y="5885"/>
                    <a:pt x="844" y="3848"/>
                    <a:pt x="2346" y="2346"/>
                  </a:cubicBezTo>
                  <a:cubicBezTo>
                    <a:pt x="3848" y="844"/>
                    <a:pt x="5885" y="0"/>
                    <a:pt x="8009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56457" cy="65754"/>
            </a:xfrm>
            <a:prstGeom prst="rect">
              <a:avLst/>
            </a:prstGeom>
          </p:spPr>
          <p:txBody>
            <a:bodyPr anchor="ctr" rtlCol="false" tIns="165331" lIns="165331" bIns="165331" rIns="165331"/>
            <a:lstStyle/>
            <a:p>
              <a:pPr algn="just">
                <a:lnSpc>
                  <a:spcPts val="2918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155093" y="3941880"/>
            <a:ext cx="1933365" cy="1456929"/>
            <a:chOff x="0" y="0"/>
            <a:chExt cx="509199" cy="3837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9199" cy="383718"/>
            </a:xfrm>
            <a:custGeom>
              <a:avLst/>
              <a:gdLst/>
              <a:ahLst/>
              <a:cxnLst/>
              <a:rect r="r" b="b" t="t" l="l"/>
              <a:pathLst>
                <a:path h="383718" w="509199">
                  <a:moveTo>
                    <a:pt x="0" y="0"/>
                  </a:moveTo>
                  <a:lnTo>
                    <a:pt x="509199" y="0"/>
                  </a:lnTo>
                  <a:lnTo>
                    <a:pt x="509199" y="383718"/>
                  </a:lnTo>
                  <a:lnTo>
                    <a:pt x="0" y="383718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28575" cap="sq">
              <a:gradFill>
                <a:gsLst>
                  <a:gs pos="0">
                    <a:srgbClr val="D47900">
                      <a:alpha val="51600"/>
                    </a:srgbClr>
                  </a:gs>
                  <a:gs pos="50000">
                    <a:srgbClr val="FBDC96">
                      <a:alpha val="60000"/>
                    </a:srgbClr>
                  </a:gs>
                  <a:gs pos="100000">
                    <a:srgbClr val="FFFFFF">
                      <a:alpha val="6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09199" cy="431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8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155093" y="3829868"/>
            <a:ext cx="1933365" cy="224025"/>
            <a:chOff x="0" y="0"/>
            <a:chExt cx="156457" cy="181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6457" cy="18129"/>
            </a:xfrm>
            <a:custGeom>
              <a:avLst/>
              <a:gdLst/>
              <a:ahLst/>
              <a:cxnLst/>
              <a:rect r="r" b="b" t="t" l="l"/>
              <a:pathLst>
                <a:path h="18129" w="156457">
                  <a:moveTo>
                    <a:pt x="8009" y="0"/>
                  </a:moveTo>
                  <a:lnTo>
                    <a:pt x="148449" y="0"/>
                  </a:lnTo>
                  <a:cubicBezTo>
                    <a:pt x="150573" y="0"/>
                    <a:pt x="152610" y="844"/>
                    <a:pt x="154112" y="2346"/>
                  </a:cubicBezTo>
                  <a:cubicBezTo>
                    <a:pt x="155614" y="3848"/>
                    <a:pt x="156457" y="5885"/>
                    <a:pt x="156457" y="8009"/>
                  </a:cubicBezTo>
                  <a:lnTo>
                    <a:pt x="156457" y="10120"/>
                  </a:lnTo>
                  <a:cubicBezTo>
                    <a:pt x="156457" y="14544"/>
                    <a:pt x="152872" y="18129"/>
                    <a:pt x="148449" y="18129"/>
                  </a:cubicBezTo>
                  <a:lnTo>
                    <a:pt x="8009" y="18129"/>
                  </a:lnTo>
                  <a:cubicBezTo>
                    <a:pt x="5885" y="18129"/>
                    <a:pt x="3848" y="17285"/>
                    <a:pt x="2346" y="15783"/>
                  </a:cubicBezTo>
                  <a:cubicBezTo>
                    <a:pt x="844" y="14282"/>
                    <a:pt x="0" y="12245"/>
                    <a:pt x="0" y="10120"/>
                  </a:cubicBezTo>
                  <a:lnTo>
                    <a:pt x="0" y="8009"/>
                  </a:lnTo>
                  <a:cubicBezTo>
                    <a:pt x="0" y="5885"/>
                    <a:pt x="844" y="3848"/>
                    <a:pt x="2346" y="2346"/>
                  </a:cubicBezTo>
                  <a:cubicBezTo>
                    <a:pt x="3848" y="844"/>
                    <a:pt x="5885" y="0"/>
                    <a:pt x="8009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56457" cy="65754"/>
            </a:xfrm>
            <a:prstGeom prst="rect">
              <a:avLst/>
            </a:prstGeom>
          </p:spPr>
          <p:txBody>
            <a:bodyPr anchor="ctr" rtlCol="false" tIns="165331" lIns="165331" bIns="165331" rIns="165331"/>
            <a:lstStyle/>
            <a:p>
              <a:pPr algn="just">
                <a:lnSpc>
                  <a:spcPts val="2918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02504" y="5477903"/>
            <a:ext cx="591143" cy="557225"/>
            <a:chOff x="0" y="0"/>
            <a:chExt cx="788191" cy="742967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788191" cy="742967"/>
              <a:chOff x="0" y="0"/>
              <a:chExt cx="862275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622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2275">
                    <a:moveTo>
                      <a:pt x="431138" y="0"/>
                    </a:moveTo>
                    <a:cubicBezTo>
                      <a:pt x="193027" y="0"/>
                      <a:pt x="0" y="181951"/>
                      <a:pt x="0" y="406400"/>
                    </a:cubicBezTo>
                    <a:cubicBezTo>
                      <a:pt x="0" y="630849"/>
                      <a:pt x="193027" y="812800"/>
                      <a:pt x="431138" y="812800"/>
                    </a:cubicBezTo>
                    <a:cubicBezTo>
                      <a:pt x="669248" y="812800"/>
                      <a:pt x="862275" y="630849"/>
                      <a:pt x="862275" y="406400"/>
                    </a:cubicBezTo>
                    <a:cubicBezTo>
                      <a:pt x="862275" y="181951"/>
                      <a:pt x="669248" y="0"/>
                      <a:pt x="43113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D47900">
                      <a:alpha val="86000"/>
                    </a:srgbClr>
                  </a:gs>
                  <a:gs pos="50000">
                    <a:srgbClr val="FBDC9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80838" y="19050"/>
                <a:ext cx="700599" cy="717550"/>
              </a:xfrm>
              <a:prstGeom prst="rect">
                <a:avLst/>
              </a:prstGeom>
            </p:spPr>
            <p:txBody>
              <a:bodyPr anchor="ctr" rtlCol="false" tIns="55816" lIns="55816" bIns="55816" rIns="55816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159432" y="91065"/>
              <a:ext cx="491308" cy="5767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7"/>
                </a:lnSpc>
              </a:pPr>
              <a:r>
                <a:rPr lang="en-US" sz="2745" b="true">
                  <a:solidFill>
                    <a:srgbClr val="AA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Q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-10800000">
            <a:off x="1028700" y="6168962"/>
            <a:ext cx="4472558" cy="673903"/>
            <a:chOff x="0" y="0"/>
            <a:chExt cx="1492674" cy="2249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92674" cy="224909"/>
            </a:xfrm>
            <a:custGeom>
              <a:avLst/>
              <a:gdLst/>
              <a:ahLst/>
              <a:cxnLst/>
              <a:rect r="r" b="b" t="t" l="l"/>
              <a:pathLst>
                <a:path h="224909" w="1492674">
                  <a:moveTo>
                    <a:pt x="203200" y="0"/>
                  </a:moveTo>
                  <a:lnTo>
                    <a:pt x="1289474" y="0"/>
                  </a:lnTo>
                  <a:lnTo>
                    <a:pt x="1492674" y="224909"/>
                  </a:lnTo>
                  <a:lnTo>
                    <a:pt x="0" y="22490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27000" y="-38100"/>
              <a:ext cx="1238674" cy="263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-10800000">
            <a:off x="1702106" y="7197481"/>
            <a:ext cx="3179266" cy="721587"/>
            <a:chOff x="0" y="0"/>
            <a:chExt cx="1061050" cy="24082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1050" cy="240823"/>
            </a:xfrm>
            <a:custGeom>
              <a:avLst/>
              <a:gdLst/>
              <a:ahLst/>
              <a:cxnLst/>
              <a:rect r="r" b="b" t="t" l="l"/>
              <a:pathLst>
                <a:path h="240823" w="1061050">
                  <a:moveTo>
                    <a:pt x="203200" y="0"/>
                  </a:moveTo>
                  <a:lnTo>
                    <a:pt x="857850" y="0"/>
                  </a:lnTo>
                  <a:lnTo>
                    <a:pt x="1061050" y="240823"/>
                  </a:lnTo>
                  <a:lnTo>
                    <a:pt x="0" y="2408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A7B87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27000" y="-38100"/>
              <a:ext cx="807050" cy="278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10800000">
            <a:off x="2372893" y="8219634"/>
            <a:ext cx="1908358" cy="1062479"/>
            <a:chOff x="0" y="0"/>
            <a:chExt cx="502613" cy="27983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2613" cy="279830"/>
            </a:xfrm>
            <a:custGeom>
              <a:avLst/>
              <a:gdLst/>
              <a:ahLst/>
              <a:cxnLst/>
              <a:rect r="r" b="b" t="t" l="l"/>
              <a:pathLst>
                <a:path h="279830" w="502613">
                  <a:moveTo>
                    <a:pt x="251306" y="0"/>
                  </a:moveTo>
                  <a:lnTo>
                    <a:pt x="502613" y="279830"/>
                  </a:lnTo>
                  <a:lnTo>
                    <a:pt x="0" y="279830"/>
                  </a:lnTo>
                  <a:lnTo>
                    <a:pt x="251306" y="0"/>
                  </a:lnTo>
                  <a:close/>
                </a:path>
              </a:pathLst>
            </a:custGeom>
            <a:solidFill>
              <a:srgbClr val="B2DCD2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8533" y="91821"/>
              <a:ext cx="345546" cy="168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43629" y="6842865"/>
            <a:ext cx="3237742" cy="355914"/>
            <a:chOff x="0" y="0"/>
            <a:chExt cx="852739" cy="9373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52739" cy="93739"/>
            </a:xfrm>
            <a:custGeom>
              <a:avLst/>
              <a:gdLst/>
              <a:ahLst/>
              <a:cxnLst/>
              <a:rect r="r" b="b" t="t" l="l"/>
              <a:pathLst>
                <a:path h="93739" w="852739">
                  <a:moveTo>
                    <a:pt x="649539" y="0"/>
                  </a:moveTo>
                  <a:lnTo>
                    <a:pt x="0" y="0"/>
                  </a:lnTo>
                  <a:lnTo>
                    <a:pt x="203200" y="93739"/>
                  </a:lnTo>
                  <a:lnTo>
                    <a:pt x="852739" y="93739"/>
                  </a:lnTo>
                  <a:lnTo>
                    <a:pt x="649539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101600" y="-38100"/>
              <a:ext cx="649539" cy="131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302312" y="7914452"/>
            <a:ext cx="1978939" cy="302903"/>
            <a:chOff x="0" y="0"/>
            <a:chExt cx="521202" cy="7977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1202" cy="79777"/>
            </a:xfrm>
            <a:custGeom>
              <a:avLst/>
              <a:gdLst/>
              <a:ahLst/>
              <a:cxnLst/>
              <a:rect r="r" b="b" t="t" l="l"/>
              <a:pathLst>
                <a:path h="79777" w="521202">
                  <a:moveTo>
                    <a:pt x="318002" y="0"/>
                  </a:moveTo>
                  <a:lnTo>
                    <a:pt x="0" y="0"/>
                  </a:lnTo>
                  <a:lnTo>
                    <a:pt x="203200" y="79777"/>
                  </a:lnTo>
                  <a:lnTo>
                    <a:pt x="521202" y="79777"/>
                  </a:lnTo>
                  <a:lnTo>
                    <a:pt x="318002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01600" y="-38100"/>
              <a:ext cx="318002" cy="117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2462032" y="7322604"/>
            <a:ext cx="1665384" cy="42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41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SAM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497366" y="8321259"/>
            <a:ext cx="1665384" cy="42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41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SOM</a:t>
            </a:r>
          </a:p>
        </p:txBody>
      </p:sp>
      <p:sp>
        <p:nvSpPr>
          <p:cNvPr name="AutoShape 53" id="53"/>
          <p:cNvSpPr/>
          <p:nvPr/>
        </p:nvSpPr>
        <p:spPr>
          <a:xfrm>
            <a:off x="4095192" y="6505914"/>
            <a:ext cx="165525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54" id="54"/>
          <p:cNvSpPr/>
          <p:nvPr/>
        </p:nvSpPr>
        <p:spPr>
          <a:xfrm>
            <a:off x="3793169" y="8560255"/>
            <a:ext cx="1088202" cy="91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55" id="55"/>
          <p:cNvSpPr/>
          <p:nvPr/>
        </p:nvSpPr>
        <p:spPr>
          <a:xfrm>
            <a:off x="3793092" y="7566174"/>
            <a:ext cx="1512427" cy="45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56" id="56"/>
          <p:cNvGrpSpPr/>
          <p:nvPr/>
        </p:nvGrpSpPr>
        <p:grpSpPr>
          <a:xfrm rot="0">
            <a:off x="9653248" y="1086284"/>
            <a:ext cx="591143" cy="557225"/>
            <a:chOff x="0" y="0"/>
            <a:chExt cx="788191" cy="742967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788191" cy="742967"/>
              <a:chOff x="0" y="0"/>
              <a:chExt cx="862275" cy="8128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622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2275">
                    <a:moveTo>
                      <a:pt x="431138" y="0"/>
                    </a:moveTo>
                    <a:cubicBezTo>
                      <a:pt x="193027" y="0"/>
                      <a:pt x="0" y="181951"/>
                      <a:pt x="0" y="406400"/>
                    </a:cubicBezTo>
                    <a:cubicBezTo>
                      <a:pt x="0" y="630849"/>
                      <a:pt x="193027" y="812800"/>
                      <a:pt x="431138" y="812800"/>
                    </a:cubicBezTo>
                    <a:cubicBezTo>
                      <a:pt x="669248" y="812800"/>
                      <a:pt x="862275" y="630849"/>
                      <a:pt x="862275" y="406400"/>
                    </a:cubicBezTo>
                    <a:cubicBezTo>
                      <a:pt x="862275" y="181951"/>
                      <a:pt x="669248" y="0"/>
                      <a:pt x="43113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D47900">
                      <a:alpha val="86000"/>
                    </a:srgbClr>
                  </a:gs>
                  <a:gs pos="50000">
                    <a:srgbClr val="FBDC9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80838" y="19050"/>
                <a:ext cx="700599" cy="717550"/>
              </a:xfrm>
              <a:prstGeom prst="rect">
                <a:avLst/>
              </a:prstGeom>
            </p:spPr>
            <p:txBody>
              <a:bodyPr anchor="ctr" rtlCol="false" tIns="55816" lIns="55816" bIns="55816" rIns="55816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159432" y="91065"/>
              <a:ext cx="491308" cy="5767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7"/>
                </a:lnSpc>
              </a:pPr>
              <a:r>
                <a:rPr lang="en-US" sz="2745" b="true">
                  <a:solidFill>
                    <a:srgbClr val="AA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9666979" y="2093103"/>
            <a:ext cx="6071339" cy="3384799"/>
          </a:xfrm>
          <a:custGeom>
            <a:avLst/>
            <a:gdLst/>
            <a:ahLst/>
            <a:cxnLst/>
            <a:rect r="r" b="b" t="t" l="l"/>
            <a:pathLst>
              <a:path h="3384799" w="6071339">
                <a:moveTo>
                  <a:pt x="0" y="0"/>
                </a:moveTo>
                <a:lnTo>
                  <a:pt x="6071338" y="0"/>
                </a:lnTo>
                <a:lnTo>
                  <a:pt x="6071338" y="3384800"/>
                </a:lnTo>
                <a:lnTo>
                  <a:pt x="0" y="338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0695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3955858" y="2093103"/>
            <a:ext cx="3728365" cy="3384799"/>
          </a:xfrm>
          <a:custGeom>
            <a:avLst/>
            <a:gdLst/>
            <a:ahLst/>
            <a:cxnLst/>
            <a:rect r="r" b="b" t="t" l="l"/>
            <a:pathLst>
              <a:path h="3384799" w="3728365">
                <a:moveTo>
                  <a:pt x="0" y="0"/>
                </a:moveTo>
                <a:lnTo>
                  <a:pt x="3728365" y="0"/>
                </a:lnTo>
                <a:lnTo>
                  <a:pt x="3728365" y="3384800"/>
                </a:lnTo>
                <a:lnTo>
                  <a:pt x="0" y="338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15073" b="-66536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69315" y="172159"/>
            <a:ext cx="4838677" cy="592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1"/>
              </a:lnSpc>
            </a:pPr>
            <a:r>
              <a:rPr lang="en-US" sz="3422" b="true">
                <a:solidFill>
                  <a:srgbClr val="00000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Input Data &amp; Activities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408188" y="537442"/>
            <a:ext cx="1525487" cy="61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TI3094 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073792" y="720514"/>
            <a:ext cx="1529957" cy="42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3243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PPST IV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28700" y="1114859"/>
            <a:ext cx="3443102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Product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6224457" y="2556089"/>
            <a:ext cx="1794636" cy="45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2"/>
              </a:lnSpc>
            </a:pPr>
            <a:r>
              <a:rPr lang="en-US" sz="260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Part Buy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764512" y="1777065"/>
            <a:ext cx="714527" cy="91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97"/>
              </a:lnSpc>
            </a:pPr>
            <a:r>
              <a:rPr lang="en-US" sz="5355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6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323766" y="4796843"/>
            <a:ext cx="1665384" cy="42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41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Part Made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634916" y="3979556"/>
            <a:ext cx="1043082" cy="91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7"/>
              </a:lnSpc>
            </a:pPr>
            <a:r>
              <a:rPr lang="en-US" sz="5355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10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799194" y="2918153"/>
            <a:ext cx="714527" cy="91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7"/>
              </a:lnSpc>
            </a:pPr>
            <a:r>
              <a:rPr lang="en-US" sz="5355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+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28700" y="5563143"/>
            <a:ext cx="3443102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Quantity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429808" y="6213226"/>
            <a:ext cx="1665384" cy="42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41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TAM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5953157" y="6351794"/>
            <a:ext cx="3176001" cy="30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Seluruh penduduk Indonesia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379444" y="1171524"/>
            <a:ext cx="3443102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Routing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380324" y="7071465"/>
            <a:ext cx="3787701" cy="61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Penduduk Indonesia usia 18-49 tahun yang berdomisili Pulau Jawa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150666" y="8033896"/>
            <a:ext cx="4076258" cy="61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Persentase segmen pelanggan 1 yang tertarik membeli tripod 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666979" y="1792303"/>
            <a:ext cx="2074749" cy="228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799" b="true">
                <a:solidFill>
                  <a:srgbClr val="003C43"/>
                </a:solidFill>
                <a:latin typeface="Inter Bold"/>
                <a:ea typeface="Inter Bold"/>
                <a:cs typeface="Inter Bold"/>
                <a:sym typeface="Inter Bold"/>
              </a:rPr>
              <a:t>Routing Assembly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999044" y="1786398"/>
            <a:ext cx="2074749" cy="22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799" b="true">
                <a:solidFill>
                  <a:srgbClr val="003C43"/>
                </a:solidFill>
                <a:latin typeface="Inter Bold"/>
                <a:ea typeface="Inter Bold"/>
                <a:cs typeface="Inter Bold"/>
                <a:sym typeface="Inter Bold"/>
              </a:rPr>
              <a:t>Routing Fabrikasi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9666979" y="5756515"/>
            <a:ext cx="591143" cy="557225"/>
            <a:chOff x="0" y="0"/>
            <a:chExt cx="788191" cy="742967"/>
          </a:xfrm>
        </p:grpSpPr>
        <p:grpSp>
          <p:nvGrpSpPr>
            <p:cNvPr name="Group 81" id="81"/>
            <p:cNvGrpSpPr/>
            <p:nvPr/>
          </p:nvGrpSpPr>
          <p:grpSpPr>
            <a:xfrm rot="0">
              <a:off x="0" y="0"/>
              <a:ext cx="788191" cy="742967"/>
              <a:chOff x="0" y="0"/>
              <a:chExt cx="862275" cy="81280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8622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2275">
                    <a:moveTo>
                      <a:pt x="431138" y="0"/>
                    </a:moveTo>
                    <a:cubicBezTo>
                      <a:pt x="193027" y="0"/>
                      <a:pt x="0" y="181951"/>
                      <a:pt x="0" y="406400"/>
                    </a:cubicBezTo>
                    <a:cubicBezTo>
                      <a:pt x="0" y="630849"/>
                      <a:pt x="193027" y="812800"/>
                      <a:pt x="431138" y="812800"/>
                    </a:cubicBezTo>
                    <a:cubicBezTo>
                      <a:pt x="669248" y="812800"/>
                      <a:pt x="862275" y="630849"/>
                      <a:pt x="862275" y="406400"/>
                    </a:cubicBezTo>
                    <a:cubicBezTo>
                      <a:pt x="862275" y="181951"/>
                      <a:pt x="669248" y="0"/>
                      <a:pt x="43113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D47900">
                      <a:alpha val="86000"/>
                    </a:srgbClr>
                  </a:gs>
                  <a:gs pos="50000">
                    <a:srgbClr val="FBDC9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80838" y="19050"/>
                <a:ext cx="700599" cy="717550"/>
              </a:xfrm>
              <a:prstGeom prst="rect">
                <a:avLst/>
              </a:prstGeom>
            </p:spPr>
            <p:txBody>
              <a:bodyPr anchor="ctr" rtlCol="false" tIns="55816" lIns="55816" bIns="55816" rIns="55816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84" id="84"/>
            <p:cNvSpPr txBox="true"/>
            <p:nvPr/>
          </p:nvSpPr>
          <p:spPr>
            <a:xfrm rot="0">
              <a:off x="159432" y="91065"/>
              <a:ext cx="491308" cy="5767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7"/>
                </a:lnSpc>
              </a:pPr>
              <a:r>
                <a:rPr lang="en-US" sz="2745" b="true">
                  <a:solidFill>
                    <a:srgbClr val="AA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0393175" y="5841756"/>
            <a:ext cx="3443102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Supporting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9666979" y="7508679"/>
            <a:ext cx="591143" cy="557225"/>
            <a:chOff x="0" y="0"/>
            <a:chExt cx="788191" cy="742967"/>
          </a:xfrm>
        </p:grpSpPr>
        <p:grpSp>
          <p:nvGrpSpPr>
            <p:cNvPr name="Group 87" id="87"/>
            <p:cNvGrpSpPr/>
            <p:nvPr/>
          </p:nvGrpSpPr>
          <p:grpSpPr>
            <a:xfrm rot="0">
              <a:off x="0" y="0"/>
              <a:ext cx="788191" cy="742967"/>
              <a:chOff x="0" y="0"/>
              <a:chExt cx="862275" cy="812800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8622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2275">
                    <a:moveTo>
                      <a:pt x="431138" y="0"/>
                    </a:moveTo>
                    <a:cubicBezTo>
                      <a:pt x="193027" y="0"/>
                      <a:pt x="0" y="181951"/>
                      <a:pt x="0" y="406400"/>
                    </a:cubicBezTo>
                    <a:cubicBezTo>
                      <a:pt x="0" y="630849"/>
                      <a:pt x="193027" y="812800"/>
                      <a:pt x="431138" y="812800"/>
                    </a:cubicBezTo>
                    <a:cubicBezTo>
                      <a:pt x="669248" y="812800"/>
                      <a:pt x="862275" y="630849"/>
                      <a:pt x="862275" y="406400"/>
                    </a:cubicBezTo>
                    <a:cubicBezTo>
                      <a:pt x="862275" y="181951"/>
                      <a:pt x="669248" y="0"/>
                      <a:pt x="43113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D47900">
                      <a:alpha val="86000"/>
                    </a:srgbClr>
                  </a:gs>
                  <a:gs pos="50000">
                    <a:srgbClr val="FBDC9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80838" y="19050"/>
                <a:ext cx="700599" cy="717550"/>
              </a:xfrm>
              <a:prstGeom prst="rect">
                <a:avLst/>
              </a:prstGeom>
            </p:spPr>
            <p:txBody>
              <a:bodyPr anchor="ctr" rtlCol="false" tIns="55816" lIns="55816" bIns="55816" rIns="55816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90" id="90"/>
            <p:cNvSpPr txBox="true"/>
            <p:nvPr/>
          </p:nvSpPr>
          <p:spPr>
            <a:xfrm rot="0">
              <a:off x="159432" y="91065"/>
              <a:ext cx="491308" cy="5767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57"/>
                </a:lnSpc>
              </a:pPr>
              <a:r>
                <a:rPr lang="en-US" sz="2745" b="true">
                  <a:solidFill>
                    <a:srgbClr val="AA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10393175" y="7593919"/>
            <a:ext cx="1362283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Time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9731574" y="6589965"/>
            <a:ext cx="2306734" cy="626442"/>
            <a:chOff x="0" y="0"/>
            <a:chExt cx="607535" cy="16498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07535" cy="164989"/>
            </a:xfrm>
            <a:custGeom>
              <a:avLst/>
              <a:gdLst/>
              <a:ahLst/>
              <a:cxnLst/>
              <a:rect r="r" b="b" t="t" l="l"/>
              <a:pathLst>
                <a:path h="164989" w="607535">
                  <a:moveTo>
                    <a:pt x="43631" y="0"/>
                  </a:moveTo>
                  <a:lnTo>
                    <a:pt x="563904" y="0"/>
                  </a:lnTo>
                  <a:cubicBezTo>
                    <a:pt x="588001" y="0"/>
                    <a:pt x="607535" y="19534"/>
                    <a:pt x="607535" y="43631"/>
                  </a:cubicBezTo>
                  <a:lnTo>
                    <a:pt x="607535" y="121358"/>
                  </a:lnTo>
                  <a:cubicBezTo>
                    <a:pt x="607535" y="132929"/>
                    <a:pt x="602938" y="144027"/>
                    <a:pt x="594756" y="152210"/>
                  </a:cubicBezTo>
                  <a:cubicBezTo>
                    <a:pt x="586573" y="160392"/>
                    <a:pt x="575476" y="164989"/>
                    <a:pt x="563904" y="164989"/>
                  </a:cubicBezTo>
                  <a:lnTo>
                    <a:pt x="43631" y="164989"/>
                  </a:lnTo>
                  <a:cubicBezTo>
                    <a:pt x="32059" y="164989"/>
                    <a:pt x="20962" y="160392"/>
                    <a:pt x="12779" y="152210"/>
                  </a:cubicBezTo>
                  <a:cubicBezTo>
                    <a:pt x="4597" y="144027"/>
                    <a:pt x="0" y="132929"/>
                    <a:pt x="0" y="121358"/>
                  </a:cubicBezTo>
                  <a:lnTo>
                    <a:pt x="0" y="43631"/>
                  </a:lnTo>
                  <a:cubicBezTo>
                    <a:pt x="0" y="32059"/>
                    <a:pt x="4597" y="20962"/>
                    <a:pt x="12779" y="12779"/>
                  </a:cubicBezTo>
                  <a:cubicBezTo>
                    <a:pt x="20962" y="4597"/>
                    <a:pt x="32059" y="0"/>
                    <a:pt x="436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607535" cy="203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5" id="95"/>
          <p:cNvSpPr txBox="true"/>
          <p:nvPr/>
        </p:nvSpPr>
        <p:spPr>
          <a:xfrm rot="0">
            <a:off x="9731574" y="6662660"/>
            <a:ext cx="2306734" cy="42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2435" b="true">
                <a:solidFill>
                  <a:srgbClr val="034C4D"/>
                </a:solidFill>
                <a:latin typeface="Inter Bold"/>
                <a:ea typeface="Inter Bold"/>
                <a:cs typeface="Inter Bold"/>
                <a:sym typeface="Inter Bold"/>
              </a:rPr>
              <a:t>Maintenance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2571673" y="6604516"/>
            <a:ext cx="1834918" cy="626442"/>
            <a:chOff x="0" y="0"/>
            <a:chExt cx="2446557" cy="835255"/>
          </a:xfrm>
        </p:grpSpPr>
        <p:grpSp>
          <p:nvGrpSpPr>
            <p:cNvPr name="Group 97" id="97"/>
            <p:cNvGrpSpPr/>
            <p:nvPr/>
          </p:nvGrpSpPr>
          <p:grpSpPr>
            <a:xfrm rot="0">
              <a:off x="0" y="0"/>
              <a:ext cx="2446557" cy="835255"/>
              <a:chOff x="0" y="0"/>
              <a:chExt cx="483270" cy="164989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483270" cy="164989"/>
              </a:xfrm>
              <a:custGeom>
                <a:avLst/>
                <a:gdLst/>
                <a:ahLst/>
                <a:cxnLst/>
                <a:rect r="r" b="b" t="t" l="l"/>
                <a:pathLst>
                  <a:path h="164989" w="483270">
                    <a:moveTo>
                      <a:pt x="54850" y="0"/>
                    </a:moveTo>
                    <a:lnTo>
                      <a:pt x="428421" y="0"/>
                    </a:lnTo>
                    <a:cubicBezTo>
                      <a:pt x="458713" y="0"/>
                      <a:pt x="483270" y="24557"/>
                      <a:pt x="483270" y="54850"/>
                    </a:cubicBezTo>
                    <a:lnTo>
                      <a:pt x="483270" y="110139"/>
                    </a:lnTo>
                    <a:cubicBezTo>
                      <a:pt x="483270" y="140432"/>
                      <a:pt x="458713" y="164989"/>
                      <a:pt x="428421" y="164989"/>
                    </a:cubicBezTo>
                    <a:lnTo>
                      <a:pt x="54850" y="164989"/>
                    </a:lnTo>
                    <a:cubicBezTo>
                      <a:pt x="24557" y="164989"/>
                      <a:pt x="0" y="140432"/>
                      <a:pt x="0" y="110139"/>
                    </a:cubicBezTo>
                    <a:lnTo>
                      <a:pt x="0" y="54850"/>
                    </a:lnTo>
                    <a:cubicBezTo>
                      <a:pt x="0" y="24557"/>
                      <a:pt x="24557" y="0"/>
                      <a:pt x="5485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D47900">
                      <a:alpha val="86000"/>
                    </a:srgbClr>
                  </a:gs>
                  <a:gs pos="50000">
                    <a:srgbClr val="FBDC9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-38100"/>
                <a:ext cx="483270" cy="2030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0" id="100"/>
            <p:cNvSpPr txBox="true"/>
            <p:nvPr/>
          </p:nvSpPr>
          <p:spPr>
            <a:xfrm rot="0">
              <a:off x="0" y="115976"/>
              <a:ext cx="2446557" cy="546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0"/>
                </a:lnSpc>
              </a:pPr>
              <a:r>
                <a:rPr lang="en-US" sz="2435" b="true">
                  <a:solidFill>
                    <a:srgbClr val="034C4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Kantor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4939955" y="6604516"/>
            <a:ext cx="2811852" cy="640992"/>
            <a:chOff x="0" y="0"/>
            <a:chExt cx="740570" cy="16882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40570" cy="168821"/>
            </a:xfrm>
            <a:custGeom>
              <a:avLst/>
              <a:gdLst/>
              <a:ahLst/>
              <a:cxnLst/>
              <a:rect r="r" b="b" t="t" l="l"/>
              <a:pathLst>
                <a:path h="168821" w="740570">
                  <a:moveTo>
                    <a:pt x="35793" y="0"/>
                  </a:moveTo>
                  <a:lnTo>
                    <a:pt x="704777" y="0"/>
                  </a:lnTo>
                  <a:cubicBezTo>
                    <a:pt x="724545" y="0"/>
                    <a:pt x="740570" y="16025"/>
                    <a:pt x="740570" y="35793"/>
                  </a:cubicBezTo>
                  <a:lnTo>
                    <a:pt x="740570" y="133028"/>
                  </a:lnTo>
                  <a:cubicBezTo>
                    <a:pt x="740570" y="142521"/>
                    <a:pt x="736799" y="151625"/>
                    <a:pt x="730087" y="158337"/>
                  </a:cubicBezTo>
                  <a:cubicBezTo>
                    <a:pt x="723374" y="165050"/>
                    <a:pt x="714270" y="168821"/>
                    <a:pt x="704777" y="168821"/>
                  </a:cubicBezTo>
                  <a:lnTo>
                    <a:pt x="35793" y="168821"/>
                  </a:lnTo>
                  <a:cubicBezTo>
                    <a:pt x="16025" y="168821"/>
                    <a:pt x="0" y="152796"/>
                    <a:pt x="0" y="133028"/>
                  </a:cubicBezTo>
                  <a:lnTo>
                    <a:pt x="0" y="35793"/>
                  </a:lnTo>
                  <a:cubicBezTo>
                    <a:pt x="0" y="16025"/>
                    <a:pt x="16025" y="0"/>
                    <a:pt x="357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740570" cy="206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4" id="104"/>
          <p:cNvSpPr txBox="true"/>
          <p:nvPr/>
        </p:nvSpPr>
        <p:spPr>
          <a:xfrm rot="0">
            <a:off x="15025680" y="6677210"/>
            <a:ext cx="2647491" cy="42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2435" b="true">
                <a:solidFill>
                  <a:srgbClr val="034C4D"/>
                </a:solidFill>
                <a:latin typeface="Inter Bold"/>
                <a:ea typeface="Inter Bold"/>
                <a:cs typeface="Inter Bold"/>
                <a:sym typeface="Inter Bold"/>
              </a:rPr>
              <a:t>Pelayanan Pabrik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2038308" y="6563599"/>
            <a:ext cx="518974" cy="612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0"/>
              </a:lnSpc>
            </a:pPr>
            <a:r>
              <a:rPr lang="en-US" sz="3635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+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4406591" y="6578150"/>
            <a:ext cx="518974" cy="612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0"/>
              </a:lnSpc>
            </a:pPr>
            <a:r>
              <a:rPr lang="en-US" sz="3635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+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9808151" y="8671692"/>
            <a:ext cx="4598440" cy="586608"/>
            <a:chOff x="0" y="0"/>
            <a:chExt cx="1211112" cy="15449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211112" cy="154498"/>
            </a:xfrm>
            <a:custGeom>
              <a:avLst/>
              <a:gdLst/>
              <a:ahLst/>
              <a:cxnLst/>
              <a:rect r="r" b="b" t="t" l="l"/>
              <a:pathLst>
                <a:path h="154498" w="1211112">
                  <a:moveTo>
                    <a:pt x="21887" y="0"/>
                  </a:moveTo>
                  <a:lnTo>
                    <a:pt x="1189225" y="0"/>
                  </a:lnTo>
                  <a:cubicBezTo>
                    <a:pt x="1201313" y="0"/>
                    <a:pt x="1211112" y="9799"/>
                    <a:pt x="1211112" y="21887"/>
                  </a:cubicBezTo>
                  <a:lnTo>
                    <a:pt x="1211112" y="132611"/>
                  </a:lnTo>
                  <a:cubicBezTo>
                    <a:pt x="1211112" y="138415"/>
                    <a:pt x="1208806" y="143982"/>
                    <a:pt x="1204701" y="148087"/>
                  </a:cubicBezTo>
                  <a:cubicBezTo>
                    <a:pt x="1200597" y="152192"/>
                    <a:pt x="1195030" y="154498"/>
                    <a:pt x="1189225" y="154498"/>
                  </a:cubicBezTo>
                  <a:lnTo>
                    <a:pt x="21887" y="154498"/>
                  </a:lnTo>
                  <a:cubicBezTo>
                    <a:pt x="16082" y="154498"/>
                    <a:pt x="10515" y="152192"/>
                    <a:pt x="6410" y="148087"/>
                  </a:cubicBezTo>
                  <a:cubicBezTo>
                    <a:pt x="2306" y="143982"/>
                    <a:pt x="0" y="138415"/>
                    <a:pt x="0" y="132611"/>
                  </a:cubicBezTo>
                  <a:lnTo>
                    <a:pt x="0" y="21887"/>
                  </a:lnTo>
                  <a:cubicBezTo>
                    <a:pt x="0" y="16082"/>
                    <a:pt x="2306" y="10515"/>
                    <a:pt x="6410" y="6410"/>
                  </a:cubicBezTo>
                  <a:cubicBezTo>
                    <a:pt x="10515" y="2306"/>
                    <a:pt x="16082" y="0"/>
                    <a:pt x="218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1211112" cy="192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0" id="110"/>
          <p:cNvSpPr txBox="true"/>
          <p:nvPr/>
        </p:nvSpPr>
        <p:spPr>
          <a:xfrm rot="0">
            <a:off x="9707736" y="8191059"/>
            <a:ext cx="3787701" cy="30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Waktu operasional tersedia 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9915148" y="8706110"/>
            <a:ext cx="4502582" cy="47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760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2 shift x 8 jam x 240 hari = </a:t>
            </a:r>
          </a:p>
        </p:txBody>
      </p:sp>
      <p:grpSp>
        <p:nvGrpSpPr>
          <p:cNvPr name="Group 112" id="112"/>
          <p:cNvGrpSpPr/>
          <p:nvPr/>
        </p:nvGrpSpPr>
        <p:grpSpPr>
          <a:xfrm rot="0">
            <a:off x="14417729" y="8358145"/>
            <a:ext cx="3186020" cy="1014466"/>
            <a:chOff x="0" y="0"/>
            <a:chExt cx="839116" cy="267185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839116" cy="267185"/>
            </a:xfrm>
            <a:custGeom>
              <a:avLst/>
              <a:gdLst/>
              <a:ahLst/>
              <a:cxnLst/>
              <a:rect r="r" b="b" t="t" l="l"/>
              <a:pathLst>
                <a:path h="267185" w="839116">
                  <a:moveTo>
                    <a:pt x="31590" y="0"/>
                  </a:moveTo>
                  <a:lnTo>
                    <a:pt x="807527" y="0"/>
                  </a:lnTo>
                  <a:cubicBezTo>
                    <a:pt x="824973" y="0"/>
                    <a:pt x="839116" y="14143"/>
                    <a:pt x="839116" y="31590"/>
                  </a:cubicBezTo>
                  <a:lnTo>
                    <a:pt x="839116" y="235595"/>
                  </a:lnTo>
                  <a:cubicBezTo>
                    <a:pt x="839116" y="253041"/>
                    <a:pt x="824973" y="267185"/>
                    <a:pt x="807527" y="267185"/>
                  </a:cubicBezTo>
                  <a:lnTo>
                    <a:pt x="31590" y="267185"/>
                  </a:lnTo>
                  <a:cubicBezTo>
                    <a:pt x="23211" y="267185"/>
                    <a:pt x="15177" y="263856"/>
                    <a:pt x="9252" y="257932"/>
                  </a:cubicBezTo>
                  <a:cubicBezTo>
                    <a:pt x="3328" y="252008"/>
                    <a:pt x="0" y="243973"/>
                    <a:pt x="0" y="235595"/>
                  </a:cubicBezTo>
                  <a:lnTo>
                    <a:pt x="0" y="31590"/>
                  </a:lnTo>
                  <a:cubicBezTo>
                    <a:pt x="0" y="14143"/>
                    <a:pt x="14143" y="0"/>
                    <a:pt x="31590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839116" cy="305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5" id="115"/>
          <p:cNvSpPr txBox="true"/>
          <p:nvPr/>
        </p:nvSpPr>
        <p:spPr>
          <a:xfrm rot="0">
            <a:off x="14541554" y="8425967"/>
            <a:ext cx="1804327" cy="779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4560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3.840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6345881" y="8357508"/>
            <a:ext cx="1763291" cy="95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760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jam</a:t>
            </a:r>
          </a:p>
          <a:p>
            <a:pPr algn="l">
              <a:lnSpc>
                <a:spcPts val="3864"/>
              </a:lnSpc>
            </a:pPr>
            <a:r>
              <a:rPr lang="en-US" sz="2760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/tahun</a:t>
            </a:r>
          </a:p>
        </p:txBody>
      </p:sp>
      <p:grpSp>
        <p:nvGrpSpPr>
          <p:cNvPr name="Group 117" id="117"/>
          <p:cNvGrpSpPr/>
          <p:nvPr/>
        </p:nvGrpSpPr>
        <p:grpSpPr>
          <a:xfrm rot="0">
            <a:off x="5007993" y="8805028"/>
            <a:ext cx="3608077" cy="567583"/>
            <a:chOff x="0" y="0"/>
            <a:chExt cx="950275" cy="149487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50275" cy="149487"/>
            </a:xfrm>
            <a:custGeom>
              <a:avLst/>
              <a:gdLst/>
              <a:ahLst/>
              <a:cxnLst/>
              <a:rect r="r" b="b" t="t" l="l"/>
              <a:pathLst>
                <a:path h="149487" w="950275">
                  <a:moveTo>
                    <a:pt x="27894" y="0"/>
                  </a:moveTo>
                  <a:lnTo>
                    <a:pt x="922381" y="0"/>
                  </a:lnTo>
                  <a:cubicBezTo>
                    <a:pt x="929779" y="0"/>
                    <a:pt x="936874" y="2939"/>
                    <a:pt x="942105" y="8170"/>
                  </a:cubicBezTo>
                  <a:cubicBezTo>
                    <a:pt x="947337" y="13401"/>
                    <a:pt x="950275" y="20496"/>
                    <a:pt x="950275" y="27894"/>
                  </a:cubicBezTo>
                  <a:lnTo>
                    <a:pt x="950275" y="121593"/>
                  </a:lnTo>
                  <a:cubicBezTo>
                    <a:pt x="950275" y="128991"/>
                    <a:pt x="947337" y="136086"/>
                    <a:pt x="942105" y="141317"/>
                  </a:cubicBezTo>
                  <a:cubicBezTo>
                    <a:pt x="936874" y="146548"/>
                    <a:pt x="929779" y="149487"/>
                    <a:pt x="922381" y="149487"/>
                  </a:cubicBezTo>
                  <a:lnTo>
                    <a:pt x="27894" y="149487"/>
                  </a:lnTo>
                  <a:cubicBezTo>
                    <a:pt x="20496" y="149487"/>
                    <a:pt x="13401" y="146548"/>
                    <a:pt x="8170" y="141317"/>
                  </a:cubicBezTo>
                  <a:cubicBezTo>
                    <a:pt x="2939" y="136086"/>
                    <a:pt x="0" y="128991"/>
                    <a:pt x="0" y="121593"/>
                  </a:cubicBezTo>
                  <a:lnTo>
                    <a:pt x="0" y="27894"/>
                  </a:lnTo>
                  <a:cubicBezTo>
                    <a:pt x="0" y="20496"/>
                    <a:pt x="2939" y="13401"/>
                    <a:pt x="8170" y="8170"/>
                  </a:cubicBezTo>
                  <a:cubicBezTo>
                    <a:pt x="13401" y="2939"/>
                    <a:pt x="20496" y="0"/>
                    <a:pt x="27894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950275" cy="187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0" id="120"/>
          <p:cNvSpPr txBox="true"/>
          <p:nvPr/>
        </p:nvSpPr>
        <p:spPr>
          <a:xfrm rot="0">
            <a:off x="5189886" y="8808228"/>
            <a:ext cx="3218616" cy="47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4"/>
              </a:lnSpc>
            </a:pPr>
            <a:r>
              <a:rPr lang="en-US" sz="2760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Demand 8 unit/jam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05222" y="201321"/>
            <a:ext cx="2874537" cy="610570"/>
            <a:chOff x="0" y="0"/>
            <a:chExt cx="757080" cy="160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7080" cy="160809"/>
            </a:xfrm>
            <a:custGeom>
              <a:avLst/>
              <a:gdLst/>
              <a:ahLst/>
              <a:cxnLst/>
              <a:rect r="r" b="b" t="t" l="l"/>
              <a:pathLst>
                <a:path h="160809" w="757080">
                  <a:moveTo>
                    <a:pt x="0" y="0"/>
                  </a:moveTo>
                  <a:lnTo>
                    <a:pt x="757080" y="0"/>
                  </a:lnTo>
                  <a:lnTo>
                    <a:pt x="757080" y="160809"/>
                  </a:lnTo>
                  <a:lnTo>
                    <a:pt x="0" y="160809"/>
                  </a:lnTo>
                  <a:close/>
                </a:path>
              </a:pathLst>
            </a:custGeom>
            <a:gradFill rotWithShape="true">
              <a:gsLst>
                <a:gs pos="0">
                  <a:srgbClr val="06D1B2">
                    <a:alpha val="100000"/>
                  </a:srgbClr>
                </a:gs>
                <a:gs pos="100000">
                  <a:srgbClr val="006D8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7080" cy="19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93108" y="-19244"/>
            <a:ext cx="12352120" cy="10325489"/>
          </a:xfrm>
          <a:custGeom>
            <a:avLst/>
            <a:gdLst/>
            <a:ahLst/>
            <a:cxnLst/>
            <a:rect r="r" b="b" t="t" l="l"/>
            <a:pathLst>
              <a:path h="10325489" w="12352120">
                <a:moveTo>
                  <a:pt x="0" y="0"/>
                </a:moveTo>
                <a:lnTo>
                  <a:pt x="12352120" y="0"/>
                </a:lnTo>
                <a:lnTo>
                  <a:pt x="12352120" y="10325488"/>
                </a:lnTo>
                <a:lnTo>
                  <a:pt x="0" y="10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33" t="0" r="-1273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83309" y="-275581"/>
            <a:ext cx="10972320" cy="10758087"/>
            <a:chOff x="0" y="0"/>
            <a:chExt cx="2889829" cy="28334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829" cy="2833406"/>
            </a:xfrm>
            <a:custGeom>
              <a:avLst/>
              <a:gdLst/>
              <a:ahLst/>
              <a:cxnLst/>
              <a:rect r="r" b="b" t="t" l="l"/>
              <a:pathLst>
                <a:path h="2833406" w="2889829">
                  <a:moveTo>
                    <a:pt x="0" y="0"/>
                  </a:moveTo>
                  <a:lnTo>
                    <a:pt x="2889829" y="0"/>
                  </a:lnTo>
                  <a:lnTo>
                    <a:pt x="2889829" y="2833406"/>
                  </a:lnTo>
                  <a:lnTo>
                    <a:pt x="0" y="2833406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0000"/>
                  </a:srgbClr>
                </a:gs>
                <a:gs pos="100000">
                  <a:srgbClr val="6B4851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89829" cy="2871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46584" y="506606"/>
            <a:ext cx="3526582" cy="785415"/>
            <a:chOff x="0" y="0"/>
            <a:chExt cx="928812" cy="2068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812" cy="206858"/>
            </a:xfrm>
            <a:custGeom>
              <a:avLst/>
              <a:gdLst/>
              <a:ahLst/>
              <a:cxnLst/>
              <a:rect r="r" b="b" t="t" l="l"/>
              <a:pathLst>
                <a:path h="206858" w="928812">
                  <a:moveTo>
                    <a:pt x="103429" y="0"/>
                  </a:moveTo>
                  <a:lnTo>
                    <a:pt x="825383" y="0"/>
                  </a:lnTo>
                  <a:cubicBezTo>
                    <a:pt x="882505" y="0"/>
                    <a:pt x="928812" y="46307"/>
                    <a:pt x="928812" y="103429"/>
                  </a:cubicBezTo>
                  <a:lnTo>
                    <a:pt x="928812" y="103429"/>
                  </a:lnTo>
                  <a:cubicBezTo>
                    <a:pt x="928812" y="160552"/>
                    <a:pt x="882505" y="206858"/>
                    <a:pt x="825383" y="206858"/>
                  </a:cubicBezTo>
                  <a:lnTo>
                    <a:pt x="103429" y="206858"/>
                  </a:lnTo>
                  <a:cubicBezTo>
                    <a:pt x="46307" y="206858"/>
                    <a:pt x="0" y="160552"/>
                    <a:pt x="0" y="103429"/>
                  </a:cubicBezTo>
                  <a:lnTo>
                    <a:pt x="0" y="103429"/>
                  </a:lnTo>
                  <a:cubicBezTo>
                    <a:pt x="0" y="46307"/>
                    <a:pt x="46307" y="0"/>
                    <a:pt x="103429" y="0"/>
                  </a:cubicBez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8812" cy="2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5990825" y="605426"/>
            <a:ext cx="0" cy="587775"/>
          </a:xfrm>
          <a:prstGeom prst="line">
            <a:avLst/>
          </a:prstGeom>
          <a:ln cap="flat" w="19050">
            <a:solidFill>
              <a:srgbClr val="F9F8E4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3226273" y="3640775"/>
            <a:ext cx="2885790" cy="1462688"/>
          </a:xfrm>
          <a:custGeom>
            <a:avLst/>
            <a:gdLst/>
            <a:ahLst/>
            <a:cxnLst/>
            <a:rect r="r" b="b" t="t" l="l"/>
            <a:pathLst>
              <a:path h="1462688" w="2885790">
                <a:moveTo>
                  <a:pt x="0" y="0"/>
                </a:moveTo>
                <a:lnTo>
                  <a:pt x="2885790" y="0"/>
                </a:lnTo>
                <a:lnTo>
                  <a:pt x="2885790" y="1462688"/>
                </a:lnTo>
                <a:lnTo>
                  <a:pt x="0" y="1462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1371" r="0" b="-51371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1922206" y="1680138"/>
            <a:ext cx="2324378" cy="2271687"/>
          </a:xfrm>
          <a:custGeom>
            <a:avLst/>
            <a:gdLst/>
            <a:ahLst/>
            <a:cxnLst/>
            <a:rect r="r" b="b" t="t" l="l"/>
            <a:pathLst>
              <a:path h="2271687" w="2324378">
                <a:moveTo>
                  <a:pt x="2324378" y="0"/>
                </a:moveTo>
                <a:lnTo>
                  <a:pt x="0" y="0"/>
                </a:lnTo>
                <a:lnTo>
                  <a:pt x="0" y="2271687"/>
                </a:lnTo>
                <a:lnTo>
                  <a:pt x="2324378" y="2271687"/>
                </a:lnTo>
                <a:lnTo>
                  <a:pt x="2324378" y="0"/>
                </a:lnTo>
                <a:close/>
              </a:path>
            </a:pathLst>
          </a:custGeom>
          <a:blipFill>
            <a:blip r:embed="rId4"/>
            <a:stretch>
              <a:fillRect l="-36382" t="0" r="-37365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199912" y="1680138"/>
            <a:ext cx="2573254" cy="2338800"/>
          </a:xfrm>
          <a:custGeom>
            <a:avLst/>
            <a:gdLst/>
            <a:ahLst/>
            <a:cxnLst/>
            <a:rect r="r" b="b" t="t" l="l"/>
            <a:pathLst>
              <a:path h="2338800" w="2573254">
                <a:moveTo>
                  <a:pt x="0" y="0"/>
                </a:moveTo>
                <a:lnTo>
                  <a:pt x="2573254" y="0"/>
                </a:lnTo>
                <a:lnTo>
                  <a:pt x="2573254" y="2338800"/>
                </a:lnTo>
                <a:lnTo>
                  <a:pt x="0" y="233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0024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07677" y="1680138"/>
            <a:ext cx="6225368" cy="2980418"/>
          </a:xfrm>
          <a:custGeom>
            <a:avLst/>
            <a:gdLst/>
            <a:ahLst/>
            <a:cxnLst/>
            <a:rect r="r" b="b" t="t" l="l"/>
            <a:pathLst>
              <a:path h="2980418" w="6225368">
                <a:moveTo>
                  <a:pt x="0" y="0"/>
                </a:moveTo>
                <a:lnTo>
                  <a:pt x="6225368" y="0"/>
                </a:lnTo>
                <a:lnTo>
                  <a:pt x="6225368" y="2980418"/>
                </a:lnTo>
                <a:lnTo>
                  <a:pt x="0" y="29804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731" r="-14532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453759" y="1680138"/>
            <a:ext cx="5380482" cy="2980418"/>
          </a:xfrm>
          <a:custGeom>
            <a:avLst/>
            <a:gdLst/>
            <a:ahLst/>
            <a:cxnLst/>
            <a:rect r="r" b="b" t="t" l="l"/>
            <a:pathLst>
              <a:path h="2980418" w="5380482">
                <a:moveTo>
                  <a:pt x="0" y="0"/>
                </a:moveTo>
                <a:lnTo>
                  <a:pt x="5380482" y="0"/>
                </a:lnTo>
                <a:lnTo>
                  <a:pt x="5380482" y="2980418"/>
                </a:lnTo>
                <a:lnTo>
                  <a:pt x="0" y="29804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3842" t="-12731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07677" y="5490680"/>
            <a:ext cx="12014797" cy="2553144"/>
          </a:xfrm>
          <a:custGeom>
            <a:avLst/>
            <a:gdLst/>
            <a:ahLst/>
            <a:cxnLst/>
            <a:rect r="r" b="b" t="t" l="l"/>
            <a:pathLst>
              <a:path h="2553144" w="12014797">
                <a:moveTo>
                  <a:pt x="0" y="0"/>
                </a:moveTo>
                <a:lnTo>
                  <a:pt x="12014797" y="0"/>
                </a:lnTo>
                <a:lnTo>
                  <a:pt x="12014797" y="2553144"/>
                </a:lnTo>
                <a:lnTo>
                  <a:pt x="0" y="25531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07677" y="8253374"/>
            <a:ext cx="12014797" cy="1004926"/>
            <a:chOff x="0" y="0"/>
            <a:chExt cx="3164391" cy="2646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64391" cy="264672"/>
            </a:xfrm>
            <a:custGeom>
              <a:avLst/>
              <a:gdLst/>
              <a:ahLst/>
              <a:cxnLst/>
              <a:rect r="r" b="b" t="t" l="l"/>
              <a:pathLst>
                <a:path h="264672" w="3164391">
                  <a:moveTo>
                    <a:pt x="8377" y="0"/>
                  </a:moveTo>
                  <a:lnTo>
                    <a:pt x="3156014" y="0"/>
                  </a:lnTo>
                  <a:cubicBezTo>
                    <a:pt x="3160641" y="0"/>
                    <a:pt x="3164391" y="3750"/>
                    <a:pt x="3164391" y="8377"/>
                  </a:cubicBezTo>
                  <a:lnTo>
                    <a:pt x="3164391" y="256295"/>
                  </a:lnTo>
                  <a:cubicBezTo>
                    <a:pt x="3164391" y="260921"/>
                    <a:pt x="3160641" y="264672"/>
                    <a:pt x="3156014" y="264672"/>
                  </a:cubicBezTo>
                  <a:lnTo>
                    <a:pt x="8377" y="264672"/>
                  </a:lnTo>
                  <a:cubicBezTo>
                    <a:pt x="3750" y="264672"/>
                    <a:pt x="0" y="260921"/>
                    <a:pt x="0" y="256295"/>
                  </a:cubicBezTo>
                  <a:lnTo>
                    <a:pt x="0" y="8377"/>
                  </a:lnTo>
                  <a:cubicBezTo>
                    <a:pt x="0" y="3750"/>
                    <a:pt x="3750" y="0"/>
                    <a:pt x="837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164391" cy="302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511690" y="5897897"/>
            <a:ext cx="2315559" cy="869355"/>
            <a:chOff x="0" y="0"/>
            <a:chExt cx="625558" cy="2348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5558" cy="234860"/>
            </a:xfrm>
            <a:custGeom>
              <a:avLst/>
              <a:gdLst/>
              <a:ahLst/>
              <a:cxnLst/>
              <a:rect r="r" b="b" t="t" l="l"/>
              <a:pathLst>
                <a:path h="234860" w="625558">
                  <a:moveTo>
                    <a:pt x="0" y="0"/>
                  </a:moveTo>
                  <a:lnTo>
                    <a:pt x="625558" y="0"/>
                  </a:lnTo>
                  <a:lnTo>
                    <a:pt x="625558" y="234860"/>
                  </a:lnTo>
                  <a:lnTo>
                    <a:pt x="0" y="234860"/>
                  </a:lnTo>
                  <a:close/>
                </a:path>
              </a:pathLst>
            </a:custGeom>
            <a:gradFill rotWithShape="true">
              <a:gsLst>
                <a:gs pos="0">
                  <a:srgbClr val="E6C4C4">
                    <a:alpha val="100000"/>
                  </a:srgbClr>
                </a:gs>
                <a:gs pos="100000">
                  <a:srgbClr val="4F242E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25558" cy="2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199912" y="5897897"/>
            <a:ext cx="2315559" cy="869355"/>
            <a:chOff x="0" y="0"/>
            <a:chExt cx="625558" cy="2348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5558" cy="234860"/>
            </a:xfrm>
            <a:custGeom>
              <a:avLst/>
              <a:gdLst/>
              <a:ahLst/>
              <a:cxnLst/>
              <a:rect r="r" b="b" t="t" l="l"/>
              <a:pathLst>
                <a:path h="234860" w="625558">
                  <a:moveTo>
                    <a:pt x="0" y="0"/>
                  </a:moveTo>
                  <a:lnTo>
                    <a:pt x="625558" y="0"/>
                  </a:lnTo>
                  <a:lnTo>
                    <a:pt x="625558" y="234860"/>
                  </a:lnTo>
                  <a:lnTo>
                    <a:pt x="0" y="234860"/>
                  </a:lnTo>
                  <a:close/>
                </a:path>
              </a:pathLst>
            </a:custGeom>
            <a:gradFill rotWithShape="true">
              <a:gsLst>
                <a:gs pos="0">
                  <a:srgbClr val="E6C4C4">
                    <a:alpha val="100000"/>
                  </a:srgbClr>
                </a:gs>
                <a:gs pos="100000">
                  <a:srgbClr val="4F242E">
                    <a:alpha val="100000"/>
                  </a:srgbClr>
                </a:gs>
              </a:gsLst>
              <a:lin ang="27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625558" cy="292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511690" y="7332511"/>
            <a:ext cx="2315559" cy="920864"/>
            <a:chOff x="0" y="0"/>
            <a:chExt cx="625558" cy="2487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5558" cy="248775"/>
            </a:xfrm>
            <a:custGeom>
              <a:avLst/>
              <a:gdLst/>
              <a:ahLst/>
              <a:cxnLst/>
              <a:rect r="r" b="b" t="t" l="l"/>
              <a:pathLst>
                <a:path h="248775" w="625558">
                  <a:moveTo>
                    <a:pt x="0" y="0"/>
                  </a:moveTo>
                  <a:lnTo>
                    <a:pt x="625558" y="0"/>
                  </a:lnTo>
                  <a:lnTo>
                    <a:pt x="625558" y="248775"/>
                  </a:lnTo>
                  <a:lnTo>
                    <a:pt x="0" y="248775"/>
                  </a:ln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100000">
                  <a:srgbClr val="FBDC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625558" cy="30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199912" y="7351437"/>
            <a:ext cx="2315559" cy="901937"/>
            <a:chOff x="0" y="0"/>
            <a:chExt cx="625558" cy="2436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5558" cy="243662"/>
            </a:xfrm>
            <a:custGeom>
              <a:avLst/>
              <a:gdLst/>
              <a:ahLst/>
              <a:cxnLst/>
              <a:rect r="r" b="b" t="t" l="l"/>
              <a:pathLst>
                <a:path h="243662" w="625558">
                  <a:moveTo>
                    <a:pt x="0" y="0"/>
                  </a:moveTo>
                  <a:lnTo>
                    <a:pt x="625558" y="0"/>
                  </a:lnTo>
                  <a:lnTo>
                    <a:pt x="625558" y="243662"/>
                  </a:lnTo>
                  <a:lnTo>
                    <a:pt x="0" y="243662"/>
                  </a:ln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100000">
                  <a:srgbClr val="FBDC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625558" cy="300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511690" y="8388945"/>
            <a:ext cx="2315559" cy="869355"/>
            <a:chOff x="0" y="0"/>
            <a:chExt cx="609859" cy="22896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9859" cy="228966"/>
            </a:xfrm>
            <a:custGeom>
              <a:avLst/>
              <a:gdLst/>
              <a:ahLst/>
              <a:cxnLst/>
              <a:rect r="r" b="b" t="t" l="l"/>
              <a:pathLst>
                <a:path h="228966" w="609859">
                  <a:moveTo>
                    <a:pt x="0" y="0"/>
                  </a:moveTo>
                  <a:lnTo>
                    <a:pt x="609859" y="0"/>
                  </a:lnTo>
                  <a:lnTo>
                    <a:pt x="609859" y="228966"/>
                  </a:lnTo>
                  <a:lnTo>
                    <a:pt x="0" y="228966"/>
                  </a:lnTo>
                  <a:close/>
                </a:path>
              </a:pathLst>
            </a:custGeom>
            <a:solidFill>
              <a:srgbClr val="F6F6E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9859" cy="267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199912" y="8388945"/>
            <a:ext cx="2315559" cy="869355"/>
            <a:chOff x="0" y="0"/>
            <a:chExt cx="609859" cy="22896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9859" cy="228966"/>
            </a:xfrm>
            <a:custGeom>
              <a:avLst/>
              <a:gdLst/>
              <a:ahLst/>
              <a:cxnLst/>
              <a:rect r="r" b="b" t="t" l="l"/>
              <a:pathLst>
                <a:path h="228966" w="609859">
                  <a:moveTo>
                    <a:pt x="0" y="0"/>
                  </a:moveTo>
                  <a:lnTo>
                    <a:pt x="609859" y="0"/>
                  </a:lnTo>
                  <a:lnTo>
                    <a:pt x="609859" y="228966"/>
                  </a:lnTo>
                  <a:lnTo>
                    <a:pt x="0" y="228966"/>
                  </a:lnTo>
                  <a:close/>
                </a:path>
              </a:pathLst>
            </a:custGeom>
            <a:solidFill>
              <a:srgbClr val="F6F6E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09859" cy="267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048056" y="6767252"/>
            <a:ext cx="584185" cy="584185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75535B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307677" y="173837"/>
            <a:ext cx="4838677" cy="58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1"/>
              </a:lnSpc>
            </a:pPr>
            <a:r>
              <a:rPr lang="en-US" sz="3422" b="true">
                <a:solidFill>
                  <a:srgbClr val="00000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Flow of Materials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408188" y="537442"/>
            <a:ext cx="1525487" cy="61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TI3094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073792" y="720514"/>
            <a:ext cx="1529957" cy="42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3243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PPST IV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07677" y="4955831"/>
            <a:ext cx="8042556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Perhitungan Ongkos per Material Handling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07677" y="1057275"/>
            <a:ext cx="8042556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Perhitungan Ongkos Pemindahan Material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51408" y="8300998"/>
            <a:ext cx="11527334" cy="85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Penanganan material digunakan trolley, pallet, dan forklift. Dari matriks ongkos, didapatkan nilai </a:t>
            </a:r>
            <a:r>
              <a:rPr lang="en-US" sz="24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OMH total sebesar Rp36,746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632170" y="6193424"/>
            <a:ext cx="2000140" cy="30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0"/>
              </a:lnSpc>
            </a:pPr>
            <a:r>
              <a:rPr lang="en-US" b="true" sz="2179">
                <a:gradFill>
                  <a:gsLst>
                    <a:gs pos="0">
                      <a:srgbClr val="D8F9FF">
                        <a:alpha val="100000"/>
                      </a:srgbClr>
                    </a:gs>
                    <a:gs pos="100000">
                      <a:srgbClr val="F9F8E4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Receiving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320393" y="6193424"/>
            <a:ext cx="2000140" cy="30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0"/>
              </a:lnSpc>
            </a:pPr>
            <a:r>
              <a:rPr lang="en-US" b="true" sz="2179">
                <a:gradFill>
                  <a:gsLst>
                    <a:gs pos="0">
                      <a:srgbClr val="D8F9FF">
                        <a:alpha val="100000"/>
                      </a:srgbClr>
                    </a:gs>
                    <a:gs pos="100000">
                      <a:srgbClr val="F9F8E4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Warehouse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535735" y="7542040"/>
            <a:ext cx="2291514" cy="54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3"/>
              </a:lnSpc>
            </a:pPr>
            <a:r>
              <a:rPr lang="en-US" b="true" sz="2179">
                <a:gradFill>
                  <a:gsLst>
                    <a:gs pos="0">
                      <a:srgbClr val="D8F9FF">
                        <a:alpha val="100000"/>
                      </a:srgbClr>
                    </a:gs>
                    <a:gs pos="100000">
                      <a:srgbClr val="F9F8E4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Gudang Bahan Baku Utama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199912" y="7671435"/>
            <a:ext cx="2315559" cy="28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3"/>
              </a:lnSpc>
            </a:pPr>
            <a:r>
              <a:rPr lang="en-US" b="true" sz="2179">
                <a:gradFill>
                  <a:gsLst>
                    <a:gs pos="0">
                      <a:srgbClr val="D8F9FF">
                        <a:alpha val="100000"/>
                      </a:srgbClr>
                    </a:gs>
                    <a:gs pos="100000">
                      <a:srgbClr val="F9F8E4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Shipping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555659" y="5350896"/>
            <a:ext cx="3111841" cy="46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713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Didominasi oleh..</a:t>
            </a:r>
          </a:p>
        </p:txBody>
      </p:sp>
      <p:grpSp>
        <p:nvGrpSpPr>
          <p:cNvPr name="Group 54" id="54"/>
          <p:cNvGrpSpPr/>
          <p:nvPr/>
        </p:nvGrpSpPr>
        <p:grpSpPr>
          <a:xfrm rot="-10800000">
            <a:off x="13681492" y="6748326"/>
            <a:ext cx="584185" cy="584185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ABC3A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748881" y="6776715"/>
            <a:ext cx="584185" cy="584185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75535B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-10800000">
            <a:off x="16382317" y="6757789"/>
            <a:ext cx="584185" cy="584185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FABC3A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203200" y="-381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2969941" y="8348624"/>
            <a:ext cx="1423102" cy="59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8"/>
              </a:lnSpc>
            </a:pPr>
            <a:r>
              <a:rPr lang="en-US" sz="3513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33,1%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667500" y="8348624"/>
            <a:ext cx="1423102" cy="59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8"/>
              </a:lnSpc>
            </a:pPr>
            <a:r>
              <a:rPr lang="en-US" sz="3513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33,1%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602753" y="8916619"/>
            <a:ext cx="2133433" cy="24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4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dari keseluruhan ongkos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290975" y="8916619"/>
            <a:ext cx="2133433" cy="24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45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dari keseluruhan ongkos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05222" y="201321"/>
            <a:ext cx="2874537" cy="610570"/>
            <a:chOff x="0" y="0"/>
            <a:chExt cx="757080" cy="160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7080" cy="160809"/>
            </a:xfrm>
            <a:custGeom>
              <a:avLst/>
              <a:gdLst/>
              <a:ahLst/>
              <a:cxnLst/>
              <a:rect r="r" b="b" t="t" l="l"/>
              <a:pathLst>
                <a:path h="160809" w="757080">
                  <a:moveTo>
                    <a:pt x="0" y="0"/>
                  </a:moveTo>
                  <a:lnTo>
                    <a:pt x="757080" y="0"/>
                  </a:lnTo>
                  <a:lnTo>
                    <a:pt x="757080" y="160809"/>
                  </a:lnTo>
                  <a:lnTo>
                    <a:pt x="0" y="160809"/>
                  </a:lnTo>
                  <a:close/>
                </a:path>
              </a:pathLst>
            </a:custGeom>
            <a:gradFill rotWithShape="true">
              <a:gsLst>
                <a:gs pos="0">
                  <a:srgbClr val="06D1B2">
                    <a:alpha val="100000"/>
                  </a:srgbClr>
                </a:gs>
                <a:gs pos="100000">
                  <a:srgbClr val="006D8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7080" cy="19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93108" y="-19244"/>
            <a:ext cx="12352120" cy="10325489"/>
          </a:xfrm>
          <a:custGeom>
            <a:avLst/>
            <a:gdLst/>
            <a:ahLst/>
            <a:cxnLst/>
            <a:rect r="r" b="b" t="t" l="l"/>
            <a:pathLst>
              <a:path h="10325489" w="12352120">
                <a:moveTo>
                  <a:pt x="0" y="0"/>
                </a:moveTo>
                <a:lnTo>
                  <a:pt x="12352120" y="0"/>
                </a:lnTo>
                <a:lnTo>
                  <a:pt x="12352120" y="10325488"/>
                </a:lnTo>
                <a:lnTo>
                  <a:pt x="0" y="10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33" t="0" r="-1273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83309" y="-275581"/>
            <a:ext cx="10972320" cy="10758087"/>
            <a:chOff x="0" y="0"/>
            <a:chExt cx="2889829" cy="28334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829" cy="2833406"/>
            </a:xfrm>
            <a:custGeom>
              <a:avLst/>
              <a:gdLst/>
              <a:ahLst/>
              <a:cxnLst/>
              <a:rect r="r" b="b" t="t" l="l"/>
              <a:pathLst>
                <a:path h="2833406" w="2889829">
                  <a:moveTo>
                    <a:pt x="0" y="0"/>
                  </a:moveTo>
                  <a:lnTo>
                    <a:pt x="2889829" y="0"/>
                  </a:lnTo>
                  <a:lnTo>
                    <a:pt x="2889829" y="2833406"/>
                  </a:lnTo>
                  <a:lnTo>
                    <a:pt x="0" y="2833406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0000"/>
                  </a:srgbClr>
                </a:gs>
                <a:gs pos="100000">
                  <a:srgbClr val="6B4851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89829" cy="2871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46584" y="506606"/>
            <a:ext cx="3526582" cy="785415"/>
            <a:chOff x="0" y="0"/>
            <a:chExt cx="928812" cy="2068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812" cy="206858"/>
            </a:xfrm>
            <a:custGeom>
              <a:avLst/>
              <a:gdLst/>
              <a:ahLst/>
              <a:cxnLst/>
              <a:rect r="r" b="b" t="t" l="l"/>
              <a:pathLst>
                <a:path h="206858" w="928812">
                  <a:moveTo>
                    <a:pt x="103429" y="0"/>
                  </a:moveTo>
                  <a:lnTo>
                    <a:pt x="825383" y="0"/>
                  </a:lnTo>
                  <a:cubicBezTo>
                    <a:pt x="882505" y="0"/>
                    <a:pt x="928812" y="46307"/>
                    <a:pt x="928812" y="103429"/>
                  </a:cubicBezTo>
                  <a:lnTo>
                    <a:pt x="928812" y="103429"/>
                  </a:lnTo>
                  <a:cubicBezTo>
                    <a:pt x="928812" y="160552"/>
                    <a:pt x="882505" y="206858"/>
                    <a:pt x="825383" y="206858"/>
                  </a:cubicBezTo>
                  <a:lnTo>
                    <a:pt x="103429" y="206858"/>
                  </a:lnTo>
                  <a:cubicBezTo>
                    <a:pt x="46307" y="206858"/>
                    <a:pt x="0" y="160552"/>
                    <a:pt x="0" y="103429"/>
                  </a:cubicBezTo>
                  <a:lnTo>
                    <a:pt x="0" y="103429"/>
                  </a:lnTo>
                  <a:cubicBezTo>
                    <a:pt x="0" y="46307"/>
                    <a:pt x="46307" y="0"/>
                    <a:pt x="103429" y="0"/>
                  </a:cubicBez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8812" cy="2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5990825" y="605426"/>
            <a:ext cx="0" cy="587775"/>
          </a:xfrm>
          <a:prstGeom prst="line">
            <a:avLst/>
          </a:prstGeom>
          <a:ln cap="flat" w="19050">
            <a:solidFill>
              <a:srgbClr val="F9F8E4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485149" y="2707727"/>
            <a:ext cx="11800702" cy="6770653"/>
          </a:xfrm>
          <a:custGeom>
            <a:avLst/>
            <a:gdLst/>
            <a:ahLst/>
            <a:cxnLst/>
            <a:rect r="r" b="b" t="t" l="l"/>
            <a:pathLst>
              <a:path h="6770653" w="11800702">
                <a:moveTo>
                  <a:pt x="0" y="0"/>
                </a:moveTo>
                <a:lnTo>
                  <a:pt x="11800702" y="0"/>
                </a:lnTo>
                <a:lnTo>
                  <a:pt x="11800702" y="6770653"/>
                </a:lnTo>
                <a:lnTo>
                  <a:pt x="0" y="67706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7677" y="173837"/>
            <a:ext cx="4838677" cy="58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1"/>
              </a:lnSpc>
            </a:pPr>
            <a:r>
              <a:rPr lang="en-US" sz="3422" b="true">
                <a:solidFill>
                  <a:srgbClr val="00000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Activity Relationships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08188" y="537442"/>
            <a:ext cx="1525487" cy="61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TI3094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73792" y="720514"/>
            <a:ext cx="1529957" cy="42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3243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PPST IV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0552" y="999829"/>
            <a:ext cx="8042556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Activity Relationship Chart (ARC) Kantor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791845" y="1598502"/>
            <a:ext cx="5112306" cy="1495193"/>
            <a:chOff x="0" y="0"/>
            <a:chExt cx="1346451" cy="3937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6451" cy="393796"/>
            </a:xfrm>
            <a:custGeom>
              <a:avLst/>
              <a:gdLst/>
              <a:ahLst/>
              <a:cxnLst/>
              <a:rect r="r" b="b" t="t" l="l"/>
              <a:pathLst>
                <a:path h="393796" w="1346451">
                  <a:moveTo>
                    <a:pt x="19687" y="0"/>
                  </a:moveTo>
                  <a:lnTo>
                    <a:pt x="1326764" y="0"/>
                  </a:lnTo>
                  <a:cubicBezTo>
                    <a:pt x="1337637" y="0"/>
                    <a:pt x="1346451" y="8814"/>
                    <a:pt x="1346451" y="19687"/>
                  </a:cubicBezTo>
                  <a:lnTo>
                    <a:pt x="1346451" y="374109"/>
                  </a:lnTo>
                  <a:cubicBezTo>
                    <a:pt x="1346451" y="384982"/>
                    <a:pt x="1337637" y="393796"/>
                    <a:pt x="1326764" y="393796"/>
                  </a:cubicBezTo>
                  <a:lnTo>
                    <a:pt x="19687" y="393796"/>
                  </a:lnTo>
                  <a:cubicBezTo>
                    <a:pt x="14466" y="393796"/>
                    <a:pt x="9458" y="391722"/>
                    <a:pt x="5766" y="388030"/>
                  </a:cubicBezTo>
                  <a:cubicBezTo>
                    <a:pt x="2074" y="384338"/>
                    <a:pt x="0" y="379330"/>
                    <a:pt x="0" y="374109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46451" cy="431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969381" y="1660380"/>
            <a:ext cx="4757234" cy="128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Departemen Produksi &amp; PPIC </a:t>
            </a:r>
            <a:r>
              <a:rPr lang="en-US" sz="2435" b="true">
                <a:solidFill>
                  <a:srgbClr val="FF0000"/>
                </a:solidFill>
                <a:latin typeface="Inter Bold"/>
                <a:ea typeface="Inter Bold"/>
                <a:cs typeface="Inter Bold"/>
                <a:sym typeface="Inter Bold"/>
              </a:rPr>
              <a:t>(Absolutely important)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435" b="true">
                <a:solidFill>
                  <a:srgbClr val="75535B"/>
                </a:solidFill>
                <a:latin typeface="Inter Bold"/>
                <a:ea typeface="Inter Bold"/>
                <a:cs typeface="Inter Bold"/>
                <a:sym typeface="Inter Bold"/>
              </a:rPr>
              <a:t>Aliran informasi, urutan aliran kerja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791845" y="3385127"/>
            <a:ext cx="5112306" cy="1495193"/>
            <a:chOff x="0" y="0"/>
            <a:chExt cx="1346451" cy="3937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46451" cy="393796"/>
            </a:xfrm>
            <a:custGeom>
              <a:avLst/>
              <a:gdLst/>
              <a:ahLst/>
              <a:cxnLst/>
              <a:rect r="r" b="b" t="t" l="l"/>
              <a:pathLst>
                <a:path h="393796" w="1346451">
                  <a:moveTo>
                    <a:pt x="19687" y="0"/>
                  </a:moveTo>
                  <a:lnTo>
                    <a:pt x="1326764" y="0"/>
                  </a:lnTo>
                  <a:cubicBezTo>
                    <a:pt x="1337637" y="0"/>
                    <a:pt x="1346451" y="8814"/>
                    <a:pt x="1346451" y="19687"/>
                  </a:cubicBezTo>
                  <a:lnTo>
                    <a:pt x="1346451" y="374109"/>
                  </a:lnTo>
                  <a:cubicBezTo>
                    <a:pt x="1346451" y="384982"/>
                    <a:pt x="1337637" y="393796"/>
                    <a:pt x="1326764" y="393796"/>
                  </a:cubicBezTo>
                  <a:lnTo>
                    <a:pt x="19687" y="393796"/>
                  </a:lnTo>
                  <a:cubicBezTo>
                    <a:pt x="14466" y="393796"/>
                    <a:pt x="9458" y="391722"/>
                    <a:pt x="5766" y="388030"/>
                  </a:cubicBezTo>
                  <a:cubicBezTo>
                    <a:pt x="2074" y="384338"/>
                    <a:pt x="0" y="379330"/>
                    <a:pt x="0" y="374109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46451" cy="431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969381" y="3447005"/>
            <a:ext cx="4757234" cy="128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Direktur &amp; Ruang Tamu Umum </a:t>
            </a:r>
            <a:r>
              <a:rPr lang="en-US" sz="2435" b="true">
                <a:solidFill>
                  <a:srgbClr val="FF0000"/>
                </a:solidFill>
                <a:latin typeface="Inter Bold"/>
                <a:ea typeface="Inter Bold"/>
                <a:cs typeface="Inter Bold"/>
                <a:sym typeface="Inter Bold"/>
              </a:rPr>
              <a:t>(Absolutely important)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435" b="true">
                <a:solidFill>
                  <a:srgbClr val="75535B"/>
                </a:solidFill>
                <a:latin typeface="Inter Bold"/>
                <a:ea typeface="Inter Bold"/>
                <a:cs typeface="Inter Bold"/>
                <a:sym typeface="Inter Bold"/>
              </a:rPr>
              <a:t>Fasilitas saling terkait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791845" y="5185120"/>
            <a:ext cx="5112306" cy="1495193"/>
            <a:chOff x="0" y="0"/>
            <a:chExt cx="1346451" cy="3937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6451" cy="393796"/>
            </a:xfrm>
            <a:custGeom>
              <a:avLst/>
              <a:gdLst/>
              <a:ahLst/>
              <a:cxnLst/>
              <a:rect r="r" b="b" t="t" l="l"/>
              <a:pathLst>
                <a:path h="393796" w="1346451">
                  <a:moveTo>
                    <a:pt x="19687" y="0"/>
                  </a:moveTo>
                  <a:lnTo>
                    <a:pt x="1326764" y="0"/>
                  </a:lnTo>
                  <a:cubicBezTo>
                    <a:pt x="1337637" y="0"/>
                    <a:pt x="1346451" y="8814"/>
                    <a:pt x="1346451" y="19687"/>
                  </a:cubicBezTo>
                  <a:lnTo>
                    <a:pt x="1346451" y="374109"/>
                  </a:lnTo>
                  <a:cubicBezTo>
                    <a:pt x="1346451" y="384982"/>
                    <a:pt x="1337637" y="393796"/>
                    <a:pt x="1326764" y="393796"/>
                  </a:cubicBezTo>
                  <a:lnTo>
                    <a:pt x="19687" y="393796"/>
                  </a:lnTo>
                  <a:cubicBezTo>
                    <a:pt x="14466" y="393796"/>
                    <a:pt x="9458" y="391722"/>
                    <a:pt x="5766" y="388030"/>
                  </a:cubicBezTo>
                  <a:cubicBezTo>
                    <a:pt x="2074" y="384338"/>
                    <a:pt x="0" y="379330"/>
                    <a:pt x="0" y="374109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46451" cy="431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969381" y="5246998"/>
            <a:ext cx="4757234" cy="128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Ruang kesehatan &amp; Sink </a:t>
            </a:r>
            <a:r>
              <a:rPr lang="en-US" sz="2435" b="true">
                <a:solidFill>
                  <a:srgbClr val="FF0000"/>
                </a:solidFill>
                <a:latin typeface="Inter Bold"/>
                <a:ea typeface="Inter Bold"/>
                <a:cs typeface="Inter Bold"/>
                <a:sym typeface="Inter Bold"/>
              </a:rPr>
              <a:t>(Absolutely important)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435" b="true">
                <a:solidFill>
                  <a:srgbClr val="75535B"/>
                </a:solidFill>
                <a:latin typeface="Inter Bold"/>
                <a:ea typeface="Inter Bold"/>
                <a:cs typeface="Inter Bold"/>
                <a:sym typeface="Inter Bold"/>
              </a:rPr>
              <a:t>Fasilitas saling terkait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50552" y="1598502"/>
            <a:ext cx="11835299" cy="1004926"/>
            <a:chOff x="0" y="0"/>
            <a:chExt cx="3117116" cy="2646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17116" cy="264672"/>
            </a:xfrm>
            <a:custGeom>
              <a:avLst/>
              <a:gdLst/>
              <a:ahLst/>
              <a:cxnLst/>
              <a:rect r="r" b="b" t="t" l="l"/>
              <a:pathLst>
                <a:path h="264672" w="3117116">
                  <a:moveTo>
                    <a:pt x="8504" y="0"/>
                  </a:moveTo>
                  <a:lnTo>
                    <a:pt x="3108612" y="0"/>
                  </a:lnTo>
                  <a:cubicBezTo>
                    <a:pt x="3110867" y="0"/>
                    <a:pt x="3113031" y="896"/>
                    <a:pt x="3114625" y="2491"/>
                  </a:cubicBezTo>
                  <a:cubicBezTo>
                    <a:pt x="3116220" y="4085"/>
                    <a:pt x="3117116" y="6248"/>
                    <a:pt x="3117116" y="8504"/>
                  </a:cubicBezTo>
                  <a:lnTo>
                    <a:pt x="3117116" y="256168"/>
                  </a:lnTo>
                  <a:cubicBezTo>
                    <a:pt x="3117116" y="260865"/>
                    <a:pt x="3113309" y="264672"/>
                    <a:pt x="3108612" y="264672"/>
                  </a:cubicBezTo>
                  <a:lnTo>
                    <a:pt x="8504" y="264672"/>
                  </a:lnTo>
                  <a:cubicBezTo>
                    <a:pt x="6248" y="264672"/>
                    <a:pt x="4085" y="263776"/>
                    <a:pt x="2491" y="262181"/>
                  </a:cubicBezTo>
                  <a:cubicBezTo>
                    <a:pt x="896" y="260586"/>
                    <a:pt x="0" y="258423"/>
                    <a:pt x="0" y="256168"/>
                  </a:cubicBezTo>
                  <a:lnTo>
                    <a:pt x="0" y="8504"/>
                  </a:lnTo>
                  <a:cubicBezTo>
                    <a:pt x="0" y="3807"/>
                    <a:pt x="3807" y="0"/>
                    <a:pt x="8504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117116" cy="302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94283" y="1646126"/>
            <a:ext cx="11304878" cy="85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Pertimbangan relationship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pada ARC Kantor lebih ke </a:t>
            </a:r>
            <a:r>
              <a:rPr lang="en-US" sz="24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aliran informasi dan hierarki pengambilan keputusan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05222" y="201321"/>
            <a:ext cx="2874537" cy="610570"/>
            <a:chOff x="0" y="0"/>
            <a:chExt cx="757080" cy="160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7080" cy="160809"/>
            </a:xfrm>
            <a:custGeom>
              <a:avLst/>
              <a:gdLst/>
              <a:ahLst/>
              <a:cxnLst/>
              <a:rect r="r" b="b" t="t" l="l"/>
              <a:pathLst>
                <a:path h="160809" w="757080">
                  <a:moveTo>
                    <a:pt x="0" y="0"/>
                  </a:moveTo>
                  <a:lnTo>
                    <a:pt x="757080" y="0"/>
                  </a:lnTo>
                  <a:lnTo>
                    <a:pt x="757080" y="160809"/>
                  </a:lnTo>
                  <a:lnTo>
                    <a:pt x="0" y="160809"/>
                  </a:lnTo>
                  <a:close/>
                </a:path>
              </a:pathLst>
            </a:custGeom>
            <a:gradFill rotWithShape="true">
              <a:gsLst>
                <a:gs pos="0">
                  <a:srgbClr val="06D1B2">
                    <a:alpha val="100000"/>
                  </a:srgbClr>
                </a:gs>
                <a:gs pos="100000">
                  <a:srgbClr val="006D8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7080" cy="19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93108" y="-19244"/>
            <a:ext cx="12352120" cy="10325489"/>
          </a:xfrm>
          <a:custGeom>
            <a:avLst/>
            <a:gdLst/>
            <a:ahLst/>
            <a:cxnLst/>
            <a:rect r="r" b="b" t="t" l="l"/>
            <a:pathLst>
              <a:path h="10325489" w="12352120">
                <a:moveTo>
                  <a:pt x="0" y="0"/>
                </a:moveTo>
                <a:lnTo>
                  <a:pt x="12352120" y="0"/>
                </a:lnTo>
                <a:lnTo>
                  <a:pt x="12352120" y="10325488"/>
                </a:lnTo>
                <a:lnTo>
                  <a:pt x="0" y="10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33" t="0" r="-1273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83309" y="-275581"/>
            <a:ext cx="10972320" cy="10758087"/>
            <a:chOff x="0" y="0"/>
            <a:chExt cx="2889829" cy="28334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829" cy="2833406"/>
            </a:xfrm>
            <a:custGeom>
              <a:avLst/>
              <a:gdLst/>
              <a:ahLst/>
              <a:cxnLst/>
              <a:rect r="r" b="b" t="t" l="l"/>
              <a:pathLst>
                <a:path h="2833406" w="2889829">
                  <a:moveTo>
                    <a:pt x="0" y="0"/>
                  </a:moveTo>
                  <a:lnTo>
                    <a:pt x="2889829" y="0"/>
                  </a:lnTo>
                  <a:lnTo>
                    <a:pt x="2889829" y="2833406"/>
                  </a:lnTo>
                  <a:lnTo>
                    <a:pt x="0" y="2833406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0000"/>
                  </a:srgbClr>
                </a:gs>
                <a:gs pos="100000">
                  <a:srgbClr val="6B4851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89829" cy="2871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46584" y="506606"/>
            <a:ext cx="3526582" cy="785415"/>
            <a:chOff x="0" y="0"/>
            <a:chExt cx="928812" cy="2068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812" cy="206858"/>
            </a:xfrm>
            <a:custGeom>
              <a:avLst/>
              <a:gdLst/>
              <a:ahLst/>
              <a:cxnLst/>
              <a:rect r="r" b="b" t="t" l="l"/>
              <a:pathLst>
                <a:path h="206858" w="928812">
                  <a:moveTo>
                    <a:pt x="103429" y="0"/>
                  </a:moveTo>
                  <a:lnTo>
                    <a:pt x="825383" y="0"/>
                  </a:lnTo>
                  <a:cubicBezTo>
                    <a:pt x="882505" y="0"/>
                    <a:pt x="928812" y="46307"/>
                    <a:pt x="928812" y="103429"/>
                  </a:cubicBezTo>
                  <a:lnTo>
                    <a:pt x="928812" y="103429"/>
                  </a:lnTo>
                  <a:cubicBezTo>
                    <a:pt x="928812" y="160552"/>
                    <a:pt x="882505" y="206858"/>
                    <a:pt x="825383" y="206858"/>
                  </a:cubicBezTo>
                  <a:lnTo>
                    <a:pt x="103429" y="206858"/>
                  </a:lnTo>
                  <a:cubicBezTo>
                    <a:pt x="46307" y="206858"/>
                    <a:pt x="0" y="160552"/>
                    <a:pt x="0" y="103429"/>
                  </a:cubicBezTo>
                  <a:lnTo>
                    <a:pt x="0" y="103429"/>
                  </a:lnTo>
                  <a:cubicBezTo>
                    <a:pt x="0" y="46307"/>
                    <a:pt x="46307" y="0"/>
                    <a:pt x="103429" y="0"/>
                  </a:cubicBez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8812" cy="2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5990825" y="605426"/>
            <a:ext cx="0" cy="587775"/>
          </a:xfrm>
          <a:prstGeom prst="line">
            <a:avLst/>
          </a:prstGeom>
          <a:ln cap="flat" w="19050">
            <a:solidFill>
              <a:srgbClr val="F9F8E4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485149" y="2797085"/>
            <a:ext cx="10908205" cy="6640370"/>
          </a:xfrm>
          <a:custGeom>
            <a:avLst/>
            <a:gdLst/>
            <a:ahLst/>
            <a:cxnLst/>
            <a:rect r="r" b="b" t="t" l="l"/>
            <a:pathLst>
              <a:path h="6640370" w="10908205">
                <a:moveTo>
                  <a:pt x="0" y="0"/>
                </a:moveTo>
                <a:lnTo>
                  <a:pt x="10908205" y="0"/>
                </a:lnTo>
                <a:lnTo>
                  <a:pt x="10908205" y="6640369"/>
                </a:lnTo>
                <a:lnTo>
                  <a:pt x="0" y="66403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7677" y="173837"/>
            <a:ext cx="4838677" cy="58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1"/>
              </a:lnSpc>
            </a:pPr>
            <a:r>
              <a:rPr lang="en-US" sz="3422" b="true">
                <a:solidFill>
                  <a:srgbClr val="00000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Activity Relationships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08188" y="537442"/>
            <a:ext cx="1525487" cy="61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TI3094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73792" y="720514"/>
            <a:ext cx="1529957" cy="42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3243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PPST IV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5149" y="936975"/>
            <a:ext cx="8042556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Activity Relationship Chart (ARC) Gabungan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85149" y="1456334"/>
            <a:ext cx="10908205" cy="1004926"/>
            <a:chOff x="0" y="0"/>
            <a:chExt cx="2872943" cy="2646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72943" cy="264672"/>
            </a:xfrm>
            <a:custGeom>
              <a:avLst/>
              <a:gdLst/>
              <a:ahLst/>
              <a:cxnLst/>
              <a:rect r="r" b="b" t="t" l="l"/>
              <a:pathLst>
                <a:path h="264672" w="2872943">
                  <a:moveTo>
                    <a:pt x="9227" y="0"/>
                  </a:moveTo>
                  <a:lnTo>
                    <a:pt x="2863716" y="0"/>
                  </a:lnTo>
                  <a:cubicBezTo>
                    <a:pt x="2866163" y="0"/>
                    <a:pt x="2868510" y="972"/>
                    <a:pt x="2870241" y="2702"/>
                  </a:cubicBezTo>
                  <a:cubicBezTo>
                    <a:pt x="2871971" y="4433"/>
                    <a:pt x="2872943" y="6780"/>
                    <a:pt x="2872943" y="9227"/>
                  </a:cubicBezTo>
                  <a:lnTo>
                    <a:pt x="2872943" y="255445"/>
                  </a:lnTo>
                  <a:cubicBezTo>
                    <a:pt x="2872943" y="257892"/>
                    <a:pt x="2871971" y="260239"/>
                    <a:pt x="2870241" y="261969"/>
                  </a:cubicBezTo>
                  <a:cubicBezTo>
                    <a:pt x="2868510" y="263700"/>
                    <a:pt x="2866163" y="264672"/>
                    <a:pt x="2863716" y="264672"/>
                  </a:cubicBezTo>
                  <a:lnTo>
                    <a:pt x="9227" y="264672"/>
                  </a:lnTo>
                  <a:cubicBezTo>
                    <a:pt x="6780" y="264672"/>
                    <a:pt x="4433" y="263700"/>
                    <a:pt x="2702" y="261969"/>
                  </a:cubicBezTo>
                  <a:cubicBezTo>
                    <a:pt x="972" y="260239"/>
                    <a:pt x="0" y="257892"/>
                    <a:pt x="0" y="255445"/>
                  </a:cubicBezTo>
                  <a:lnTo>
                    <a:pt x="0" y="9227"/>
                  </a:lnTo>
                  <a:cubicBezTo>
                    <a:pt x="0" y="6780"/>
                    <a:pt x="972" y="4433"/>
                    <a:pt x="2702" y="2702"/>
                  </a:cubicBezTo>
                  <a:cubicBezTo>
                    <a:pt x="4433" y="972"/>
                    <a:pt x="6780" y="0"/>
                    <a:pt x="9227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72943" cy="302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28881" y="1503958"/>
            <a:ext cx="10444037" cy="85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ARC Gabungan</a:t>
            </a:r>
            <a:r>
              <a:rPr lang="en-US" sz="24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didominasi oleh keselamatan, kebisingan, dan fasilitas yang saling terkait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834693" y="1456334"/>
            <a:ext cx="5769057" cy="1495193"/>
            <a:chOff x="0" y="0"/>
            <a:chExt cx="1519422" cy="3937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9422" cy="393796"/>
            </a:xfrm>
            <a:custGeom>
              <a:avLst/>
              <a:gdLst/>
              <a:ahLst/>
              <a:cxnLst/>
              <a:rect r="r" b="b" t="t" l="l"/>
              <a:pathLst>
                <a:path h="393796" w="1519422">
                  <a:moveTo>
                    <a:pt x="17446" y="0"/>
                  </a:moveTo>
                  <a:lnTo>
                    <a:pt x="1501977" y="0"/>
                  </a:lnTo>
                  <a:cubicBezTo>
                    <a:pt x="1506603" y="0"/>
                    <a:pt x="1511041" y="1838"/>
                    <a:pt x="1514313" y="5110"/>
                  </a:cubicBezTo>
                  <a:cubicBezTo>
                    <a:pt x="1517584" y="8381"/>
                    <a:pt x="1519422" y="12819"/>
                    <a:pt x="1519422" y="17446"/>
                  </a:cubicBezTo>
                  <a:lnTo>
                    <a:pt x="1519422" y="376350"/>
                  </a:lnTo>
                  <a:cubicBezTo>
                    <a:pt x="1519422" y="380977"/>
                    <a:pt x="1517584" y="385414"/>
                    <a:pt x="1514313" y="388686"/>
                  </a:cubicBezTo>
                  <a:cubicBezTo>
                    <a:pt x="1511041" y="391958"/>
                    <a:pt x="1506603" y="393796"/>
                    <a:pt x="1501977" y="393796"/>
                  </a:cubicBezTo>
                  <a:lnTo>
                    <a:pt x="17446" y="393796"/>
                  </a:lnTo>
                  <a:cubicBezTo>
                    <a:pt x="12819" y="393796"/>
                    <a:pt x="8381" y="391958"/>
                    <a:pt x="5110" y="388686"/>
                  </a:cubicBezTo>
                  <a:cubicBezTo>
                    <a:pt x="1838" y="385414"/>
                    <a:pt x="0" y="380977"/>
                    <a:pt x="0" y="376350"/>
                  </a:cubicBezTo>
                  <a:lnTo>
                    <a:pt x="0" y="17446"/>
                  </a:lnTo>
                  <a:cubicBezTo>
                    <a:pt x="0" y="12819"/>
                    <a:pt x="1838" y="8381"/>
                    <a:pt x="5110" y="5110"/>
                  </a:cubicBezTo>
                  <a:cubicBezTo>
                    <a:pt x="8381" y="1838"/>
                    <a:pt x="12819" y="0"/>
                    <a:pt x="174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519422" cy="431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035036" y="1518211"/>
            <a:ext cx="5368371" cy="128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Kantor &amp; Lantai Pabrik </a:t>
            </a:r>
          </a:p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2435" b="true">
                <a:solidFill>
                  <a:srgbClr val="F59E0B"/>
                </a:solidFill>
                <a:latin typeface="Inter Bold"/>
                <a:ea typeface="Inter Bold"/>
                <a:cs typeface="Inter Bold"/>
                <a:sym typeface="Inter Bold"/>
              </a:rPr>
              <a:t>Undesirable)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435" b="true">
                <a:solidFill>
                  <a:srgbClr val="75535B"/>
                </a:solidFill>
                <a:latin typeface="Inter Bold"/>
                <a:ea typeface="Inter Bold"/>
                <a:cs typeface="Inter Bold"/>
                <a:sym typeface="Inter Bold"/>
              </a:rPr>
              <a:t>Bising, Kotor, Debu, dan Bau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834693" y="3242958"/>
            <a:ext cx="5769057" cy="1495193"/>
            <a:chOff x="0" y="0"/>
            <a:chExt cx="1519422" cy="3937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19422" cy="393796"/>
            </a:xfrm>
            <a:custGeom>
              <a:avLst/>
              <a:gdLst/>
              <a:ahLst/>
              <a:cxnLst/>
              <a:rect r="r" b="b" t="t" l="l"/>
              <a:pathLst>
                <a:path h="393796" w="1519422">
                  <a:moveTo>
                    <a:pt x="17446" y="0"/>
                  </a:moveTo>
                  <a:lnTo>
                    <a:pt x="1501977" y="0"/>
                  </a:lnTo>
                  <a:cubicBezTo>
                    <a:pt x="1506603" y="0"/>
                    <a:pt x="1511041" y="1838"/>
                    <a:pt x="1514313" y="5110"/>
                  </a:cubicBezTo>
                  <a:cubicBezTo>
                    <a:pt x="1517584" y="8381"/>
                    <a:pt x="1519422" y="12819"/>
                    <a:pt x="1519422" y="17446"/>
                  </a:cubicBezTo>
                  <a:lnTo>
                    <a:pt x="1519422" y="376350"/>
                  </a:lnTo>
                  <a:cubicBezTo>
                    <a:pt x="1519422" y="380977"/>
                    <a:pt x="1517584" y="385414"/>
                    <a:pt x="1514313" y="388686"/>
                  </a:cubicBezTo>
                  <a:cubicBezTo>
                    <a:pt x="1511041" y="391958"/>
                    <a:pt x="1506603" y="393796"/>
                    <a:pt x="1501977" y="393796"/>
                  </a:cubicBezTo>
                  <a:lnTo>
                    <a:pt x="17446" y="393796"/>
                  </a:lnTo>
                  <a:cubicBezTo>
                    <a:pt x="12819" y="393796"/>
                    <a:pt x="8381" y="391958"/>
                    <a:pt x="5110" y="388686"/>
                  </a:cubicBezTo>
                  <a:cubicBezTo>
                    <a:pt x="1838" y="385414"/>
                    <a:pt x="0" y="380977"/>
                    <a:pt x="0" y="376350"/>
                  </a:cubicBezTo>
                  <a:lnTo>
                    <a:pt x="0" y="17446"/>
                  </a:lnTo>
                  <a:cubicBezTo>
                    <a:pt x="0" y="12819"/>
                    <a:pt x="1838" y="8381"/>
                    <a:pt x="5110" y="5110"/>
                  </a:cubicBezTo>
                  <a:cubicBezTo>
                    <a:pt x="8381" y="1838"/>
                    <a:pt x="12819" y="0"/>
                    <a:pt x="174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519422" cy="431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035036" y="3304836"/>
            <a:ext cx="5368371" cy="128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Kantor &amp; Area Limbah </a:t>
            </a:r>
          </a:p>
          <a:p>
            <a:pPr algn="just">
              <a:lnSpc>
                <a:spcPts val="3410"/>
              </a:lnSpc>
            </a:pPr>
            <a:r>
              <a:rPr lang="en-US" sz="2435" b="true">
                <a:solidFill>
                  <a:srgbClr val="F59E0B"/>
                </a:solidFill>
                <a:latin typeface="Inter Bold"/>
                <a:ea typeface="Inter Bold"/>
                <a:cs typeface="Inter Bold"/>
                <a:sym typeface="Inter Bold"/>
              </a:rPr>
              <a:t>(Undesirable)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435" b="true">
                <a:solidFill>
                  <a:srgbClr val="75535B"/>
                </a:solidFill>
                <a:latin typeface="Inter Bold"/>
                <a:ea typeface="Inter Bold"/>
                <a:cs typeface="Inter Bold"/>
                <a:sym typeface="Inter Bold"/>
              </a:rPr>
              <a:t>Bising, Kotor, Debu, dan tidak berhubungan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834693" y="5042951"/>
            <a:ext cx="5769057" cy="1074318"/>
            <a:chOff x="0" y="0"/>
            <a:chExt cx="1519422" cy="2829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19422" cy="282948"/>
            </a:xfrm>
            <a:custGeom>
              <a:avLst/>
              <a:gdLst/>
              <a:ahLst/>
              <a:cxnLst/>
              <a:rect r="r" b="b" t="t" l="l"/>
              <a:pathLst>
                <a:path h="282948" w="1519422">
                  <a:moveTo>
                    <a:pt x="17446" y="0"/>
                  </a:moveTo>
                  <a:lnTo>
                    <a:pt x="1501977" y="0"/>
                  </a:lnTo>
                  <a:cubicBezTo>
                    <a:pt x="1506603" y="0"/>
                    <a:pt x="1511041" y="1838"/>
                    <a:pt x="1514313" y="5110"/>
                  </a:cubicBezTo>
                  <a:cubicBezTo>
                    <a:pt x="1517584" y="8381"/>
                    <a:pt x="1519422" y="12819"/>
                    <a:pt x="1519422" y="17446"/>
                  </a:cubicBezTo>
                  <a:lnTo>
                    <a:pt x="1519422" y="265502"/>
                  </a:lnTo>
                  <a:cubicBezTo>
                    <a:pt x="1519422" y="270129"/>
                    <a:pt x="1517584" y="274567"/>
                    <a:pt x="1514313" y="277838"/>
                  </a:cubicBezTo>
                  <a:cubicBezTo>
                    <a:pt x="1511041" y="281110"/>
                    <a:pt x="1506603" y="282948"/>
                    <a:pt x="1501977" y="282948"/>
                  </a:cubicBezTo>
                  <a:lnTo>
                    <a:pt x="17446" y="282948"/>
                  </a:lnTo>
                  <a:cubicBezTo>
                    <a:pt x="12819" y="282948"/>
                    <a:pt x="8381" y="281110"/>
                    <a:pt x="5110" y="277838"/>
                  </a:cubicBezTo>
                  <a:cubicBezTo>
                    <a:pt x="1838" y="274567"/>
                    <a:pt x="0" y="270129"/>
                    <a:pt x="0" y="265502"/>
                  </a:cubicBezTo>
                  <a:lnTo>
                    <a:pt x="0" y="17446"/>
                  </a:lnTo>
                  <a:cubicBezTo>
                    <a:pt x="0" y="12819"/>
                    <a:pt x="1838" y="8381"/>
                    <a:pt x="5110" y="5110"/>
                  </a:cubicBezTo>
                  <a:cubicBezTo>
                    <a:pt x="8381" y="1838"/>
                    <a:pt x="12819" y="0"/>
                    <a:pt x="174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519422" cy="321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035036" y="5104829"/>
            <a:ext cx="5368371" cy="85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Kantor &amp; Parkir mobil </a:t>
            </a:r>
            <a:r>
              <a:rPr lang="en-US" sz="2435" b="true">
                <a:solidFill>
                  <a:srgbClr val="FF0000"/>
                </a:solidFill>
                <a:latin typeface="Inter Bold"/>
                <a:ea typeface="Inter Bold"/>
                <a:cs typeface="Inter Bold"/>
                <a:sym typeface="Inter Bold"/>
              </a:rPr>
              <a:t>(Absolutely important)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435" b="true">
                <a:solidFill>
                  <a:srgbClr val="75535B"/>
                </a:solidFill>
                <a:latin typeface="Inter Bold"/>
                <a:ea typeface="Inter Bold"/>
                <a:cs typeface="Inter Bold"/>
                <a:sym typeface="Inter Bold"/>
              </a:rPr>
              <a:t>Fasilitas saling terkait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05222" y="201321"/>
            <a:ext cx="2874537" cy="610570"/>
            <a:chOff x="0" y="0"/>
            <a:chExt cx="757080" cy="160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7080" cy="160809"/>
            </a:xfrm>
            <a:custGeom>
              <a:avLst/>
              <a:gdLst/>
              <a:ahLst/>
              <a:cxnLst/>
              <a:rect r="r" b="b" t="t" l="l"/>
              <a:pathLst>
                <a:path h="160809" w="757080">
                  <a:moveTo>
                    <a:pt x="0" y="0"/>
                  </a:moveTo>
                  <a:lnTo>
                    <a:pt x="757080" y="0"/>
                  </a:lnTo>
                  <a:lnTo>
                    <a:pt x="757080" y="160809"/>
                  </a:lnTo>
                  <a:lnTo>
                    <a:pt x="0" y="160809"/>
                  </a:lnTo>
                  <a:close/>
                </a:path>
              </a:pathLst>
            </a:custGeom>
            <a:gradFill rotWithShape="true">
              <a:gsLst>
                <a:gs pos="0">
                  <a:srgbClr val="06D1B2">
                    <a:alpha val="100000"/>
                  </a:srgbClr>
                </a:gs>
                <a:gs pos="100000">
                  <a:srgbClr val="006D8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7080" cy="19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93108" y="-19244"/>
            <a:ext cx="12352120" cy="10325489"/>
          </a:xfrm>
          <a:custGeom>
            <a:avLst/>
            <a:gdLst/>
            <a:ahLst/>
            <a:cxnLst/>
            <a:rect r="r" b="b" t="t" l="l"/>
            <a:pathLst>
              <a:path h="10325489" w="12352120">
                <a:moveTo>
                  <a:pt x="0" y="0"/>
                </a:moveTo>
                <a:lnTo>
                  <a:pt x="12352120" y="0"/>
                </a:lnTo>
                <a:lnTo>
                  <a:pt x="12352120" y="10325488"/>
                </a:lnTo>
                <a:lnTo>
                  <a:pt x="0" y="10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33" t="0" r="-1273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83309" y="-275581"/>
            <a:ext cx="10972320" cy="10758087"/>
            <a:chOff x="0" y="0"/>
            <a:chExt cx="2889829" cy="28334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829" cy="2833406"/>
            </a:xfrm>
            <a:custGeom>
              <a:avLst/>
              <a:gdLst/>
              <a:ahLst/>
              <a:cxnLst/>
              <a:rect r="r" b="b" t="t" l="l"/>
              <a:pathLst>
                <a:path h="2833406" w="2889829">
                  <a:moveTo>
                    <a:pt x="0" y="0"/>
                  </a:moveTo>
                  <a:lnTo>
                    <a:pt x="2889829" y="0"/>
                  </a:lnTo>
                  <a:lnTo>
                    <a:pt x="2889829" y="2833406"/>
                  </a:lnTo>
                  <a:lnTo>
                    <a:pt x="0" y="2833406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0000"/>
                  </a:srgbClr>
                </a:gs>
                <a:gs pos="100000">
                  <a:srgbClr val="FCE1A5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89829" cy="2871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46584" y="506606"/>
            <a:ext cx="3526582" cy="785415"/>
            <a:chOff x="0" y="0"/>
            <a:chExt cx="928812" cy="2068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812" cy="206858"/>
            </a:xfrm>
            <a:custGeom>
              <a:avLst/>
              <a:gdLst/>
              <a:ahLst/>
              <a:cxnLst/>
              <a:rect r="r" b="b" t="t" l="l"/>
              <a:pathLst>
                <a:path h="206858" w="928812">
                  <a:moveTo>
                    <a:pt x="103429" y="0"/>
                  </a:moveTo>
                  <a:lnTo>
                    <a:pt x="825383" y="0"/>
                  </a:lnTo>
                  <a:cubicBezTo>
                    <a:pt x="882505" y="0"/>
                    <a:pt x="928812" y="46307"/>
                    <a:pt x="928812" y="103429"/>
                  </a:cubicBezTo>
                  <a:lnTo>
                    <a:pt x="928812" y="103429"/>
                  </a:lnTo>
                  <a:cubicBezTo>
                    <a:pt x="928812" y="160552"/>
                    <a:pt x="882505" y="206858"/>
                    <a:pt x="825383" y="206858"/>
                  </a:cubicBezTo>
                  <a:lnTo>
                    <a:pt x="103429" y="206858"/>
                  </a:lnTo>
                  <a:cubicBezTo>
                    <a:pt x="46307" y="206858"/>
                    <a:pt x="0" y="160552"/>
                    <a:pt x="0" y="103429"/>
                  </a:cubicBezTo>
                  <a:lnTo>
                    <a:pt x="0" y="103429"/>
                  </a:lnTo>
                  <a:cubicBezTo>
                    <a:pt x="0" y="46307"/>
                    <a:pt x="46307" y="0"/>
                    <a:pt x="103429" y="0"/>
                  </a:cubicBez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8812" cy="2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5990825" y="605426"/>
            <a:ext cx="0" cy="587775"/>
          </a:xfrm>
          <a:prstGeom prst="line">
            <a:avLst/>
          </a:prstGeom>
          <a:ln cap="flat" w="19050">
            <a:solidFill>
              <a:srgbClr val="F9F8E4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5009003" y="5932228"/>
            <a:ext cx="5100721" cy="3326072"/>
          </a:xfrm>
          <a:custGeom>
            <a:avLst/>
            <a:gdLst/>
            <a:ahLst/>
            <a:cxnLst/>
            <a:rect r="r" b="b" t="t" l="l"/>
            <a:pathLst>
              <a:path h="3326072" w="5100721">
                <a:moveTo>
                  <a:pt x="0" y="0"/>
                </a:moveTo>
                <a:lnTo>
                  <a:pt x="5100721" y="0"/>
                </a:lnTo>
                <a:lnTo>
                  <a:pt x="5100721" y="3326072"/>
                </a:lnTo>
                <a:lnTo>
                  <a:pt x="0" y="33260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07677" y="1377746"/>
            <a:ext cx="4701326" cy="3476667"/>
          </a:xfrm>
          <a:custGeom>
            <a:avLst/>
            <a:gdLst/>
            <a:ahLst/>
            <a:cxnLst/>
            <a:rect r="r" b="b" t="t" l="l"/>
            <a:pathLst>
              <a:path h="3476667" w="4701326">
                <a:moveTo>
                  <a:pt x="0" y="0"/>
                </a:moveTo>
                <a:lnTo>
                  <a:pt x="4701326" y="0"/>
                </a:lnTo>
                <a:lnTo>
                  <a:pt x="4701326" y="3476667"/>
                </a:lnTo>
                <a:lnTo>
                  <a:pt x="0" y="347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91" t="0" r="-24952" b="-4659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07677" y="5865143"/>
            <a:ext cx="4701326" cy="3393157"/>
          </a:xfrm>
          <a:custGeom>
            <a:avLst/>
            <a:gdLst/>
            <a:ahLst/>
            <a:cxnLst/>
            <a:rect r="r" b="b" t="t" l="l"/>
            <a:pathLst>
              <a:path h="3393157" w="4701326">
                <a:moveTo>
                  <a:pt x="0" y="0"/>
                </a:moveTo>
                <a:lnTo>
                  <a:pt x="4701326" y="0"/>
                </a:lnTo>
                <a:lnTo>
                  <a:pt x="4701326" y="3393157"/>
                </a:lnTo>
                <a:lnTo>
                  <a:pt x="0" y="33931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902" t="0" r="-18238" b="-5513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146354" y="1377746"/>
            <a:ext cx="4960916" cy="3667229"/>
          </a:xfrm>
          <a:custGeom>
            <a:avLst/>
            <a:gdLst/>
            <a:ahLst/>
            <a:cxnLst/>
            <a:rect r="r" b="b" t="t" l="l"/>
            <a:pathLst>
              <a:path h="3667229" w="4960916">
                <a:moveTo>
                  <a:pt x="0" y="0"/>
                </a:moveTo>
                <a:lnTo>
                  <a:pt x="4960917" y="0"/>
                </a:lnTo>
                <a:lnTo>
                  <a:pt x="4960917" y="3667229"/>
                </a:lnTo>
                <a:lnTo>
                  <a:pt x="0" y="36672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616496" y="1831165"/>
            <a:ext cx="7298721" cy="3859199"/>
          </a:xfrm>
          <a:custGeom>
            <a:avLst/>
            <a:gdLst/>
            <a:ahLst/>
            <a:cxnLst/>
            <a:rect r="r" b="b" t="t" l="l"/>
            <a:pathLst>
              <a:path h="3859199" w="7298721">
                <a:moveTo>
                  <a:pt x="0" y="0"/>
                </a:moveTo>
                <a:lnTo>
                  <a:pt x="7298721" y="0"/>
                </a:lnTo>
                <a:lnTo>
                  <a:pt x="7298721" y="3859199"/>
                </a:lnTo>
                <a:lnTo>
                  <a:pt x="0" y="3859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07677" y="173837"/>
            <a:ext cx="11252302" cy="58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1"/>
              </a:lnSpc>
            </a:pPr>
            <a:r>
              <a:rPr lang="en-US" sz="3422" b="true">
                <a:solidFill>
                  <a:srgbClr val="00000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Relationship Diagram &amp; Space Requirement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08188" y="537442"/>
            <a:ext cx="1525487" cy="61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TI3094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073792" y="720514"/>
            <a:ext cx="1529957" cy="42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3243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PPST IV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7677" y="876702"/>
            <a:ext cx="8392186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Activity Relationship Diagram (ARD) Kantor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7677" y="5322670"/>
            <a:ext cx="8392186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Activity Relationship Diagram (ARD) Gabungan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16496" y="1318811"/>
            <a:ext cx="8392186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Luas Lantai Pabrik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616496" y="5865143"/>
            <a:ext cx="7298721" cy="1967913"/>
            <a:chOff x="0" y="0"/>
            <a:chExt cx="1922297" cy="5182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22297" cy="518298"/>
            </a:xfrm>
            <a:custGeom>
              <a:avLst/>
              <a:gdLst/>
              <a:ahLst/>
              <a:cxnLst/>
              <a:rect r="r" b="b" t="t" l="l"/>
              <a:pathLst>
                <a:path h="518298" w="1922297">
                  <a:moveTo>
                    <a:pt x="13789" y="0"/>
                  </a:moveTo>
                  <a:lnTo>
                    <a:pt x="1908508" y="0"/>
                  </a:lnTo>
                  <a:cubicBezTo>
                    <a:pt x="1916123" y="0"/>
                    <a:pt x="1922297" y="6174"/>
                    <a:pt x="1922297" y="13789"/>
                  </a:cubicBezTo>
                  <a:lnTo>
                    <a:pt x="1922297" y="504509"/>
                  </a:lnTo>
                  <a:cubicBezTo>
                    <a:pt x="1922297" y="508166"/>
                    <a:pt x="1920844" y="511673"/>
                    <a:pt x="1918258" y="514259"/>
                  </a:cubicBezTo>
                  <a:cubicBezTo>
                    <a:pt x="1915672" y="516845"/>
                    <a:pt x="1912165" y="518298"/>
                    <a:pt x="1908508" y="518298"/>
                  </a:cubicBezTo>
                  <a:lnTo>
                    <a:pt x="13789" y="518298"/>
                  </a:lnTo>
                  <a:cubicBezTo>
                    <a:pt x="6174" y="518298"/>
                    <a:pt x="0" y="512125"/>
                    <a:pt x="0" y="504509"/>
                  </a:cubicBezTo>
                  <a:lnTo>
                    <a:pt x="0" y="13789"/>
                  </a:lnTo>
                  <a:cubicBezTo>
                    <a:pt x="0" y="10132"/>
                    <a:pt x="1453" y="6625"/>
                    <a:pt x="4039" y="4039"/>
                  </a:cubicBezTo>
                  <a:cubicBezTo>
                    <a:pt x="6625" y="1453"/>
                    <a:pt x="10132" y="0"/>
                    <a:pt x="13789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922297" cy="556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845820" y="5965636"/>
            <a:ext cx="6840073" cy="170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Total </a:t>
            </a:r>
            <a:r>
              <a:rPr lang="en-US" sz="24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kebutuhan luas lantai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fas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pabr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ada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 </a:t>
            </a:r>
            <a:r>
              <a:rPr lang="en-US" sz="24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2.328,49 m²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d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ngan </a:t>
            </a:r>
            <a:r>
              <a:rPr lang="en-US" sz="24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Lantai Pabrik, Parkir, dan Kantor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mendominasi 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sek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ita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35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84%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 t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otal kes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lu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uh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n.</a:t>
            </a:r>
          </a:p>
        </p:txBody>
      </p:sp>
      <p:grpSp>
        <p:nvGrpSpPr>
          <p:cNvPr name="Group 28" id="28"/>
          <p:cNvGrpSpPr/>
          <p:nvPr/>
        </p:nvGrpSpPr>
        <p:grpSpPr>
          <a:xfrm rot="5400000">
            <a:off x="6425489" y="5195331"/>
            <a:ext cx="7880554" cy="245384"/>
            <a:chOff x="0" y="0"/>
            <a:chExt cx="2075537" cy="646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75537" cy="64628"/>
            </a:xfrm>
            <a:custGeom>
              <a:avLst/>
              <a:gdLst/>
              <a:ahLst/>
              <a:cxnLst/>
              <a:rect r="r" b="b" t="t" l="l"/>
              <a:pathLst>
                <a:path h="64628" w="2075537">
                  <a:moveTo>
                    <a:pt x="1037768" y="0"/>
                  </a:moveTo>
                  <a:lnTo>
                    <a:pt x="2075537" y="64628"/>
                  </a:lnTo>
                  <a:lnTo>
                    <a:pt x="0" y="64628"/>
                  </a:lnTo>
                  <a:lnTo>
                    <a:pt x="1037768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4F242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324303" y="-8094"/>
              <a:ext cx="1426932" cy="68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05222" y="201321"/>
            <a:ext cx="2874537" cy="610570"/>
            <a:chOff x="0" y="0"/>
            <a:chExt cx="757080" cy="160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7080" cy="160809"/>
            </a:xfrm>
            <a:custGeom>
              <a:avLst/>
              <a:gdLst/>
              <a:ahLst/>
              <a:cxnLst/>
              <a:rect r="r" b="b" t="t" l="l"/>
              <a:pathLst>
                <a:path h="160809" w="757080">
                  <a:moveTo>
                    <a:pt x="0" y="0"/>
                  </a:moveTo>
                  <a:lnTo>
                    <a:pt x="757080" y="0"/>
                  </a:lnTo>
                  <a:lnTo>
                    <a:pt x="757080" y="160809"/>
                  </a:lnTo>
                  <a:lnTo>
                    <a:pt x="0" y="160809"/>
                  </a:lnTo>
                  <a:close/>
                </a:path>
              </a:pathLst>
            </a:custGeom>
            <a:gradFill rotWithShape="true">
              <a:gsLst>
                <a:gs pos="0">
                  <a:srgbClr val="06D1B2">
                    <a:alpha val="100000"/>
                  </a:srgbClr>
                </a:gs>
                <a:gs pos="100000">
                  <a:srgbClr val="006D8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7080" cy="19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93108" y="-19244"/>
            <a:ext cx="12352120" cy="10325489"/>
          </a:xfrm>
          <a:custGeom>
            <a:avLst/>
            <a:gdLst/>
            <a:ahLst/>
            <a:cxnLst/>
            <a:rect r="r" b="b" t="t" l="l"/>
            <a:pathLst>
              <a:path h="10325489" w="12352120">
                <a:moveTo>
                  <a:pt x="0" y="0"/>
                </a:moveTo>
                <a:lnTo>
                  <a:pt x="12352120" y="0"/>
                </a:lnTo>
                <a:lnTo>
                  <a:pt x="12352120" y="10325488"/>
                </a:lnTo>
                <a:lnTo>
                  <a:pt x="0" y="10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33" t="0" r="-1273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83309" y="-275581"/>
            <a:ext cx="10972320" cy="10758087"/>
            <a:chOff x="0" y="0"/>
            <a:chExt cx="2889829" cy="28334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829" cy="2833406"/>
            </a:xfrm>
            <a:custGeom>
              <a:avLst/>
              <a:gdLst/>
              <a:ahLst/>
              <a:cxnLst/>
              <a:rect r="r" b="b" t="t" l="l"/>
              <a:pathLst>
                <a:path h="2833406" w="2889829">
                  <a:moveTo>
                    <a:pt x="0" y="0"/>
                  </a:moveTo>
                  <a:lnTo>
                    <a:pt x="2889829" y="0"/>
                  </a:lnTo>
                  <a:lnTo>
                    <a:pt x="2889829" y="2833406"/>
                  </a:lnTo>
                  <a:lnTo>
                    <a:pt x="0" y="2833406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0000"/>
                  </a:srgbClr>
                </a:gs>
                <a:gs pos="100000">
                  <a:srgbClr val="6B4851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89829" cy="2871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46584" y="506606"/>
            <a:ext cx="3526582" cy="785415"/>
            <a:chOff x="0" y="0"/>
            <a:chExt cx="928812" cy="2068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812" cy="206858"/>
            </a:xfrm>
            <a:custGeom>
              <a:avLst/>
              <a:gdLst/>
              <a:ahLst/>
              <a:cxnLst/>
              <a:rect r="r" b="b" t="t" l="l"/>
              <a:pathLst>
                <a:path h="206858" w="928812">
                  <a:moveTo>
                    <a:pt x="103429" y="0"/>
                  </a:moveTo>
                  <a:lnTo>
                    <a:pt x="825383" y="0"/>
                  </a:lnTo>
                  <a:cubicBezTo>
                    <a:pt x="882505" y="0"/>
                    <a:pt x="928812" y="46307"/>
                    <a:pt x="928812" y="103429"/>
                  </a:cubicBezTo>
                  <a:lnTo>
                    <a:pt x="928812" y="103429"/>
                  </a:lnTo>
                  <a:cubicBezTo>
                    <a:pt x="928812" y="160552"/>
                    <a:pt x="882505" y="206858"/>
                    <a:pt x="825383" y="206858"/>
                  </a:cubicBezTo>
                  <a:lnTo>
                    <a:pt x="103429" y="206858"/>
                  </a:lnTo>
                  <a:cubicBezTo>
                    <a:pt x="46307" y="206858"/>
                    <a:pt x="0" y="160552"/>
                    <a:pt x="0" y="103429"/>
                  </a:cubicBezTo>
                  <a:lnTo>
                    <a:pt x="0" y="103429"/>
                  </a:lnTo>
                  <a:cubicBezTo>
                    <a:pt x="0" y="46307"/>
                    <a:pt x="46307" y="0"/>
                    <a:pt x="103429" y="0"/>
                  </a:cubicBez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8812" cy="2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5990825" y="605426"/>
            <a:ext cx="0" cy="587775"/>
          </a:xfrm>
          <a:prstGeom prst="line">
            <a:avLst/>
          </a:prstGeom>
          <a:ln cap="flat" w="19050">
            <a:solidFill>
              <a:srgbClr val="F9F8E4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3332072" y="1762602"/>
            <a:ext cx="4582538" cy="6184398"/>
          </a:xfrm>
          <a:custGeom>
            <a:avLst/>
            <a:gdLst/>
            <a:ahLst/>
            <a:cxnLst/>
            <a:rect r="r" b="b" t="t" l="l"/>
            <a:pathLst>
              <a:path h="6184398" w="4582538">
                <a:moveTo>
                  <a:pt x="0" y="0"/>
                </a:moveTo>
                <a:lnTo>
                  <a:pt x="4582537" y="0"/>
                </a:lnTo>
                <a:lnTo>
                  <a:pt x="4582537" y="6184398"/>
                </a:lnTo>
                <a:lnTo>
                  <a:pt x="0" y="618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903185" y="1762602"/>
            <a:ext cx="6707731" cy="5678651"/>
          </a:xfrm>
          <a:custGeom>
            <a:avLst/>
            <a:gdLst/>
            <a:ahLst/>
            <a:cxnLst/>
            <a:rect r="r" b="b" t="t" l="l"/>
            <a:pathLst>
              <a:path h="5678651" w="6707731">
                <a:moveTo>
                  <a:pt x="0" y="0"/>
                </a:moveTo>
                <a:lnTo>
                  <a:pt x="6707731" y="0"/>
                </a:lnTo>
                <a:lnTo>
                  <a:pt x="6707731" y="5678651"/>
                </a:lnTo>
                <a:lnTo>
                  <a:pt x="0" y="56786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7677" y="173837"/>
            <a:ext cx="4838677" cy="58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1"/>
              </a:lnSpc>
            </a:pPr>
            <a:r>
              <a:rPr lang="en-US" sz="3422" b="true">
                <a:solidFill>
                  <a:srgbClr val="00000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Space Available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08188" y="537442"/>
            <a:ext cx="1525487" cy="61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TI3094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73792" y="720514"/>
            <a:ext cx="1529957" cy="42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3243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PPST IV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88413" y="4134642"/>
            <a:ext cx="1279990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true">
                <a:solidFill>
                  <a:srgbClr val="F59E0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</a:t>
            </a:r>
            <a:r>
              <a:rPr lang="en-US" b="true" sz="1500">
                <a:solidFill>
                  <a:srgbClr val="F59E0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= 50 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23340" y="3568463"/>
            <a:ext cx="1279990" cy="25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1500">
                <a:solidFill>
                  <a:srgbClr val="F59E0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 = 100 m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85149" y="1519915"/>
            <a:ext cx="4814273" cy="5586096"/>
            <a:chOff x="0" y="0"/>
            <a:chExt cx="1267957" cy="14712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7957" cy="1471235"/>
            </a:xfrm>
            <a:custGeom>
              <a:avLst/>
              <a:gdLst/>
              <a:ahLst/>
              <a:cxnLst/>
              <a:rect r="r" b="b" t="t" l="l"/>
              <a:pathLst>
                <a:path h="1471235" w="1267957">
                  <a:moveTo>
                    <a:pt x="56284" y="0"/>
                  </a:moveTo>
                  <a:lnTo>
                    <a:pt x="1211673" y="0"/>
                  </a:lnTo>
                  <a:cubicBezTo>
                    <a:pt x="1242758" y="0"/>
                    <a:pt x="1267957" y="25199"/>
                    <a:pt x="1267957" y="56284"/>
                  </a:cubicBezTo>
                  <a:lnTo>
                    <a:pt x="1267957" y="1414951"/>
                  </a:lnTo>
                  <a:cubicBezTo>
                    <a:pt x="1267957" y="1446036"/>
                    <a:pt x="1242758" y="1471235"/>
                    <a:pt x="1211673" y="1471235"/>
                  </a:cubicBezTo>
                  <a:lnTo>
                    <a:pt x="56284" y="1471235"/>
                  </a:lnTo>
                  <a:cubicBezTo>
                    <a:pt x="25199" y="1471235"/>
                    <a:pt x="0" y="1446036"/>
                    <a:pt x="0" y="1414951"/>
                  </a:cubicBezTo>
                  <a:lnTo>
                    <a:pt x="0" y="56284"/>
                  </a:lnTo>
                  <a:cubicBezTo>
                    <a:pt x="0" y="25199"/>
                    <a:pt x="25199" y="0"/>
                    <a:pt x="562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86000"/>
                  </a:srgbClr>
                </a:gs>
                <a:gs pos="50000">
                  <a:srgbClr val="FBDC9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67957" cy="1509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53558" y="1661527"/>
            <a:ext cx="4246731" cy="527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b="true" sz="1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Lokasi</a:t>
            </a:r>
            <a:r>
              <a:rPr lang="en-US" b="true" sz="19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: Dekat Sawahdadap, Kec. Cimanggung, Kabupaten Sumedang, Jawa Barat (dekat kawasan industri Dwipapuri)</a:t>
            </a:r>
          </a:p>
          <a:p>
            <a:pPr algn="just">
              <a:lnSpc>
                <a:spcPts val="2799"/>
              </a:lnSpc>
            </a:pPr>
            <a:r>
              <a:rPr lang="en-US" b="true" sz="1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Luas tanah</a:t>
            </a:r>
            <a:r>
              <a:rPr lang="en-US" b="true" sz="19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: </a:t>
            </a:r>
            <a:r>
              <a:rPr lang="en-US" b="true" sz="1999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Inter Medium"/>
                <a:ea typeface="Inter Medium"/>
                <a:cs typeface="Inter Medium"/>
                <a:sym typeface="Inter Medium"/>
              </a:rPr>
              <a:t>5000 m2</a:t>
            </a:r>
          </a:p>
          <a:p>
            <a:pPr algn="just">
              <a:lnSpc>
                <a:spcPts val="2799"/>
              </a:lnSpc>
            </a:pPr>
            <a:r>
              <a:rPr lang="en-US" b="true" sz="1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Alasan pemilihan</a:t>
            </a:r>
            <a:r>
              <a:rPr lang="en-US" b="true" sz="19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:</a:t>
            </a: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Lokasi </a:t>
            </a:r>
            <a:r>
              <a:rPr lang="en-US" b="true" sz="1999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dekat dengan kawasan industri</a:t>
            </a:r>
            <a:r>
              <a:rPr lang="en-US" b="true" sz="19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Dwipapuri sehingga memudahkan supplier raw material</a:t>
            </a: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Waktu tempuh lokasi ke jalan tol</a:t>
            </a:r>
            <a:r>
              <a:rPr lang="en-US" b="true" sz="19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terdekat (Gerbang Tol Jatinangor 2) hanya </a:t>
            </a:r>
            <a:r>
              <a:rPr lang="en-US" b="true" sz="1999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19 menit</a:t>
            </a: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Jalan lebar (</a:t>
            </a:r>
            <a:r>
              <a:rPr lang="en-US" b="true" sz="1999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10 meter</a:t>
            </a:r>
            <a:r>
              <a:rPr lang="en-US" b="true" sz="1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)</a:t>
            </a:r>
            <a:r>
              <a:rPr lang="en-US" b="true" sz="19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 sehingga bisa dilalui oleh truk besar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7677" y="876702"/>
            <a:ext cx="3443102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Keterangan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62981" y="7661587"/>
            <a:ext cx="4573613" cy="20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500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"/>
                <a:ea typeface="Public Sans 2"/>
                <a:cs typeface="Public Sans 2"/>
                <a:sym typeface="Public Sans 2"/>
              </a:rPr>
              <a:t>Gambar jarak lokasi terhadap gerbang tol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669168" y="7550144"/>
            <a:ext cx="2005722" cy="20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500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"/>
                <a:ea typeface="Public Sans 2"/>
                <a:cs typeface="Public Sans 2"/>
                <a:sym typeface="Public Sans 2"/>
              </a:rPr>
              <a:t>Gambar luas lahan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05222" y="201321"/>
            <a:ext cx="2874537" cy="610570"/>
            <a:chOff x="0" y="0"/>
            <a:chExt cx="757080" cy="160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7080" cy="160809"/>
            </a:xfrm>
            <a:custGeom>
              <a:avLst/>
              <a:gdLst/>
              <a:ahLst/>
              <a:cxnLst/>
              <a:rect r="r" b="b" t="t" l="l"/>
              <a:pathLst>
                <a:path h="160809" w="757080">
                  <a:moveTo>
                    <a:pt x="0" y="0"/>
                  </a:moveTo>
                  <a:lnTo>
                    <a:pt x="757080" y="0"/>
                  </a:lnTo>
                  <a:lnTo>
                    <a:pt x="757080" y="160809"/>
                  </a:lnTo>
                  <a:lnTo>
                    <a:pt x="0" y="160809"/>
                  </a:lnTo>
                  <a:close/>
                </a:path>
              </a:pathLst>
            </a:custGeom>
            <a:gradFill rotWithShape="true">
              <a:gsLst>
                <a:gs pos="0">
                  <a:srgbClr val="06D1B2">
                    <a:alpha val="100000"/>
                  </a:srgbClr>
                </a:gs>
                <a:gs pos="100000">
                  <a:srgbClr val="006D8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7080" cy="19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93108" y="-19244"/>
            <a:ext cx="12352120" cy="10325489"/>
          </a:xfrm>
          <a:custGeom>
            <a:avLst/>
            <a:gdLst/>
            <a:ahLst/>
            <a:cxnLst/>
            <a:rect r="r" b="b" t="t" l="l"/>
            <a:pathLst>
              <a:path h="10325489" w="12352120">
                <a:moveTo>
                  <a:pt x="0" y="0"/>
                </a:moveTo>
                <a:lnTo>
                  <a:pt x="12352120" y="0"/>
                </a:lnTo>
                <a:lnTo>
                  <a:pt x="12352120" y="10325488"/>
                </a:lnTo>
                <a:lnTo>
                  <a:pt x="0" y="10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33" t="0" r="-1273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83309" y="-275581"/>
            <a:ext cx="10972320" cy="10758087"/>
            <a:chOff x="0" y="0"/>
            <a:chExt cx="2889829" cy="28334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829" cy="2833406"/>
            </a:xfrm>
            <a:custGeom>
              <a:avLst/>
              <a:gdLst/>
              <a:ahLst/>
              <a:cxnLst/>
              <a:rect r="r" b="b" t="t" l="l"/>
              <a:pathLst>
                <a:path h="2833406" w="2889829">
                  <a:moveTo>
                    <a:pt x="0" y="0"/>
                  </a:moveTo>
                  <a:lnTo>
                    <a:pt x="2889829" y="0"/>
                  </a:lnTo>
                  <a:lnTo>
                    <a:pt x="2889829" y="2833406"/>
                  </a:lnTo>
                  <a:lnTo>
                    <a:pt x="0" y="2833406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0000"/>
                  </a:srgbClr>
                </a:gs>
                <a:gs pos="100000">
                  <a:srgbClr val="FCE1A5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89829" cy="2871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46584" y="506606"/>
            <a:ext cx="3526582" cy="785415"/>
            <a:chOff x="0" y="0"/>
            <a:chExt cx="928812" cy="2068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812" cy="206858"/>
            </a:xfrm>
            <a:custGeom>
              <a:avLst/>
              <a:gdLst/>
              <a:ahLst/>
              <a:cxnLst/>
              <a:rect r="r" b="b" t="t" l="l"/>
              <a:pathLst>
                <a:path h="206858" w="928812">
                  <a:moveTo>
                    <a:pt x="103429" y="0"/>
                  </a:moveTo>
                  <a:lnTo>
                    <a:pt x="825383" y="0"/>
                  </a:lnTo>
                  <a:cubicBezTo>
                    <a:pt x="882505" y="0"/>
                    <a:pt x="928812" y="46307"/>
                    <a:pt x="928812" y="103429"/>
                  </a:cubicBezTo>
                  <a:lnTo>
                    <a:pt x="928812" y="103429"/>
                  </a:lnTo>
                  <a:cubicBezTo>
                    <a:pt x="928812" y="160552"/>
                    <a:pt x="882505" y="206858"/>
                    <a:pt x="825383" y="206858"/>
                  </a:cubicBezTo>
                  <a:lnTo>
                    <a:pt x="103429" y="206858"/>
                  </a:lnTo>
                  <a:cubicBezTo>
                    <a:pt x="46307" y="206858"/>
                    <a:pt x="0" y="160552"/>
                    <a:pt x="0" y="103429"/>
                  </a:cubicBezTo>
                  <a:lnTo>
                    <a:pt x="0" y="103429"/>
                  </a:lnTo>
                  <a:cubicBezTo>
                    <a:pt x="0" y="46307"/>
                    <a:pt x="46307" y="0"/>
                    <a:pt x="103429" y="0"/>
                  </a:cubicBez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8812" cy="2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5990825" y="605426"/>
            <a:ext cx="0" cy="587775"/>
          </a:xfrm>
          <a:prstGeom prst="line">
            <a:avLst/>
          </a:prstGeom>
          <a:ln cap="flat" w="19050">
            <a:solidFill>
              <a:srgbClr val="F9F8E4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485149" y="1415148"/>
            <a:ext cx="8658851" cy="6514754"/>
          </a:xfrm>
          <a:custGeom>
            <a:avLst/>
            <a:gdLst/>
            <a:ahLst/>
            <a:cxnLst/>
            <a:rect r="r" b="b" t="t" l="l"/>
            <a:pathLst>
              <a:path h="6514754" w="8658851">
                <a:moveTo>
                  <a:pt x="0" y="0"/>
                </a:moveTo>
                <a:lnTo>
                  <a:pt x="8658851" y="0"/>
                </a:lnTo>
                <a:lnTo>
                  <a:pt x="8658851" y="6514754"/>
                </a:lnTo>
                <a:lnTo>
                  <a:pt x="0" y="651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539763" y="6001796"/>
            <a:ext cx="5992794" cy="3414813"/>
          </a:xfrm>
          <a:custGeom>
            <a:avLst/>
            <a:gdLst/>
            <a:ahLst/>
            <a:cxnLst/>
            <a:rect r="r" b="b" t="t" l="l"/>
            <a:pathLst>
              <a:path h="3414813" w="5992794">
                <a:moveTo>
                  <a:pt x="0" y="0"/>
                </a:moveTo>
                <a:lnTo>
                  <a:pt x="5992795" y="0"/>
                </a:lnTo>
                <a:lnTo>
                  <a:pt x="5992795" y="3414813"/>
                </a:lnTo>
                <a:lnTo>
                  <a:pt x="0" y="3414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539763" y="1512183"/>
            <a:ext cx="5992794" cy="3920972"/>
          </a:xfrm>
          <a:custGeom>
            <a:avLst/>
            <a:gdLst/>
            <a:ahLst/>
            <a:cxnLst/>
            <a:rect r="r" b="b" t="t" l="l"/>
            <a:pathLst>
              <a:path h="3920972" w="5992794">
                <a:moveTo>
                  <a:pt x="0" y="0"/>
                </a:moveTo>
                <a:lnTo>
                  <a:pt x="5992795" y="0"/>
                </a:lnTo>
                <a:lnTo>
                  <a:pt x="5992795" y="3920972"/>
                </a:lnTo>
                <a:lnTo>
                  <a:pt x="0" y="39209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07677" y="173837"/>
            <a:ext cx="11252302" cy="58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1"/>
              </a:lnSpc>
            </a:pPr>
            <a:r>
              <a:rPr lang="en-US" sz="3422" b="true">
                <a:solidFill>
                  <a:srgbClr val="00000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Space Relationship Diagram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08188" y="537442"/>
            <a:ext cx="1525487" cy="61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TI3094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73792" y="720514"/>
            <a:ext cx="1529957" cy="42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3243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PPST IV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5149" y="999829"/>
            <a:ext cx="5978587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Konversi Luas Departemen → Sel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39763" y="5524104"/>
            <a:ext cx="3753030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Initial Layout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39763" y="999829"/>
            <a:ext cx="4484347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Koordinat Departemen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05222" y="201321"/>
            <a:ext cx="2874537" cy="610570"/>
            <a:chOff x="0" y="0"/>
            <a:chExt cx="757080" cy="160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7080" cy="160809"/>
            </a:xfrm>
            <a:custGeom>
              <a:avLst/>
              <a:gdLst/>
              <a:ahLst/>
              <a:cxnLst/>
              <a:rect r="r" b="b" t="t" l="l"/>
              <a:pathLst>
                <a:path h="160809" w="757080">
                  <a:moveTo>
                    <a:pt x="0" y="0"/>
                  </a:moveTo>
                  <a:lnTo>
                    <a:pt x="757080" y="0"/>
                  </a:lnTo>
                  <a:lnTo>
                    <a:pt x="757080" y="160809"/>
                  </a:lnTo>
                  <a:lnTo>
                    <a:pt x="0" y="160809"/>
                  </a:lnTo>
                  <a:close/>
                </a:path>
              </a:pathLst>
            </a:custGeom>
            <a:gradFill rotWithShape="true">
              <a:gsLst>
                <a:gs pos="0">
                  <a:srgbClr val="06D1B2">
                    <a:alpha val="100000"/>
                  </a:srgbClr>
                </a:gs>
                <a:gs pos="100000">
                  <a:srgbClr val="006D8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7080" cy="19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93108" y="-19244"/>
            <a:ext cx="12352120" cy="10325489"/>
          </a:xfrm>
          <a:custGeom>
            <a:avLst/>
            <a:gdLst/>
            <a:ahLst/>
            <a:cxnLst/>
            <a:rect r="r" b="b" t="t" l="l"/>
            <a:pathLst>
              <a:path h="10325489" w="12352120">
                <a:moveTo>
                  <a:pt x="0" y="0"/>
                </a:moveTo>
                <a:lnTo>
                  <a:pt x="12352120" y="0"/>
                </a:lnTo>
                <a:lnTo>
                  <a:pt x="12352120" y="10325488"/>
                </a:lnTo>
                <a:lnTo>
                  <a:pt x="0" y="10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33" t="0" r="-1273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83309" y="-275581"/>
            <a:ext cx="10972320" cy="10758087"/>
            <a:chOff x="0" y="0"/>
            <a:chExt cx="2889829" cy="28334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829" cy="2833406"/>
            </a:xfrm>
            <a:custGeom>
              <a:avLst/>
              <a:gdLst/>
              <a:ahLst/>
              <a:cxnLst/>
              <a:rect r="r" b="b" t="t" l="l"/>
              <a:pathLst>
                <a:path h="2833406" w="2889829">
                  <a:moveTo>
                    <a:pt x="0" y="0"/>
                  </a:moveTo>
                  <a:lnTo>
                    <a:pt x="2889829" y="0"/>
                  </a:lnTo>
                  <a:lnTo>
                    <a:pt x="2889829" y="2833406"/>
                  </a:lnTo>
                  <a:lnTo>
                    <a:pt x="0" y="2833406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0000"/>
                  </a:srgbClr>
                </a:gs>
                <a:gs pos="100000">
                  <a:srgbClr val="FCE1A5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89829" cy="2871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46584" y="506606"/>
            <a:ext cx="3526582" cy="785415"/>
            <a:chOff x="0" y="0"/>
            <a:chExt cx="928812" cy="2068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812" cy="206858"/>
            </a:xfrm>
            <a:custGeom>
              <a:avLst/>
              <a:gdLst/>
              <a:ahLst/>
              <a:cxnLst/>
              <a:rect r="r" b="b" t="t" l="l"/>
              <a:pathLst>
                <a:path h="206858" w="928812">
                  <a:moveTo>
                    <a:pt x="103429" y="0"/>
                  </a:moveTo>
                  <a:lnTo>
                    <a:pt x="825383" y="0"/>
                  </a:lnTo>
                  <a:cubicBezTo>
                    <a:pt x="882505" y="0"/>
                    <a:pt x="928812" y="46307"/>
                    <a:pt x="928812" y="103429"/>
                  </a:cubicBezTo>
                  <a:lnTo>
                    <a:pt x="928812" y="103429"/>
                  </a:lnTo>
                  <a:cubicBezTo>
                    <a:pt x="928812" y="160552"/>
                    <a:pt x="882505" y="206858"/>
                    <a:pt x="825383" y="206858"/>
                  </a:cubicBezTo>
                  <a:lnTo>
                    <a:pt x="103429" y="206858"/>
                  </a:lnTo>
                  <a:cubicBezTo>
                    <a:pt x="46307" y="206858"/>
                    <a:pt x="0" y="160552"/>
                    <a:pt x="0" y="103429"/>
                  </a:cubicBezTo>
                  <a:lnTo>
                    <a:pt x="0" y="103429"/>
                  </a:lnTo>
                  <a:cubicBezTo>
                    <a:pt x="0" y="46307"/>
                    <a:pt x="46307" y="0"/>
                    <a:pt x="103429" y="0"/>
                  </a:cubicBez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8812" cy="2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5990825" y="605426"/>
            <a:ext cx="0" cy="587775"/>
          </a:xfrm>
          <a:prstGeom prst="line">
            <a:avLst/>
          </a:prstGeom>
          <a:ln cap="flat" w="19050">
            <a:solidFill>
              <a:srgbClr val="F9F8E4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746797" y="1292021"/>
            <a:ext cx="6348735" cy="5148974"/>
          </a:xfrm>
          <a:custGeom>
            <a:avLst/>
            <a:gdLst/>
            <a:ahLst/>
            <a:cxnLst/>
            <a:rect r="r" b="b" t="t" l="l"/>
            <a:pathLst>
              <a:path h="5148974" w="6348735">
                <a:moveTo>
                  <a:pt x="0" y="0"/>
                </a:moveTo>
                <a:lnTo>
                  <a:pt x="6348735" y="0"/>
                </a:lnTo>
                <a:lnTo>
                  <a:pt x="6348735" y="5148974"/>
                </a:lnTo>
                <a:lnTo>
                  <a:pt x="0" y="5148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46797" y="7290387"/>
            <a:ext cx="6430140" cy="1967913"/>
            <a:chOff x="0" y="0"/>
            <a:chExt cx="1693535" cy="5182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93535" cy="518298"/>
            </a:xfrm>
            <a:custGeom>
              <a:avLst/>
              <a:gdLst/>
              <a:ahLst/>
              <a:cxnLst/>
              <a:rect r="r" b="b" t="t" l="l"/>
              <a:pathLst>
                <a:path h="518298" w="1693535">
                  <a:moveTo>
                    <a:pt x="15652" y="0"/>
                  </a:moveTo>
                  <a:lnTo>
                    <a:pt x="1677883" y="0"/>
                  </a:lnTo>
                  <a:cubicBezTo>
                    <a:pt x="1682034" y="0"/>
                    <a:pt x="1686015" y="1649"/>
                    <a:pt x="1688950" y="4584"/>
                  </a:cubicBezTo>
                  <a:cubicBezTo>
                    <a:pt x="1691886" y="7520"/>
                    <a:pt x="1693535" y="11501"/>
                    <a:pt x="1693535" y="15652"/>
                  </a:cubicBezTo>
                  <a:lnTo>
                    <a:pt x="1693535" y="502646"/>
                  </a:lnTo>
                  <a:cubicBezTo>
                    <a:pt x="1693535" y="511291"/>
                    <a:pt x="1686527" y="518298"/>
                    <a:pt x="1677883" y="518298"/>
                  </a:cubicBezTo>
                  <a:lnTo>
                    <a:pt x="15652" y="518298"/>
                  </a:lnTo>
                  <a:cubicBezTo>
                    <a:pt x="7008" y="518298"/>
                    <a:pt x="0" y="511291"/>
                    <a:pt x="0" y="502646"/>
                  </a:cubicBezTo>
                  <a:lnTo>
                    <a:pt x="0" y="15652"/>
                  </a:lnTo>
                  <a:cubicBezTo>
                    <a:pt x="0" y="11501"/>
                    <a:pt x="1649" y="7520"/>
                    <a:pt x="4584" y="4584"/>
                  </a:cubicBezTo>
                  <a:cubicBezTo>
                    <a:pt x="7520" y="1649"/>
                    <a:pt x="11501" y="0"/>
                    <a:pt x="15652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93535" cy="556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66212" y="2586658"/>
            <a:ext cx="2524781" cy="2687805"/>
            <a:chOff x="0" y="0"/>
            <a:chExt cx="664963" cy="7078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4963" cy="707899"/>
            </a:xfrm>
            <a:custGeom>
              <a:avLst/>
              <a:gdLst/>
              <a:ahLst/>
              <a:cxnLst/>
              <a:rect r="r" b="b" t="t" l="l"/>
              <a:pathLst>
                <a:path h="707899" w="664963">
                  <a:moveTo>
                    <a:pt x="39863" y="0"/>
                  </a:moveTo>
                  <a:lnTo>
                    <a:pt x="625100" y="0"/>
                  </a:lnTo>
                  <a:cubicBezTo>
                    <a:pt x="647116" y="0"/>
                    <a:pt x="664963" y="17847"/>
                    <a:pt x="664963" y="39863"/>
                  </a:cubicBezTo>
                  <a:lnTo>
                    <a:pt x="664963" y="668037"/>
                  </a:lnTo>
                  <a:cubicBezTo>
                    <a:pt x="664963" y="678609"/>
                    <a:pt x="660763" y="688748"/>
                    <a:pt x="653287" y="696224"/>
                  </a:cubicBezTo>
                  <a:cubicBezTo>
                    <a:pt x="645812" y="703699"/>
                    <a:pt x="635672" y="707899"/>
                    <a:pt x="625100" y="707899"/>
                  </a:cubicBezTo>
                  <a:lnTo>
                    <a:pt x="39863" y="707899"/>
                  </a:lnTo>
                  <a:cubicBezTo>
                    <a:pt x="17847" y="707899"/>
                    <a:pt x="0" y="690052"/>
                    <a:pt x="0" y="668037"/>
                  </a:cubicBezTo>
                  <a:lnTo>
                    <a:pt x="0" y="39863"/>
                  </a:lnTo>
                  <a:cubicBezTo>
                    <a:pt x="0" y="17847"/>
                    <a:pt x="17847" y="0"/>
                    <a:pt x="39863" y="0"/>
                  </a:cubicBezTo>
                  <a:close/>
                </a:path>
              </a:pathLst>
            </a:custGeom>
            <a:ln w="381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64963" cy="745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47593" y="1944619"/>
            <a:ext cx="1729344" cy="751959"/>
            <a:chOff x="0" y="0"/>
            <a:chExt cx="455465" cy="1980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5465" cy="198047"/>
            </a:xfrm>
            <a:custGeom>
              <a:avLst/>
              <a:gdLst/>
              <a:ahLst/>
              <a:cxnLst/>
              <a:rect r="r" b="b" t="t" l="l"/>
              <a:pathLst>
                <a:path h="198047" w="455465">
                  <a:moveTo>
                    <a:pt x="58198" y="0"/>
                  </a:moveTo>
                  <a:lnTo>
                    <a:pt x="397267" y="0"/>
                  </a:lnTo>
                  <a:cubicBezTo>
                    <a:pt x="412702" y="0"/>
                    <a:pt x="427505" y="6132"/>
                    <a:pt x="438419" y="17046"/>
                  </a:cubicBezTo>
                  <a:cubicBezTo>
                    <a:pt x="449333" y="27960"/>
                    <a:pt x="455465" y="42763"/>
                    <a:pt x="455465" y="58198"/>
                  </a:cubicBezTo>
                  <a:lnTo>
                    <a:pt x="455465" y="139848"/>
                  </a:lnTo>
                  <a:cubicBezTo>
                    <a:pt x="455465" y="155284"/>
                    <a:pt x="449333" y="170087"/>
                    <a:pt x="438419" y="181001"/>
                  </a:cubicBezTo>
                  <a:cubicBezTo>
                    <a:pt x="427505" y="191915"/>
                    <a:pt x="412702" y="198047"/>
                    <a:pt x="397267" y="198047"/>
                  </a:cubicBezTo>
                  <a:lnTo>
                    <a:pt x="58198" y="198047"/>
                  </a:lnTo>
                  <a:cubicBezTo>
                    <a:pt x="42763" y="198047"/>
                    <a:pt x="27960" y="191915"/>
                    <a:pt x="17046" y="181001"/>
                  </a:cubicBezTo>
                  <a:cubicBezTo>
                    <a:pt x="6132" y="170087"/>
                    <a:pt x="0" y="155284"/>
                    <a:pt x="0" y="139848"/>
                  </a:cubicBezTo>
                  <a:lnTo>
                    <a:pt x="0" y="58198"/>
                  </a:lnTo>
                  <a:cubicBezTo>
                    <a:pt x="0" y="42763"/>
                    <a:pt x="6132" y="27960"/>
                    <a:pt x="17046" y="17046"/>
                  </a:cubicBezTo>
                  <a:cubicBezTo>
                    <a:pt x="27960" y="6132"/>
                    <a:pt x="42763" y="0"/>
                    <a:pt x="58198" y="0"/>
                  </a:cubicBezTo>
                  <a:close/>
                </a:path>
              </a:pathLst>
            </a:custGeom>
            <a:ln w="38100" cap="sq">
              <a:solidFill>
                <a:srgbClr val="FF751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55465" cy="236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63185" y="1944619"/>
            <a:ext cx="2170059" cy="2181597"/>
            <a:chOff x="0" y="0"/>
            <a:chExt cx="571538" cy="57457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1538" cy="574577"/>
            </a:xfrm>
            <a:custGeom>
              <a:avLst/>
              <a:gdLst/>
              <a:ahLst/>
              <a:cxnLst/>
              <a:rect r="r" b="b" t="t" l="l"/>
              <a:pathLst>
                <a:path h="574577" w="571538">
                  <a:moveTo>
                    <a:pt x="46379" y="0"/>
                  </a:moveTo>
                  <a:lnTo>
                    <a:pt x="525159" y="0"/>
                  </a:lnTo>
                  <a:cubicBezTo>
                    <a:pt x="537460" y="0"/>
                    <a:pt x="549256" y="4886"/>
                    <a:pt x="557954" y="13584"/>
                  </a:cubicBezTo>
                  <a:cubicBezTo>
                    <a:pt x="566652" y="22282"/>
                    <a:pt x="571538" y="34078"/>
                    <a:pt x="571538" y="46379"/>
                  </a:cubicBezTo>
                  <a:lnTo>
                    <a:pt x="571538" y="528198"/>
                  </a:lnTo>
                  <a:cubicBezTo>
                    <a:pt x="571538" y="553812"/>
                    <a:pt x="550774" y="574577"/>
                    <a:pt x="525159" y="574577"/>
                  </a:cubicBezTo>
                  <a:lnTo>
                    <a:pt x="46379" y="574577"/>
                  </a:lnTo>
                  <a:cubicBezTo>
                    <a:pt x="34078" y="574577"/>
                    <a:pt x="22282" y="569691"/>
                    <a:pt x="13584" y="560993"/>
                  </a:cubicBezTo>
                  <a:cubicBezTo>
                    <a:pt x="4886" y="552295"/>
                    <a:pt x="0" y="540499"/>
                    <a:pt x="0" y="528198"/>
                  </a:cubicBezTo>
                  <a:lnTo>
                    <a:pt x="0" y="46379"/>
                  </a:lnTo>
                  <a:cubicBezTo>
                    <a:pt x="0" y="34078"/>
                    <a:pt x="4886" y="22282"/>
                    <a:pt x="13584" y="13584"/>
                  </a:cubicBezTo>
                  <a:cubicBezTo>
                    <a:pt x="22282" y="4886"/>
                    <a:pt x="34078" y="0"/>
                    <a:pt x="46379" y="0"/>
                  </a:cubicBezTo>
                  <a:close/>
                </a:path>
              </a:pathLst>
            </a:custGeom>
            <a:ln w="38100" cap="sq">
              <a:solidFill>
                <a:srgbClr val="014CB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71538" cy="612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01414" y="1944619"/>
            <a:ext cx="1596100" cy="3329845"/>
            <a:chOff x="0" y="0"/>
            <a:chExt cx="420372" cy="8769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0372" cy="876996"/>
            </a:xfrm>
            <a:custGeom>
              <a:avLst/>
              <a:gdLst/>
              <a:ahLst/>
              <a:cxnLst/>
              <a:rect r="r" b="b" t="t" l="l"/>
              <a:pathLst>
                <a:path h="876996" w="420372">
                  <a:moveTo>
                    <a:pt x="63057" y="0"/>
                  </a:moveTo>
                  <a:lnTo>
                    <a:pt x="357315" y="0"/>
                  </a:lnTo>
                  <a:cubicBezTo>
                    <a:pt x="374039" y="0"/>
                    <a:pt x="390078" y="6643"/>
                    <a:pt x="401903" y="18469"/>
                  </a:cubicBezTo>
                  <a:cubicBezTo>
                    <a:pt x="413729" y="30294"/>
                    <a:pt x="420372" y="46333"/>
                    <a:pt x="420372" y="63057"/>
                  </a:cubicBezTo>
                  <a:lnTo>
                    <a:pt x="420372" y="813939"/>
                  </a:lnTo>
                  <a:cubicBezTo>
                    <a:pt x="420372" y="848765"/>
                    <a:pt x="392141" y="876996"/>
                    <a:pt x="357315" y="876996"/>
                  </a:cubicBezTo>
                  <a:lnTo>
                    <a:pt x="63057" y="876996"/>
                  </a:lnTo>
                  <a:cubicBezTo>
                    <a:pt x="28231" y="876996"/>
                    <a:pt x="0" y="848765"/>
                    <a:pt x="0" y="813939"/>
                  </a:cubicBezTo>
                  <a:lnTo>
                    <a:pt x="0" y="63057"/>
                  </a:lnTo>
                  <a:cubicBezTo>
                    <a:pt x="0" y="28231"/>
                    <a:pt x="28231" y="0"/>
                    <a:pt x="63057" y="0"/>
                  </a:cubicBezTo>
                  <a:close/>
                </a:path>
              </a:pathLst>
            </a:custGeom>
            <a:ln w="38100" cap="sq">
              <a:solidFill>
                <a:srgbClr val="FF66C4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20372" cy="915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6289" y="7404261"/>
            <a:ext cx="353050" cy="378957"/>
            <a:chOff x="0" y="0"/>
            <a:chExt cx="92984" cy="998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2984" cy="99808"/>
            </a:xfrm>
            <a:custGeom>
              <a:avLst/>
              <a:gdLst/>
              <a:ahLst/>
              <a:cxnLst/>
              <a:rect r="r" b="b" t="t" l="l"/>
              <a:pathLst>
                <a:path h="99808" w="92984">
                  <a:moveTo>
                    <a:pt x="46492" y="0"/>
                  </a:moveTo>
                  <a:lnTo>
                    <a:pt x="46492" y="0"/>
                  </a:lnTo>
                  <a:cubicBezTo>
                    <a:pt x="72169" y="0"/>
                    <a:pt x="92984" y="20815"/>
                    <a:pt x="92984" y="46492"/>
                  </a:cubicBezTo>
                  <a:lnTo>
                    <a:pt x="92984" y="53315"/>
                  </a:lnTo>
                  <a:cubicBezTo>
                    <a:pt x="92984" y="65646"/>
                    <a:pt x="88086" y="77471"/>
                    <a:pt x="79367" y="86190"/>
                  </a:cubicBezTo>
                  <a:cubicBezTo>
                    <a:pt x="70648" y="94909"/>
                    <a:pt x="58823" y="99808"/>
                    <a:pt x="46492" y="99808"/>
                  </a:cubicBezTo>
                  <a:lnTo>
                    <a:pt x="46492" y="99808"/>
                  </a:lnTo>
                  <a:cubicBezTo>
                    <a:pt x="20815" y="99808"/>
                    <a:pt x="0" y="78992"/>
                    <a:pt x="0" y="53315"/>
                  </a:cubicBezTo>
                  <a:lnTo>
                    <a:pt x="0" y="46492"/>
                  </a:lnTo>
                  <a:cubicBezTo>
                    <a:pt x="0" y="34162"/>
                    <a:pt x="4898" y="22336"/>
                    <a:pt x="13617" y="13617"/>
                  </a:cubicBezTo>
                  <a:cubicBezTo>
                    <a:pt x="22336" y="4898"/>
                    <a:pt x="34162" y="0"/>
                    <a:pt x="46492" y="0"/>
                  </a:cubicBezTo>
                  <a:close/>
                </a:path>
              </a:pathLst>
            </a:custGeom>
            <a:ln w="38100" cap="sq">
              <a:solidFill>
                <a:srgbClr val="FF66C4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2984" cy="1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6289" y="7839302"/>
            <a:ext cx="353050" cy="378957"/>
            <a:chOff x="0" y="0"/>
            <a:chExt cx="92984" cy="998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984" cy="99808"/>
            </a:xfrm>
            <a:custGeom>
              <a:avLst/>
              <a:gdLst/>
              <a:ahLst/>
              <a:cxnLst/>
              <a:rect r="r" b="b" t="t" l="l"/>
              <a:pathLst>
                <a:path h="99808" w="92984">
                  <a:moveTo>
                    <a:pt x="46492" y="0"/>
                  </a:moveTo>
                  <a:lnTo>
                    <a:pt x="46492" y="0"/>
                  </a:lnTo>
                  <a:cubicBezTo>
                    <a:pt x="72169" y="0"/>
                    <a:pt x="92984" y="20815"/>
                    <a:pt x="92984" y="46492"/>
                  </a:cubicBezTo>
                  <a:lnTo>
                    <a:pt x="92984" y="53315"/>
                  </a:lnTo>
                  <a:cubicBezTo>
                    <a:pt x="92984" y="65646"/>
                    <a:pt x="88086" y="77471"/>
                    <a:pt x="79367" y="86190"/>
                  </a:cubicBezTo>
                  <a:cubicBezTo>
                    <a:pt x="70648" y="94909"/>
                    <a:pt x="58823" y="99808"/>
                    <a:pt x="46492" y="99808"/>
                  </a:cubicBezTo>
                  <a:lnTo>
                    <a:pt x="46492" y="99808"/>
                  </a:lnTo>
                  <a:cubicBezTo>
                    <a:pt x="20815" y="99808"/>
                    <a:pt x="0" y="78992"/>
                    <a:pt x="0" y="53315"/>
                  </a:cubicBezTo>
                  <a:lnTo>
                    <a:pt x="0" y="46492"/>
                  </a:lnTo>
                  <a:cubicBezTo>
                    <a:pt x="0" y="34162"/>
                    <a:pt x="4898" y="22336"/>
                    <a:pt x="13617" y="13617"/>
                  </a:cubicBezTo>
                  <a:cubicBezTo>
                    <a:pt x="22336" y="4898"/>
                    <a:pt x="34162" y="0"/>
                    <a:pt x="46492" y="0"/>
                  </a:cubicBezTo>
                  <a:close/>
                </a:path>
              </a:pathLst>
            </a:custGeom>
            <a:ln w="381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2984" cy="1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6289" y="8274343"/>
            <a:ext cx="353050" cy="378957"/>
            <a:chOff x="0" y="0"/>
            <a:chExt cx="92984" cy="998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984" cy="99808"/>
            </a:xfrm>
            <a:custGeom>
              <a:avLst/>
              <a:gdLst/>
              <a:ahLst/>
              <a:cxnLst/>
              <a:rect r="r" b="b" t="t" l="l"/>
              <a:pathLst>
                <a:path h="99808" w="92984">
                  <a:moveTo>
                    <a:pt x="46492" y="0"/>
                  </a:moveTo>
                  <a:lnTo>
                    <a:pt x="46492" y="0"/>
                  </a:lnTo>
                  <a:cubicBezTo>
                    <a:pt x="72169" y="0"/>
                    <a:pt x="92984" y="20815"/>
                    <a:pt x="92984" y="46492"/>
                  </a:cubicBezTo>
                  <a:lnTo>
                    <a:pt x="92984" y="53315"/>
                  </a:lnTo>
                  <a:cubicBezTo>
                    <a:pt x="92984" y="65646"/>
                    <a:pt x="88086" y="77471"/>
                    <a:pt x="79367" y="86190"/>
                  </a:cubicBezTo>
                  <a:cubicBezTo>
                    <a:pt x="70648" y="94909"/>
                    <a:pt x="58823" y="99808"/>
                    <a:pt x="46492" y="99808"/>
                  </a:cubicBezTo>
                  <a:lnTo>
                    <a:pt x="46492" y="99808"/>
                  </a:lnTo>
                  <a:cubicBezTo>
                    <a:pt x="20815" y="99808"/>
                    <a:pt x="0" y="78992"/>
                    <a:pt x="0" y="53315"/>
                  </a:cubicBezTo>
                  <a:lnTo>
                    <a:pt x="0" y="46492"/>
                  </a:lnTo>
                  <a:cubicBezTo>
                    <a:pt x="0" y="34162"/>
                    <a:pt x="4898" y="22336"/>
                    <a:pt x="13617" y="13617"/>
                  </a:cubicBezTo>
                  <a:cubicBezTo>
                    <a:pt x="22336" y="4898"/>
                    <a:pt x="34162" y="0"/>
                    <a:pt x="46492" y="0"/>
                  </a:cubicBezTo>
                  <a:close/>
                </a:path>
              </a:pathLst>
            </a:custGeom>
            <a:ln w="38100" cap="sq">
              <a:solidFill>
                <a:srgbClr val="014CB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2984" cy="1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6289" y="8767600"/>
            <a:ext cx="353050" cy="378957"/>
            <a:chOff x="0" y="0"/>
            <a:chExt cx="92984" cy="998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984" cy="99808"/>
            </a:xfrm>
            <a:custGeom>
              <a:avLst/>
              <a:gdLst/>
              <a:ahLst/>
              <a:cxnLst/>
              <a:rect r="r" b="b" t="t" l="l"/>
              <a:pathLst>
                <a:path h="99808" w="92984">
                  <a:moveTo>
                    <a:pt x="46492" y="0"/>
                  </a:moveTo>
                  <a:lnTo>
                    <a:pt x="46492" y="0"/>
                  </a:lnTo>
                  <a:cubicBezTo>
                    <a:pt x="72169" y="0"/>
                    <a:pt x="92984" y="20815"/>
                    <a:pt x="92984" y="46492"/>
                  </a:cubicBezTo>
                  <a:lnTo>
                    <a:pt x="92984" y="53315"/>
                  </a:lnTo>
                  <a:cubicBezTo>
                    <a:pt x="92984" y="65646"/>
                    <a:pt x="88086" y="77471"/>
                    <a:pt x="79367" y="86190"/>
                  </a:cubicBezTo>
                  <a:cubicBezTo>
                    <a:pt x="70648" y="94909"/>
                    <a:pt x="58823" y="99808"/>
                    <a:pt x="46492" y="99808"/>
                  </a:cubicBezTo>
                  <a:lnTo>
                    <a:pt x="46492" y="99808"/>
                  </a:lnTo>
                  <a:cubicBezTo>
                    <a:pt x="20815" y="99808"/>
                    <a:pt x="0" y="78992"/>
                    <a:pt x="0" y="53315"/>
                  </a:cubicBezTo>
                  <a:lnTo>
                    <a:pt x="0" y="46492"/>
                  </a:lnTo>
                  <a:cubicBezTo>
                    <a:pt x="0" y="34162"/>
                    <a:pt x="4898" y="22336"/>
                    <a:pt x="13617" y="13617"/>
                  </a:cubicBezTo>
                  <a:cubicBezTo>
                    <a:pt x="22336" y="4898"/>
                    <a:pt x="34162" y="0"/>
                    <a:pt x="46492" y="0"/>
                  </a:cubicBezTo>
                  <a:close/>
                </a:path>
              </a:pathLst>
            </a:custGeom>
            <a:ln w="38100" cap="sq">
              <a:solidFill>
                <a:srgbClr val="FF751F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2984" cy="1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-5400000">
            <a:off x="7917354" y="1383252"/>
            <a:ext cx="3322546" cy="3588350"/>
          </a:xfrm>
          <a:custGeom>
            <a:avLst/>
            <a:gdLst/>
            <a:ahLst/>
            <a:cxnLst/>
            <a:rect r="r" b="b" t="t" l="l"/>
            <a:pathLst>
              <a:path h="3588350" w="3322546">
                <a:moveTo>
                  <a:pt x="0" y="0"/>
                </a:moveTo>
                <a:lnTo>
                  <a:pt x="3322546" y="0"/>
                </a:lnTo>
                <a:lnTo>
                  <a:pt x="3322546" y="3588350"/>
                </a:lnTo>
                <a:lnTo>
                  <a:pt x="0" y="3588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7784452" y="5661686"/>
            <a:ext cx="3588350" cy="3620389"/>
          </a:xfrm>
          <a:custGeom>
            <a:avLst/>
            <a:gdLst/>
            <a:ahLst/>
            <a:cxnLst/>
            <a:rect r="r" b="b" t="t" l="l"/>
            <a:pathLst>
              <a:path h="3620389" w="3588350">
                <a:moveTo>
                  <a:pt x="0" y="0"/>
                </a:moveTo>
                <a:lnTo>
                  <a:pt x="3588350" y="0"/>
                </a:lnTo>
                <a:lnTo>
                  <a:pt x="3588350" y="3620389"/>
                </a:lnTo>
                <a:lnTo>
                  <a:pt x="0" y="36203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307677" y="173837"/>
            <a:ext cx="11252302" cy="58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1"/>
              </a:lnSpc>
            </a:pPr>
            <a:r>
              <a:rPr lang="en-US" sz="3422" b="true">
                <a:solidFill>
                  <a:srgbClr val="00000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Modifying Constraint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408188" y="537442"/>
            <a:ext cx="1525487" cy="61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TI3094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073792" y="720514"/>
            <a:ext cx="1529957" cy="42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3243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PPST IV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86429" y="6655992"/>
            <a:ext cx="4484347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Keterangan (gabungan)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864630" y="2234667"/>
            <a:ext cx="5609075" cy="3390842"/>
            <a:chOff x="0" y="0"/>
            <a:chExt cx="1477287" cy="89306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77287" cy="893061"/>
            </a:xfrm>
            <a:custGeom>
              <a:avLst/>
              <a:gdLst/>
              <a:ahLst/>
              <a:cxnLst/>
              <a:rect r="r" b="b" t="t" l="l"/>
              <a:pathLst>
                <a:path h="893061" w="1477287">
                  <a:moveTo>
                    <a:pt x="17943" y="0"/>
                  </a:moveTo>
                  <a:lnTo>
                    <a:pt x="1459344" y="0"/>
                  </a:lnTo>
                  <a:cubicBezTo>
                    <a:pt x="1464103" y="0"/>
                    <a:pt x="1468667" y="1890"/>
                    <a:pt x="1472032" y="5255"/>
                  </a:cubicBezTo>
                  <a:cubicBezTo>
                    <a:pt x="1475397" y="8620"/>
                    <a:pt x="1477287" y="13184"/>
                    <a:pt x="1477287" y="17943"/>
                  </a:cubicBezTo>
                  <a:lnTo>
                    <a:pt x="1477287" y="875118"/>
                  </a:lnTo>
                  <a:cubicBezTo>
                    <a:pt x="1477287" y="885028"/>
                    <a:pt x="1469254" y="893061"/>
                    <a:pt x="1459344" y="893061"/>
                  </a:cubicBezTo>
                  <a:lnTo>
                    <a:pt x="17943" y="893061"/>
                  </a:lnTo>
                  <a:cubicBezTo>
                    <a:pt x="13184" y="893061"/>
                    <a:pt x="8620" y="891171"/>
                    <a:pt x="5255" y="887806"/>
                  </a:cubicBezTo>
                  <a:cubicBezTo>
                    <a:pt x="1890" y="884441"/>
                    <a:pt x="0" y="879877"/>
                    <a:pt x="0" y="875118"/>
                  </a:cubicBezTo>
                  <a:lnTo>
                    <a:pt x="0" y="17943"/>
                  </a:lnTo>
                  <a:cubicBezTo>
                    <a:pt x="0" y="13184"/>
                    <a:pt x="1890" y="8620"/>
                    <a:pt x="5255" y="5255"/>
                  </a:cubicBezTo>
                  <a:cubicBezTo>
                    <a:pt x="8620" y="1890"/>
                    <a:pt x="13184" y="0"/>
                    <a:pt x="17943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477287" cy="931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1864630" y="2381757"/>
            <a:ext cx="5401440" cy="308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7966" indent="-208983" lvl="1">
              <a:lnSpc>
                <a:spcPts val="2710"/>
              </a:lnSpc>
              <a:buFont typeface="Arial"/>
              <a:buChar char="•"/>
            </a:pP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 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lu 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low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ce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un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tuk pekerja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dan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35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m</a:t>
            </a:r>
            <a:r>
              <a:rPr lang="en-US" sz="1935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aint</a:t>
            </a:r>
            <a:r>
              <a:rPr lang="en-US" sz="1935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e</a:t>
            </a:r>
            <a:r>
              <a:rPr lang="en-US" sz="1935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nance</a:t>
            </a:r>
          </a:p>
          <a:p>
            <a:pPr algn="l" marL="417966" indent="-208983" lvl="1">
              <a:lnSpc>
                <a:spcPts val="2710"/>
              </a:lnSpc>
              <a:buFont typeface="Arial"/>
              <a:buChar char="•"/>
            </a:pP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uh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ehouse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GBBU/GBBP u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nt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uk 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ghin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tercampur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mater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masuk d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 p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roduk</a:t>
            </a: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selesai </a:t>
            </a:r>
          </a:p>
          <a:p>
            <a:pPr algn="l" marL="417966" indent="-208983" lvl="1">
              <a:lnSpc>
                <a:spcPts val="2710"/>
              </a:lnSpc>
              <a:buFont typeface="Arial"/>
              <a:buChar char="•"/>
            </a:pP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Memberikan ruang kosong dekat mesin milling untuk kemudahan penambahan jumlah mesin milling karena mempunyai utilitas tertinggi  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864630" y="6707871"/>
            <a:ext cx="5609075" cy="1528020"/>
            <a:chOff x="0" y="0"/>
            <a:chExt cx="1477287" cy="40244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77287" cy="402441"/>
            </a:xfrm>
            <a:custGeom>
              <a:avLst/>
              <a:gdLst/>
              <a:ahLst/>
              <a:cxnLst/>
              <a:rect r="r" b="b" t="t" l="l"/>
              <a:pathLst>
                <a:path h="402441" w="1477287">
                  <a:moveTo>
                    <a:pt x="17943" y="0"/>
                  </a:moveTo>
                  <a:lnTo>
                    <a:pt x="1459344" y="0"/>
                  </a:lnTo>
                  <a:cubicBezTo>
                    <a:pt x="1464103" y="0"/>
                    <a:pt x="1468667" y="1890"/>
                    <a:pt x="1472032" y="5255"/>
                  </a:cubicBezTo>
                  <a:cubicBezTo>
                    <a:pt x="1475397" y="8620"/>
                    <a:pt x="1477287" y="13184"/>
                    <a:pt x="1477287" y="17943"/>
                  </a:cubicBezTo>
                  <a:lnTo>
                    <a:pt x="1477287" y="384498"/>
                  </a:lnTo>
                  <a:cubicBezTo>
                    <a:pt x="1477287" y="389257"/>
                    <a:pt x="1475397" y="393821"/>
                    <a:pt x="1472032" y="397186"/>
                  </a:cubicBezTo>
                  <a:cubicBezTo>
                    <a:pt x="1468667" y="400551"/>
                    <a:pt x="1464103" y="402441"/>
                    <a:pt x="1459344" y="402441"/>
                  </a:cubicBezTo>
                  <a:lnTo>
                    <a:pt x="17943" y="402441"/>
                  </a:lnTo>
                  <a:cubicBezTo>
                    <a:pt x="8033" y="402441"/>
                    <a:pt x="0" y="394408"/>
                    <a:pt x="0" y="384498"/>
                  </a:cubicBezTo>
                  <a:lnTo>
                    <a:pt x="0" y="17943"/>
                  </a:lnTo>
                  <a:cubicBezTo>
                    <a:pt x="0" y="13184"/>
                    <a:pt x="1890" y="8620"/>
                    <a:pt x="5255" y="5255"/>
                  </a:cubicBezTo>
                  <a:cubicBezTo>
                    <a:pt x="8620" y="1890"/>
                    <a:pt x="13184" y="0"/>
                    <a:pt x="17943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477287" cy="440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1907229" y="6724338"/>
            <a:ext cx="5566476" cy="136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7966" indent="-208983" lvl="1">
              <a:lnSpc>
                <a:spcPts val="2710"/>
              </a:lnSpc>
              <a:buFont typeface="Arial"/>
              <a:buChar char="•"/>
            </a:pP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Memosisikan pintu masuk di ruang resepsionis </a:t>
            </a:r>
          </a:p>
          <a:p>
            <a:pPr algn="l" marL="417966" indent="-208983" lvl="1">
              <a:lnSpc>
                <a:spcPts val="2710"/>
              </a:lnSpc>
              <a:buFont typeface="Arial"/>
              <a:buChar char="•"/>
            </a:pP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Menempatkan ruang arsip di pinggir tidak di tengah kantor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87794" y="7390709"/>
            <a:ext cx="5566476" cy="34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0"/>
              </a:lnSpc>
            </a:pP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Kemudahan ekspansi lantai produksi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87794" y="7834314"/>
            <a:ext cx="5566476" cy="34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0"/>
              </a:lnSpc>
            </a:pP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Pemisahan area bising/kotor terhadap kantor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87794" y="8289922"/>
            <a:ext cx="5958514" cy="315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18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Area untuk ekspansi kantor dan layanan pendukung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29056" y="8762612"/>
            <a:ext cx="5566476" cy="341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0"/>
              </a:lnSpc>
            </a:pPr>
            <a:r>
              <a:rPr lang="en-US" sz="19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Layanan pendukung didekatkan dengan kantor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864630" y="1569972"/>
            <a:ext cx="4484347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Keterangan (lantai prod.)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907229" y="6108994"/>
            <a:ext cx="4484347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Keterangan (kantor)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05222" y="201321"/>
            <a:ext cx="2874537" cy="610570"/>
            <a:chOff x="0" y="0"/>
            <a:chExt cx="757080" cy="160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7080" cy="160809"/>
            </a:xfrm>
            <a:custGeom>
              <a:avLst/>
              <a:gdLst/>
              <a:ahLst/>
              <a:cxnLst/>
              <a:rect r="r" b="b" t="t" l="l"/>
              <a:pathLst>
                <a:path h="160809" w="757080">
                  <a:moveTo>
                    <a:pt x="0" y="0"/>
                  </a:moveTo>
                  <a:lnTo>
                    <a:pt x="757080" y="0"/>
                  </a:lnTo>
                  <a:lnTo>
                    <a:pt x="757080" y="160809"/>
                  </a:lnTo>
                  <a:lnTo>
                    <a:pt x="0" y="160809"/>
                  </a:lnTo>
                  <a:close/>
                </a:path>
              </a:pathLst>
            </a:custGeom>
            <a:gradFill rotWithShape="true">
              <a:gsLst>
                <a:gs pos="0">
                  <a:srgbClr val="06D1B2">
                    <a:alpha val="100000"/>
                  </a:srgbClr>
                </a:gs>
                <a:gs pos="100000">
                  <a:srgbClr val="006D8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7080" cy="19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93108" y="-19244"/>
            <a:ext cx="12352120" cy="10325489"/>
          </a:xfrm>
          <a:custGeom>
            <a:avLst/>
            <a:gdLst/>
            <a:ahLst/>
            <a:cxnLst/>
            <a:rect r="r" b="b" t="t" l="l"/>
            <a:pathLst>
              <a:path h="10325489" w="12352120">
                <a:moveTo>
                  <a:pt x="0" y="0"/>
                </a:moveTo>
                <a:lnTo>
                  <a:pt x="12352120" y="0"/>
                </a:lnTo>
                <a:lnTo>
                  <a:pt x="12352120" y="10325488"/>
                </a:lnTo>
                <a:lnTo>
                  <a:pt x="0" y="10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33" t="0" r="-1273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83309" y="-275581"/>
            <a:ext cx="10972320" cy="10758087"/>
            <a:chOff x="0" y="0"/>
            <a:chExt cx="2889829" cy="28334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829" cy="2833406"/>
            </a:xfrm>
            <a:custGeom>
              <a:avLst/>
              <a:gdLst/>
              <a:ahLst/>
              <a:cxnLst/>
              <a:rect r="r" b="b" t="t" l="l"/>
              <a:pathLst>
                <a:path h="2833406" w="2889829">
                  <a:moveTo>
                    <a:pt x="0" y="0"/>
                  </a:moveTo>
                  <a:lnTo>
                    <a:pt x="2889829" y="0"/>
                  </a:lnTo>
                  <a:lnTo>
                    <a:pt x="2889829" y="2833406"/>
                  </a:lnTo>
                  <a:lnTo>
                    <a:pt x="0" y="2833406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0000"/>
                  </a:srgbClr>
                </a:gs>
                <a:gs pos="100000">
                  <a:srgbClr val="FCE1A5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89829" cy="2871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46584" y="506606"/>
            <a:ext cx="3526582" cy="785415"/>
            <a:chOff x="0" y="0"/>
            <a:chExt cx="928812" cy="2068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812" cy="206858"/>
            </a:xfrm>
            <a:custGeom>
              <a:avLst/>
              <a:gdLst/>
              <a:ahLst/>
              <a:cxnLst/>
              <a:rect r="r" b="b" t="t" l="l"/>
              <a:pathLst>
                <a:path h="206858" w="928812">
                  <a:moveTo>
                    <a:pt x="103429" y="0"/>
                  </a:moveTo>
                  <a:lnTo>
                    <a:pt x="825383" y="0"/>
                  </a:lnTo>
                  <a:cubicBezTo>
                    <a:pt x="882505" y="0"/>
                    <a:pt x="928812" y="46307"/>
                    <a:pt x="928812" y="103429"/>
                  </a:cubicBezTo>
                  <a:lnTo>
                    <a:pt x="928812" y="103429"/>
                  </a:lnTo>
                  <a:cubicBezTo>
                    <a:pt x="928812" y="160552"/>
                    <a:pt x="882505" y="206858"/>
                    <a:pt x="825383" y="206858"/>
                  </a:cubicBezTo>
                  <a:lnTo>
                    <a:pt x="103429" y="206858"/>
                  </a:lnTo>
                  <a:cubicBezTo>
                    <a:pt x="46307" y="206858"/>
                    <a:pt x="0" y="160552"/>
                    <a:pt x="0" y="103429"/>
                  </a:cubicBezTo>
                  <a:lnTo>
                    <a:pt x="0" y="103429"/>
                  </a:lnTo>
                  <a:cubicBezTo>
                    <a:pt x="0" y="46307"/>
                    <a:pt x="46307" y="0"/>
                    <a:pt x="103429" y="0"/>
                  </a:cubicBez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8812" cy="2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5990825" y="605426"/>
            <a:ext cx="0" cy="587775"/>
          </a:xfrm>
          <a:prstGeom prst="line">
            <a:avLst/>
          </a:prstGeom>
          <a:ln cap="flat" w="19050">
            <a:solidFill>
              <a:srgbClr val="F9F8E4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564189" y="1635642"/>
            <a:ext cx="8579811" cy="6958429"/>
          </a:xfrm>
          <a:custGeom>
            <a:avLst/>
            <a:gdLst/>
            <a:ahLst/>
            <a:cxnLst/>
            <a:rect r="r" b="b" t="t" l="l"/>
            <a:pathLst>
              <a:path h="6958429" w="8579811">
                <a:moveTo>
                  <a:pt x="0" y="0"/>
                </a:moveTo>
                <a:lnTo>
                  <a:pt x="8579811" y="0"/>
                </a:lnTo>
                <a:lnTo>
                  <a:pt x="8579811" y="6958430"/>
                </a:lnTo>
                <a:lnTo>
                  <a:pt x="0" y="69584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0468532" y="1442235"/>
            <a:ext cx="5328215" cy="5754472"/>
          </a:xfrm>
          <a:custGeom>
            <a:avLst/>
            <a:gdLst/>
            <a:ahLst/>
            <a:cxnLst/>
            <a:rect r="r" b="b" t="t" l="l"/>
            <a:pathLst>
              <a:path h="5754472" w="5328215">
                <a:moveTo>
                  <a:pt x="0" y="0"/>
                </a:moveTo>
                <a:lnTo>
                  <a:pt x="5328214" y="0"/>
                </a:lnTo>
                <a:lnTo>
                  <a:pt x="5328214" y="5754472"/>
                </a:lnTo>
                <a:lnTo>
                  <a:pt x="0" y="5754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7677" y="173837"/>
            <a:ext cx="11252302" cy="58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1"/>
              </a:lnSpc>
            </a:pPr>
            <a:r>
              <a:rPr lang="en-US" sz="3422" b="true">
                <a:solidFill>
                  <a:srgbClr val="00000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Practical Limitation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08188" y="537442"/>
            <a:ext cx="1525487" cy="61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TI3094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73792" y="720514"/>
            <a:ext cx="1529957" cy="42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3243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PPST IV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4189" y="1057275"/>
            <a:ext cx="2680401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Layout Pabrik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809782" y="4430219"/>
            <a:ext cx="1582444" cy="1441395"/>
            <a:chOff x="0" y="0"/>
            <a:chExt cx="416776" cy="3796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6775" cy="379627"/>
            </a:xfrm>
            <a:custGeom>
              <a:avLst/>
              <a:gdLst/>
              <a:ahLst/>
              <a:cxnLst/>
              <a:rect r="r" b="b" t="t" l="l"/>
              <a:pathLst>
                <a:path h="379627" w="416775">
                  <a:moveTo>
                    <a:pt x="63601" y="0"/>
                  </a:moveTo>
                  <a:lnTo>
                    <a:pt x="353175" y="0"/>
                  </a:lnTo>
                  <a:cubicBezTo>
                    <a:pt x="370043" y="0"/>
                    <a:pt x="386220" y="6701"/>
                    <a:pt x="398147" y="18628"/>
                  </a:cubicBezTo>
                  <a:cubicBezTo>
                    <a:pt x="410075" y="30556"/>
                    <a:pt x="416775" y="46733"/>
                    <a:pt x="416775" y="63601"/>
                  </a:cubicBezTo>
                  <a:lnTo>
                    <a:pt x="416775" y="316026"/>
                  </a:lnTo>
                  <a:cubicBezTo>
                    <a:pt x="416775" y="332894"/>
                    <a:pt x="410075" y="349071"/>
                    <a:pt x="398147" y="360998"/>
                  </a:cubicBezTo>
                  <a:cubicBezTo>
                    <a:pt x="386220" y="372926"/>
                    <a:pt x="370043" y="379627"/>
                    <a:pt x="353175" y="379627"/>
                  </a:cubicBezTo>
                  <a:lnTo>
                    <a:pt x="63601" y="379627"/>
                  </a:lnTo>
                  <a:cubicBezTo>
                    <a:pt x="46733" y="379627"/>
                    <a:pt x="30556" y="372926"/>
                    <a:pt x="18628" y="360998"/>
                  </a:cubicBezTo>
                  <a:cubicBezTo>
                    <a:pt x="6701" y="349071"/>
                    <a:pt x="0" y="332894"/>
                    <a:pt x="0" y="316026"/>
                  </a:cubicBezTo>
                  <a:lnTo>
                    <a:pt x="0" y="63601"/>
                  </a:lnTo>
                  <a:cubicBezTo>
                    <a:pt x="0" y="46733"/>
                    <a:pt x="6701" y="30556"/>
                    <a:pt x="18628" y="18628"/>
                  </a:cubicBezTo>
                  <a:cubicBezTo>
                    <a:pt x="30556" y="6701"/>
                    <a:pt x="46733" y="0"/>
                    <a:pt x="63601" y="0"/>
                  </a:cubicBezTo>
                  <a:close/>
                </a:path>
              </a:pathLst>
            </a:custGeom>
            <a:ln w="381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16776" cy="417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183421" y="3996314"/>
            <a:ext cx="1975020" cy="2987264"/>
            <a:chOff x="0" y="0"/>
            <a:chExt cx="520170" cy="7867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0170" cy="786769"/>
            </a:xfrm>
            <a:custGeom>
              <a:avLst/>
              <a:gdLst/>
              <a:ahLst/>
              <a:cxnLst/>
              <a:rect r="r" b="b" t="t" l="l"/>
              <a:pathLst>
                <a:path h="786769" w="520170">
                  <a:moveTo>
                    <a:pt x="50959" y="0"/>
                  </a:moveTo>
                  <a:lnTo>
                    <a:pt x="469211" y="0"/>
                  </a:lnTo>
                  <a:cubicBezTo>
                    <a:pt x="497355" y="0"/>
                    <a:pt x="520170" y="22815"/>
                    <a:pt x="520170" y="50959"/>
                  </a:cubicBezTo>
                  <a:lnTo>
                    <a:pt x="520170" y="735810"/>
                  </a:lnTo>
                  <a:cubicBezTo>
                    <a:pt x="520170" y="763954"/>
                    <a:pt x="497355" y="786769"/>
                    <a:pt x="469211" y="786769"/>
                  </a:cubicBezTo>
                  <a:lnTo>
                    <a:pt x="50959" y="786769"/>
                  </a:lnTo>
                  <a:cubicBezTo>
                    <a:pt x="22815" y="786769"/>
                    <a:pt x="0" y="763954"/>
                    <a:pt x="0" y="735810"/>
                  </a:cubicBezTo>
                  <a:lnTo>
                    <a:pt x="0" y="50959"/>
                  </a:lnTo>
                  <a:cubicBezTo>
                    <a:pt x="0" y="22815"/>
                    <a:pt x="22815" y="0"/>
                    <a:pt x="50959" y="0"/>
                  </a:cubicBezTo>
                  <a:close/>
                </a:path>
              </a:pathLst>
            </a:custGeom>
            <a:ln w="3810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0170" cy="824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76044" y="7345528"/>
            <a:ext cx="7927705" cy="2005505"/>
            <a:chOff x="0" y="0"/>
            <a:chExt cx="2087955" cy="52819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87955" cy="528199"/>
            </a:xfrm>
            <a:custGeom>
              <a:avLst/>
              <a:gdLst/>
              <a:ahLst/>
              <a:cxnLst/>
              <a:rect r="r" b="b" t="t" l="l"/>
              <a:pathLst>
                <a:path h="528199" w="2087955">
                  <a:moveTo>
                    <a:pt x="12695" y="0"/>
                  </a:moveTo>
                  <a:lnTo>
                    <a:pt x="2075260" y="0"/>
                  </a:lnTo>
                  <a:cubicBezTo>
                    <a:pt x="2078627" y="0"/>
                    <a:pt x="2081856" y="1338"/>
                    <a:pt x="2084237" y="3718"/>
                  </a:cubicBezTo>
                  <a:cubicBezTo>
                    <a:pt x="2086618" y="6099"/>
                    <a:pt x="2087955" y="9328"/>
                    <a:pt x="2087955" y="12695"/>
                  </a:cubicBezTo>
                  <a:lnTo>
                    <a:pt x="2087955" y="515503"/>
                  </a:lnTo>
                  <a:cubicBezTo>
                    <a:pt x="2087955" y="518870"/>
                    <a:pt x="2086618" y="522099"/>
                    <a:pt x="2084237" y="524480"/>
                  </a:cubicBezTo>
                  <a:cubicBezTo>
                    <a:pt x="2081856" y="526861"/>
                    <a:pt x="2078627" y="528199"/>
                    <a:pt x="2075260" y="528199"/>
                  </a:cubicBezTo>
                  <a:lnTo>
                    <a:pt x="12695" y="528199"/>
                  </a:lnTo>
                  <a:cubicBezTo>
                    <a:pt x="9328" y="528199"/>
                    <a:pt x="6099" y="526861"/>
                    <a:pt x="3718" y="524480"/>
                  </a:cubicBezTo>
                  <a:cubicBezTo>
                    <a:pt x="1338" y="522099"/>
                    <a:pt x="0" y="518870"/>
                    <a:pt x="0" y="515503"/>
                  </a:cubicBezTo>
                  <a:lnTo>
                    <a:pt x="0" y="12695"/>
                  </a:lnTo>
                  <a:cubicBezTo>
                    <a:pt x="0" y="9328"/>
                    <a:pt x="1338" y="6099"/>
                    <a:pt x="3718" y="3718"/>
                  </a:cubicBezTo>
                  <a:cubicBezTo>
                    <a:pt x="6099" y="1338"/>
                    <a:pt x="9328" y="0"/>
                    <a:pt x="12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087955" cy="566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001614" y="7431253"/>
            <a:ext cx="7335710" cy="162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0"/>
              </a:lnSpc>
            </a:pPr>
            <a:r>
              <a:rPr lang="en-US" sz="23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Shipping dan Receiving ditempatkan secara </a:t>
            </a:r>
            <a:r>
              <a:rPr lang="en-US" b="true" sz="2335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fixed</a:t>
            </a:r>
            <a:r>
              <a:rPr lang="en-US" sz="23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dengan </a:t>
            </a:r>
            <a:r>
              <a:rPr lang="en-US" b="true" sz="2335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posisi terluar</a:t>
            </a:r>
            <a:r>
              <a:rPr lang="en-US" sz="23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lantai produksi agar dapat terhubung langsung </a:t>
            </a:r>
            <a:r>
              <a:rPr lang="en-US" b="true" sz="2335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dengan jalan</a:t>
            </a:r>
            <a:r>
              <a:rPr lang="en-US" sz="23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keluar-masuk truk </a:t>
            </a:r>
            <a:r>
              <a:rPr lang="en-US" sz="2335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shipping/receiving.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01614" y="1131662"/>
            <a:ext cx="4687111" cy="36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99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Layout Lantai Produksi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05222" y="201321"/>
            <a:ext cx="2874537" cy="610570"/>
            <a:chOff x="0" y="0"/>
            <a:chExt cx="757080" cy="160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7080" cy="160809"/>
            </a:xfrm>
            <a:custGeom>
              <a:avLst/>
              <a:gdLst/>
              <a:ahLst/>
              <a:cxnLst/>
              <a:rect r="r" b="b" t="t" l="l"/>
              <a:pathLst>
                <a:path h="160809" w="757080">
                  <a:moveTo>
                    <a:pt x="0" y="0"/>
                  </a:moveTo>
                  <a:lnTo>
                    <a:pt x="757080" y="0"/>
                  </a:lnTo>
                  <a:lnTo>
                    <a:pt x="757080" y="160809"/>
                  </a:lnTo>
                  <a:lnTo>
                    <a:pt x="0" y="160809"/>
                  </a:lnTo>
                  <a:close/>
                </a:path>
              </a:pathLst>
            </a:custGeom>
            <a:gradFill rotWithShape="true">
              <a:gsLst>
                <a:gs pos="0">
                  <a:srgbClr val="06D1B2">
                    <a:alpha val="100000"/>
                  </a:srgbClr>
                </a:gs>
                <a:gs pos="100000">
                  <a:srgbClr val="006D8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7080" cy="19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93108" y="-19244"/>
            <a:ext cx="12352120" cy="10325489"/>
          </a:xfrm>
          <a:custGeom>
            <a:avLst/>
            <a:gdLst/>
            <a:ahLst/>
            <a:cxnLst/>
            <a:rect r="r" b="b" t="t" l="l"/>
            <a:pathLst>
              <a:path h="10325489" w="12352120">
                <a:moveTo>
                  <a:pt x="0" y="0"/>
                </a:moveTo>
                <a:lnTo>
                  <a:pt x="12352120" y="0"/>
                </a:lnTo>
                <a:lnTo>
                  <a:pt x="12352120" y="10325488"/>
                </a:lnTo>
                <a:lnTo>
                  <a:pt x="0" y="10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33" t="0" r="-1273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83309" y="-275581"/>
            <a:ext cx="10972320" cy="10758087"/>
            <a:chOff x="0" y="0"/>
            <a:chExt cx="2889829" cy="28334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829" cy="2833406"/>
            </a:xfrm>
            <a:custGeom>
              <a:avLst/>
              <a:gdLst/>
              <a:ahLst/>
              <a:cxnLst/>
              <a:rect r="r" b="b" t="t" l="l"/>
              <a:pathLst>
                <a:path h="2833406" w="2889829">
                  <a:moveTo>
                    <a:pt x="0" y="0"/>
                  </a:moveTo>
                  <a:lnTo>
                    <a:pt x="2889829" y="0"/>
                  </a:lnTo>
                  <a:lnTo>
                    <a:pt x="2889829" y="2833406"/>
                  </a:lnTo>
                  <a:lnTo>
                    <a:pt x="0" y="2833406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0000"/>
                  </a:srgbClr>
                </a:gs>
                <a:gs pos="100000">
                  <a:srgbClr val="FCE1A5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89829" cy="2871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46584" y="506606"/>
            <a:ext cx="3526582" cy="785415"/>
            <a:chOff x="0" y="0"/>
            <a:chExt cx="928812" cy="2068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812" cy="206858"/>
            </a:xfrm>
            <a:custGeom>
              <a:avLst/>
              <a:gdLst/>
              <a:ahLst/>
              <a:cxnLst/>
              <a:rect r="r" b="b" t="t" l="l"/>
              <a:pathLst>
                <a:path h="206858" w="928812">
                  <a:moveTo>
                    <a:pt x="103429" y="0"/>
                  </a:moveTo>
                  <a:lnTo>
                    <a:pt x="825383" y="0"/>
                  </a:lnTo>
                  <a:cubicBezTo>
                    <a:pt x="882505" y="0"/>
                    <a:pt x="928812" y="46307"/>
                    <a:pt x="928812" y="103429"/>
                  </a:cubicBezTo>
                  <a:lnTo>
                    <a:pt x="928812" y="103429"/>
                  </a:lnTo>
                  <a:cubicBezTo>
                    <a:pt x="928812" y="160552"/>
                    <a:pt x="882505" y="206858"/>
                    <a:pt x="825383" y="206858"/>
                  </a:cubicBezTo>
                  <a:lnTo>
                    <a:pt x="103429" y="206858"/>
                  </a:lnTo>
                  <a:cubicBezTo>
                    <a:pt x="46307" y="206858"/>
                    <a:pt x="0" y="160552"/>
                    <a:pt x="0" y="103429"/>
                  </a:cubicBezTo>
                  <a:lnTo>
                    <a:pt x="0" y="103429"/>
                  </a:lnTo>
                  <a:cubicBezTo>
                    <a:pt x="0" y="46307"/>
                    <a:pt x="46307" y="0"/>
                    <a:pt x="103429" y="0"/>
                  </a:cubicBez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8812" cy="2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5990825" y="605426"/>
            <a:ext cx="0" cy="587775"/>
          </a:xfrm>
          <a:prstGeom prst="line">
            <a:avLst/>
          </a:prstGeom>
          <a:ln cap="flat" w="19050">
            <a:solidFill>
              <a:srgbClr val="F9F8E4"/>
            </a:solidFill>
            <a:prstDash val="sysDash"/>
            <a:headEnd type="none" len="sm" w="sm"/>
            <a:tailEnd type="none" len="sm" w="sm"/>
          </a:ln>
        </p:spPr>
      </p:sp>
      <p:graphicFrame>
        <p:nvGraphicFramePr>
          <p:cNvPr name="Object 13" id="13"/>
          <p:cNvGraphicFramePr/>
          <p:nvPr/>
        </p:nvGraphicFramePr>
        <p:xfrm>
          <a:off x="873765" y="3009942"/>
          <a:ext cx="7543800" cy="5657850"/>
        </p:xfrm>
        <a:graphic>
          <a:graphicData uri="http://schemas.openxmlformats.org/presentationml/2006/ole">
            <p:oleObj imgW="9042400" imgH="71628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873765" y="3581062"/>
            <a:ext cx="9508163" cy="5410579"/>
            <a:chOff x="0" y="0"/>
            <a:chExt cx="2504208" cy="14250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04208" cy="1425009"/>
            </a:xfrm>
            <a:custGeom>
              <a:avLst/>
              <a:gdLst/>
              <a:ahLst/>
              <a:cxnLst/>
              <a:rect r="r" b="b" t="t" l="l"/>
              <a:pathLst>
                <a:path h="1425009" w="2504208">
                  <a:moveTo>
                    <a:pt x="0" y="0"/>
                  </a:moveTo>
                  <a:lnTo>
                    <a:pt x="2504208" y="0"/>
                  </a:lnTo>
                  <a:lnTo>
                    <a:pt x="2504208" y="1425009"/>
                  </a:lnTo>
                  <a:lnTo>
                    <a:pt x="0" y="1425009"/>
                  </a:lnTo>
                  <a:close/>
                </a:path>
              </a:pathLst>
            </a:custGeom>
            <a:gradFill rotWithShape="true">
              <a:gsLst>
                <a:gs pos="0">
                  <a:srgbClr val="D47900">
                    <a:alpha val="24940"/>
                  </a:srgbClr>
                </a:gs>
                <a:gs pos="50000">
                  <a:srgbClr val="FBDC96">
                    <a:alpha val="29000"/>
                  </a:srgbClr>
                </a:gs>
                <a:gs pos="100000">
                  <a:srgbClr val="FFFFFF">
                    <a:alpha val="29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04208" cy="1463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12013575" y="1502158"/>
            <a:ext cx="5157337" cy="5569924"/>
          </a:xfrm>
          <a:custGeom>
            <a:avLst/>
            <a:gdLst/>
            <a:ahLst/>
            <a:cxnLst/>
            <a:rect r="r" b="b" t="t" l="l"/>
            <a:pathLst>
              <a:path h="5569924" w="5157337">
                <a:moveTo>
                  <a:pt x="0" y="0"/>
                </a:moveTo>
                <a:lnTo>
                  <a:pt x="5157338" y="0"/>
                </a:lnTo>
                <a:lnTo>
                  <a:pt x="5157338" y="5569925"/>
                </a:lnTo>
                <a:lnTo>
                  <a:pt x="0" y="5569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068476" y="7178619"/>
            <a:ext cx="6704690" cy="1813023"/>
            <a:chOff x="0" y="0"/>
            <a:chExt cx="1765844" cy="4775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65844" cy="477504"/>
            </a:xfrm>
            <a:custGeom>
              <a:avLst/>
              <a:gdLst/>
              <a:ahLst/>
              <a:cxnLst/>
              <a:rect r="r" b="b" t="t" l="l"/>
              <a:pathLst>
                <a:path h="477504" w="1765844">
                  <a:moveTo>
                    <a:pt x="15011" y="0"/>
                  </a:moveTo>
                  <a:lnTo>
                    <a:pt x="1750833" y="0"/>
                  </a:lnTo>
                  <a:cubicBezTo>
                    <a:pt x="1759124" y="0"/>
                    <a:pt x="1765844" y="6721"/>
                    <a:pt x="1765844" y="15011"/>
                  </a:cubicBezTo>
                  <a:lnTo>
                    <a:pt x="1765844" y="462493"/>
                  </a:lnTo>
                  <a:cubicBezTo>
                    <a:pt x="1765844" y="470783"/>
                    <a:pt x="1759124" y="477504"/>
                    <a:pt x="1750833" y="477504"/>
                  </a:cubicBezTo>
                  <a:lnTo>
                    <a:pt x="15011" y="477504"/>
                  </a:lnTo>
                  <a:cubicBezTo>
                    <a:pt x="6721" y="477504"/>
                    <a:pt x="0" y="470783"/>
                    <a:pt x="0" y="462493"/>
                  </a:cubicBezTo>
                  <a:lnTo>
                    <a:pt x="0" y="15011"/>
                  </a:lnTo>
                  <a:cubicBezTo>
                    <a:pt x="0" y="6721"/>
                    <a:pt x="6721" y="0"/>
                    <a:pt x="1501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65844" cy="515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0400" y="1708452"/>
            <a:ext cx="10418076" cy="1059558"/>
            <a:chOff x="0" y="0"/>
            <a:chExt cx="2743855" cy="2790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43855" cy="279061"/>
            </a:xfrm>
            <a:custGeom>
              <a:avLst/>
              <a:gdLst/>
              <a:ahLst/>
              <a:cxnLst/>
              <a:rect r="r" b="b" t="t" l="l"/>
              <a:pathLst>
                <a:path h="279061" w="2743855">
                  <a:moveTo>
                    <a:pt x="9661" y="0"/>
                  </a:moveTo>
                  <a:lnTo>
                    <a:pt x="2734195" y="0"/>
                  </a:lnTo>
                  <a:cubicBezTo>
                    <a:pt x="2739530" y="0"/>
                    <a:pt x="2743855" y="4325"/>
                    <a:pt x="2743855" y="9661"/>
                  </a:cubicBezTo>
                  <a:lnTo>
                    <a:pt x="2743855" y="269400"/>
                  </a:lnTo>
                  <a:cubicBezTo>
                    <a:pt x="2743855" y="274735"/>
                    <a:pt x="2739530" y="279061"/>
                    <a:pt x="2734195" y="279061"/>
                  </a:cubicBezTo>
                  <a:lnTo>
                    <a:pt x="9661" y="279061"/>
                  </a:lnTo>
                  <a:cubicBezTo>
                    <a:pt x="4325" y="279061"/>
                    <a:pt x="0" y="274735"/>
                    <a:pt x="0" y="269400"/>
                  </a:cubicBezTo>
                  <a:lnTo>
                    <a:pt x="0" y="9661"/>
                  </a:lnTo>
                  <a:cubicBezTo>
                    <a:pt x="0" y="4325"/>
                    <a:pt x="4325" y="0"/>
                    <a:pt x="9661" y="0"/>
                  </a:cubicBezTo>
                  <a:close/>
                </a:path>
              </a:pathLst>
            </a:custGeom>
            <a:solidFill>
              <a:srgbClr val="F5EDA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743855" cy="317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07677" y="173837"/>
            <a:ext cx="11252302" cy="58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1"/>
              </a:lnSpc>
            </a:pPr>
            <a:r>
              <a:rPr lang="en-US" sz="3422" b="true">
                <a:solidFill>
                  <a:srgbClr val="00000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Evaluation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408188" y="537442"/>
            <a:ext cx="1525487" cy="61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TI3094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073792" y="720514"/>
            <a:ext cx="1529957" cy="42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3243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PPST IV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7677" y="816883"/>
            <a:ext cx="5682966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913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Layout Lantai Produksi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64473" y="7380139"/>
            <a:ext cx="6087430" cy="1406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Berdasarkan perban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ingan 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ter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seb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t, layout perbaikan hasil Python paling unggul 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ibandi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ng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 la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yout metode lainnya dengan penurunan OMH </a:t>
            </a:r>
            <a:r>
              <a:rPr lang="en-US" b="true" sz="2000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16.93%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dibandingkan</a:t>
            </a:r>
            <a:r>
              <a:rPr lang="en-US" sz="2000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 baseline.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73765" y="1873084"/>
            <a:ext cx="1000794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Layout initial</a:t>
            </a:r>
            <a:r>
              <a:rPr lang="en-US" sz="1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lantai produksi dievaluasi menggunakan 3 metode yaitu Python, WinQSB, dan CRAFT untuk membandingkan mana yang memberikan </a:t>
            </a:r>
            <a:r>
              <a:rPr lang="en-US" sz="1900" b="true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nilai OMH paling rendah.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05222" y="201321"/>
            <a:ext cx="2874537" cy="610570"/>
            <a:chOff x="0" y="0"/>
            <a:chExt cx="757080" cy="160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7080" cy="160809"/>
            </a:xfrm>
            <a:custGeom>
              <a:avLst/>
              <a:gdLst/>
              <a:ahLst/>
              <a:cxnLst/>
              <a:rect r="r" b="b" t="t" l="l"/>
              <a:pathLst>
                <a:path h="160809" w="757080">
                  <a:moveTo>
                    <a:pt x="0" y="0"/>
                  </a:moveTo>
                  <a:lnTo>
                    <a:pt x="757080" y="0"/>
                  </a:lnTo>
                  <a:lnTo>
                    <a:pt x="757080" y="160809"/>
                  </a:lnTo>
                  <a:lnTo>
                    <a:pt x="0" y="160809"/>
                  </a:lnTo>
                  <a:close/>
                </a:path>
              </a:pathLst>
            </a:custGeom>
            <a:gradFill rotWithShape="true">
              <a:gsLst>
                <a:gs pos="0">
                  <a:srgbClr val="06D1B2">
                    <a:alpha val="100000"/>
                  </a:srgbClr>
                </a:gs>
                <a:gs pos="100000">
                  <a:srgbClr val="006D8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7080" cy="19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93108" y="-19244"/>
            <a:ext cx="12352120" cy="10325489"/>
          </a:xfrm>
          <a:custGeom>
            <a:avLst/>
            <a:gdLst/>
            <a:ahLst/>
            <a:cxnLst/>
            <a:rect r="r" b="b" t="t" l="l"/>
            <a:pathLst>
              <a:path h="10325489" w="12352120">
                <a:moveTo>
                  <a:pt x="0" y="0"/>
                </a:moveTo>
                <a:lnTo>
                  <a:pt x="12352120" y="0"/>
                </a:lnTo>
                <a:lnTo>
                  <a:pt x="12352120" y="10325488"/>
                </a:lnTo>
                <a:lnTo>
                  <a:pt x="0" y="10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33" t="0" r="-1273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83309" y="-275581"/>
            <a:ext cx="10972320" cy="10758087"/>
            <a:chOff x="0" y="0"/>
            <a:chExt cx="2889829" cy="28334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829" cy="2833406"/>
            </a:xfrm>
            <a:custGeom>
              <a:avLst/>
              <a:gdLst/>
              <a:ahLst/>
              <a:cxnLst/>
              <a:rect r="r" b="b" t="t" l="l"/>
              <a:pathLst>
                <a:path h="2833406" w="2889829">
                  <a:moveTo>
                    <a:pt x="0" y="0"/>
                  </a:moveTo>
                  <a:lnTo>
                    <a:pt x="2889829" y="0"/>
                  </a:lnTo>
                  <a:lnTo>
                    <a:pt x="2889829" y="2833406"/>
                  </a:lnTo>
                  <a:lnTo>
                    <a:pt x="0" y="2833406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0000"/>
                  </a:srgbClr>
                </a:gs>
                <a:gs pos="100000">
                  <a:srgbClr val="FCE1A5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89829" cy="2871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5990825" y="605426"/>
            <a:ext cx="0" cy="587775"/>
          </a:xfrm>
          <a:prstGeom prst="line">
            <a:avLst/>
          </a:prstGeom>
          <a:ln cap="flat" w="19050">
            <a:solidFill>
              <a:srgbClr val="F9F8E4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462769" y="201321"/>
            <a:ext cx="3526582" cy="785415"/>
            <a:chOff x="0" y="0"/>
            <a:chExt cx="4702110" cy="104722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702110" cy="1047220"/>
              <a:chOff x="0" y="0"/>
              <a:chExt cx="928812" cy="20685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28812" cy="206858"/>
              </a:xfrm>
              <a:custGeom>
                <a:avLst/>
                <a:gdLst/>
                <a:ahLst/>
                <a:cxnLst/>
                <a:rect r="r" b="b" t="t" l="l"/>
                <a:pathLst>
                  <a:path h="206858" w="928812">
                    <a:moveTo>
                      <a:pt x="103429" y="0"/>
                    </a:moveTo>
                    <a:lnTo>
                      <a:pt x="825383" y="0"/>
                    </a:lnTo>
                    <a:cubicBezTo>
                      <a:pt x="882505" y="0"/>
                      <a:pt x="928812" y="46307"/>
                      <a:pt x="928812" y="103429"/>
                    </a:cubicBezTo>
                    <a:lnTo>
                      <a:pt x="928812" y="103429"/>
                    </a:lnTo>
                    <a:cubicBezTo>
                      <a:pt x="928812" y="160552"/>
                      <a:pt x="882505" y="206858"/>
                      <a:pt x="825383" y="206858"/>
                    </a:cubicBezTo>
                    <a:lnTo>
                      <a:pt x="103429" y="206858"/>
                    </a:lnTo>
                    <a:cubicBezTo>
                      <a:pt x="46307" y="206858"/>
                      <a:pt x="0" y="160552"/>
                      <a:pt x="0" y="103429"/>
                    </a:cubicBezTo>
                    <a:lnTo>
                      <a:pt x="0" y="103429"/>
                    </a:lnTo>
                    <a:cubicBezTo>
                      <a:pt x="0" y="46307"/>
                      <a:pt x="46307" y="0"/>
                      <a:pt x="103429" y="0"/>
                    </a:cubicBezTo>
                    <a:close/>
                  </a:path>
                </a:pathLst>
              </a:custGeom>
              <a:solidFill>
                <a:srgbClr val="003C43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928812" cy="244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15472" y="76039"/>
              <a:ext cx="2033983" cy="790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62"/>
                </a:lnSpc>
              </a:pPr>
              <a:r>
                <a:rPr lang="en-US" sz="3401" b="true">
                  <a:solidFill>
                    <a:srgbClr val="F9F8E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TI3094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436278" y="262986"/>
              <a:ext cx="2039943" cy="5879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51"/>
                </a:lnSpc>
              </a:pPr>
              <a:r>
                <a:rPr lang="en-US" sz="3243" b="true">
                  <a:solidFill>
                    <a:srgbClr val="F9F8E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PPST IV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04164" y="173837"/>
            <a:ext cx="8580629" cy="58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1"/>
              </a:lnSpc>
            </a:pPr>
            <a:r>
              <a:rPr lang="en-US" sz="3422" b="true">
                <a:solidFill>
                  <a:srgbClr val="00000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Analisis Kelayakan Investasi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53999" y="1193201"/>
            <a:ext cx="16780003" cy="2037201"/>
            <a:chOff x="0" y="0"/>
            <a:chExt cx="22373337" cy="271626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63992"/>
              <a:ext cx="5120640" cy="2590527"/>
              <a:chOff x="0" y="0"/>
              <a:chExt cx="1011484" cy="51170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11484" cy="511709"/>
              </a:xfrm>
              <a:custGeom>
                <a:avLst/>
                <a:gdLst/>
                <a:ahLst/>
                <a:cxnLst/>
                <a:rect r="r" b="b" t="t" l="l"/>
                <a:pathLst>
                  <a:path h="511709" w="1011484">
                    <a:moveTo>
                      <a:pt x="0" y="0"/>
                    </a:moveTo>
                    <a:lnTo>
                      <a:pt x="1011484" y="0"/>
                    </a:lnTo>
                    <a:lnTo>
                      <a:pt x="1011484" y="511709"/>
                    </a:lnTo>
                    <a:lnTo>
                      <a:pt x="0" y="511709"/>
                    </a:lnTo>
                    <a:close/>
                  </a:path>
                </a:pathLst>
              </a:custGeom>
              <a:solidFill>
                <a:srgbClr val="F5EDA6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1011484" cy="5688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07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5120640" cy="127985"/>
              <a:chOff x="0" y="0"/>
              <a:chExt cx="5120640" cy="12798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120640" cy="127985"/>
              </a:xfrm>
              <a:custGeom>
                <a:avLst/>
                <a:gdLst/>
                <a:ahLst/>
                <a:cxnLst/>
                <a:rect r="r" b="b" t="t" l="l"/>
                <a:pathLst>
                  <a:path h="127985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27985"/>
                    </a:lnTo>
                    <a:lnTo>
                      <a:pt x="0" y="127985"/>
                    </a:lnTo>
                    <a:close/>
                  </a:path>
                </a:pathLst>
              </a:custGeom>
              <a:solidFill>
                <a:srgbClr val="F59E0B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1871583"/>
              <a:ext cx="5120640" cy="639925"/>
              <a:chOff x="0" y="0"/>
              <a:chExt cx="5120640" cy="63992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120640" cy="639925"/>
              </a:xfrm>
              <a:custGeom>
                <a:avLst/>
                <a:gdLst/>
                <a:ahLst/>
                <a:cxnLst/>
                <a:rect r="r" b="b" t="t" l="l"/>
                <a:pathLst>
                  <a:path h="639925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639925"/>
                    </a:lnTo>
                    <a:lnTo>
                      <a:pt x="0" y="63992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8761" r="0" b="-113074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9525"/>
                <a:ext cx="5120640" cy="6494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gradFill>
                      <a:gsLst>
                        <a:gs pos="0">
                          <a:srgbClr val="0150C8">
                            <a:alpha val="100000"/>
                          </a:srgbClr>
                        </a:gs>
                        <a:gs pos="100000">
                          <a:srgbClr val="02101B">
                            <a:alpha val="100000"/>
                          </a:srgbClr>
                        </a:gs>
                      </a:gsLst>
                      <a:lin ang="0"/>
                    </a:gradFill>
                    <a:latin typeface="Inter Bold"/>
                    <a:ea typeface="Inter Bold"/>
                    <a:cs typeface="Inter Bold"/>
                    <a:sym typeface="Inter Bold"/>
                  </a:rPr>
                  <a:t>Total Investasi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5730240" y="61748"/>
              <a:ext cx="5120640" cy="2592771"/>
              <a:chOff x="0" y="0"/>
              <a:chExt cx="1011484" cy="51215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11484" cy="512152"/>
              </a:xfrm>
              <a:custGeom>
                <a:avLst/>
                <a:gdLst/>
                <a:ahLst/>
                <a:cxnLst/>
                <a:rect r="r" b="b" t="t" l="l"/>
                <a:pathLst>
                  <a:path h="512152" w="1011484">
                    <a:moveTo>
                      <a:pt x="0" y="0"/>
                    </a:moveTo>
                    <a:lnTo>
                      <a:pt x="1011484" y="0"/>
                    </a:lnTo>
                    <a:lnTo>
                      <a:pt x="1011484" y="512152"/>
                    </a:lnTo>
                    <a:lnTo>
                      <a:pt x="0" y="512152"/>
                    </a:lnTo>
                    <a:close/>
                  </a:path>
                </a:pathLst>
              </a:custGeom>
              <a:solidFill>
                <a:srgbClr val="F5EDA6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1011484" cy="5693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07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5730240" y="0"/>
              <a:ext cx="5120640" cy="123497"/>
              <a:chOff x="0" y="0"/>
              <a:chExt cx="5120640" cy="12349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5120640" cy="123497"/>
              </a:xfrm>
              <a:custGeom>
                <a:avLst/>
                <a:gdLst/>
                <a:ahLst/>
                <a:cxnLst/>
                <a:rect r="r" b="b" t="t" l="l"/>
                <a:pathLst>
                  <a:path h="123497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23497"/>
                    </a:lnTo>
                    <a:lnTo>
                      <a:pt x="0" y="123497"/>
                    </a:lnTo>
                    <a:close/>
                  </a:path>
                </a:pathLst>
              </a:custGeom>
              <a:solidFill>
                <a:srgbClr val="F59E0B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5730240" y="1894024"/>
              <a:ext cx="5120640" cy="617483"/>
              <a:chOff x="0" y="0"/>
              <a:chExt cx="5120640" cy="61748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120640" cy="617483"/>
              </a:xfrm>
              <a:custGeom>
                <a:avLst/>
                <a:gdLst/>
                <a:ahLst/>
                <a:cxnLst/>
                <a:rect r="r" b="b" t="t" l="l"/>
                <a:pathLst>
                  <a:path h="617483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617483"/>
                    </a:lnTo>
                    <a:lnTo>
                      <a:pt x="0" y="617483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02350" r="0" b="-120818"/>
                </a:stretch>
              </a:blip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9525"/>
                <a:ext cx="5120640" cy="62700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gradFill>
                      <a:gsLst>
                        <a:gs pos="0">
                          <a:srgbClr val="0150C8">
                            <a:alpha val="100000"/>
                          </a:srgbClr>
                        </a:gs>
                        <a:gs pos="100000">
                          <a:srgbClr val="02101B">
                            <a:alpha val="100000"/>
                          </a:srgbClr>
                        </a:gs>
                      </a:gsLst>
                      <a:lin ang="0"/>
                    </a:gradFill>
                    <a:latin typeface="Inter Bold"/>
                    <a:ea typeface="Inter Bold"/>
                    <a:cs typeface="Inter Bold"/>
                    <a:sym typeface="Inter Bold"/>
                  </a:rPr>
                  <a:t>Demand/Tahun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1460480" y="123497"/>
              <a:ext cx="5120640" cy="2592771"/>
              <a:chOff x="0" y="0"/>
              <a:chExt cx="1011484" cy="51215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11484" cy="512152"/>
              </a:xfrm>
              <a:custGeom>
                <a:avLst/>
                <a:gdLst/>
                <a:ahLst/>
                <a:cxnLst/>
                <a:rect r="r" b="b" t="t" l="l"/>
                <a:pathLst>
                  <a:path h="512152" w="1011484">
                    <a:moveTo>
                      <a:pt x="0" y="0"/>
                    </a:moveTo>
                    <a:lnTo>
                      <a:pt x="1011484" y="0"/>
                    </a:lnTo>
                    <a:lnTo>
                      <a:pt x="1011484" y="512152"/>
                    </a:lnTo>
                    <a:lnTo>
                      <a:pt x="0" y="512152"/>
                    </a:lnTo>
                    <a:close/>
                  </a:path>
                </a:pathLst>
              </a:custGeom>
              <a:solidFill>
                <a:srgbClr val="F5EDA6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1011484" cy="5693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07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1460480" y="0"/>
              <a:ext cx="5120640" cy="127985"/>
              <a:chOff x="0" y="0"/>
              <a:chExt cx="5120640" cy="12798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5120640" cy="127985"/>
              </a:xfrm>
              <a:custGeom>
                <a:avLst/>
                <a:gdLst/>
                <a:ahLst/>
                <a:cxnLst/>
                <a:rect r="r" b="b" t="t" l="l"/>
                <a:pathLst>
                  <a:path h="127985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27985"/>
                    </a:lnTo>
                    <a:lnTo>
                      <a:pt x="0" y="127985"/>
                    </a:lnTo>
                    <a:close/>
                  </a:path>
                </a:pathLst>
              </a:custGeom>
              <a:solidFill>
                <a:srgbClr val="F59E0B"/>
              </a:soli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11460480" y="1882804"/>
              <a:ext cx="5120640" cy="639925"/>
              <a:chOff x="0" y="0"/>
              <a:chExt cx="5120640" cy="639925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5120640" cy="639925"/>
              </a:xfrm>
              <a:custGeom>
                <a:avLst/>
                <a:gdLst/>
                <a:ahLst/>
                <a:cxnLst/>
                <a:rect r="r" b="b" t="t" l="l"/>
                <a:pathLst>
                  <a:path h="639925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639925"/>
                    </a:lnTo>
                    <a:lnTo>
                      <a:pt x="0" y="63992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8761" r="0" b="-113074"/>
                </a:stretch>
              </a:blip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5120640" cy="6494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gradFill>
                      <a:gsLst>
                        <a:gs pos="0">
                          <a:srgbClr val="0150C8">
                            <a:alpha val="100000"/>
                          </a:srgbClr>
                        </a:gs>
                        <a:gs pos="100000">
                          <a:srgbClr val="02101B">
                            <a:alpha val="100000"/>
                          </a:srgbClr>
                        </a:gs>
                      </a:gsLst>
                      <a:lin ang="0"/>
                    </a:gradFill>
                    <a:latin typeface="Inter Bold"/>
                    <a:ea typeface="Inter Bold"/>
                    <a:cs typeface="Inter Bold"/>
                    <a:sym typeface="Inter Bold"/>
                  </a:rPr>
                  <a:t>Harga Jual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7190720" y="123497"/>
              <a:ext cx="5120640" cy="2592771"/>
              <a:chOff x="0" y="0"/>
              <a:chExt cx="1011484" cy="512152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011484" cy="512152"/>
              </a:xfrm>
              <a:custGeom>
                <a:avLst/>
                <a:gdLst/>
                <a:ahLst/>
                <a:cxnLst/>
                <a:rect r="r" b="b" t="t" l="l"/>
                <a:pathLst>
                  <a:path h="512152" w="1011484">
                    <a:moveTo>
                      <a:pt x="0" y="0"/>
                    </a:moveTo>
                    <a:lnTo>
                      <a:pt x="1011484" y="0"/>
                    </a:lnTo>
                    <a:lnTo>
                      <a:pt x="1011484" y="512152"/>
                    </a:lnTo>
                    <a:lnTo>
                      <a:pt x="0" y="512152"/>
                    </a:lnTo>
                    <a:close/>
                  </a:path>
                </a:pathLst>
              </a:custGeom>
              <a:solidFill>
                <a:srgbClr val="F5EDA6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57150"/>
                <a:ext cx="1011484" cy="5693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07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7190720" y="0"/>
              <a:ext cx="5120640" cy="127985"/>
              <a:chOff x="0" y="0"/>
              <a:chExt cx="5120640" cy="127985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5120640" cy="127985"/>
              </a:xfrm>
              <a:custGeom>
                <a:avLst/>
                <a:gdLst/>
                <a:ahLst/>
                <a:cxnLst/>
                <a:rect r="r" b="b" t="t" l="l"/>
                <a:pathLst>
                  <a:path h="127985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27985"/>
                    </a:lnTo>
                    <a:lnTo>
                      <a:pt x="0" y="127985"/>
                    </a:lnTo>
                    <a:close/>
                  </a:path>
                </a:pathLst>
              </a:custGeom>
              <a:solidFill>
                <a:srgbClr val="F59E0B"/>
              </a:solidFill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17252697" y="1882804"/>
              <a:ext cx="5120640" cy="639925"/>
              <a:chOff x="0" y="0"/>
              <a:chExt cx="5120640" cy="639925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5120640" cy="639925"/>
              </a:xfrm>
              <a:custGeom>
                <a:avLst/>
                <a:gdLst/>
                <a:ahLst/>
                <a:cxnLst/>
                <a:rect r="r" b="b" t="t" l="l"/>
                <a:pathLst>
                  <a:path h="639925" w="512064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639925"/>
                    </a:lnTo>
                    <a:lnTo>
                      <a:pt x="0" y="63992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98761" r="0" b="-113074"/>
                </a:stretch>
              </a:blip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9525"/>
                <a:ext cx="5120640" cy="6494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gradFill>
                      <a:gsLst>
                        <a:gs pos="0">
                          <a:srgbClr val="0150C8">
                            <a:alpha val="100000"/>
                          </a:srgbClr>
                        </a:gs>
                        <a:gs pos="100000">
                          <a:srgbClr val="02101B">
                            <a:alpha val="100000"/>
                          </a:srgbClr>
                        </a:gs>
                      </a:gsLst>
                      <a:lin ang="0"/>
                    </a:gradFill>
                    <a:latin typeface="Inter Bold"/>
                    <a:ea typeface="Inter Bold"/>
                    <a:cs typeface="Inter Bold"/>
                    <a:sym typeface="Inter Bold"/>
                  </a:rPr>
                  <a:t>Revenue/Tahun</a:t>
                </a: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437611" y="435960"/>
              <a:ext cx="4245418" cy="1108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84"/>
                </a:lnSpc>
              </a:pPr>
              <a:r>
                <a:rPr lang="en-US" sz="5060" b="true">
                  <a:solidFill>
                    <a:srgbClr val="014CB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Rp22,15M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6167851" y="517872"/>
              <a:ext cx="4245418" cy="15235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sz="5060" b="true">
                  <a:solidFill>
                    <a:srgbClr val="014CB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29.538 unit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11679285" y="867122"/>
              <a:ext cx="4683029" cy="8250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sz="5060" b="true">
                  <a:solidFill>
                    <a:srgbClr val="014CB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Rp667.890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7409525" y="867122"/>
              <a:ext cx="4683029" cy="8250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sz="5060" b="true">
                  <a:solidFill>
                    <a:srgbClr val="014CB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Rp19,72M</a:t>
              </a:r>
            </a:p>
          </p:txBody>
        </p:sp>
      </p:grpSp>
      <p:pic>
        <p:nvPicPr>
          <p:cNvPr name="Picture 54" id="5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20635" y="3172744"/>
            <a:ext cx="3150706" cy="4000367"/>
          </a:xfrm>
          <a:prstGeom prst="rect">
            <a:avLst/>
          </a:prstGeom>
        </p:spPr>
      </p:pic>
      <p:sp>
        <p:nvSpPr>
          <p:cNvPr name="AutoShape 55" id="55"/>
          <p:cNvSpPr/>
          <p:nvPr/>
        </p:nvSpPr>
        <p:spPr>
          <a:xfrm>
            <a:off x="2392553" y="4635767"/>
            <a:ext cx="162278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56" id="56"/>
          <p:cNvSpPr/>
          <p:nvPr/>
        </p:nvSpPr>
        <p:spPr>
          <a:xfrm>
            <a:off x="2392553" y="6406541"/>
            <a:ext cx="1622784" cy="0"/>
          </a:xfrm>
          <a:prstGeom prst="line">
            <a:avLst/>
          </a:prstGeom>
          <a:ln cap="flat" w="38100">
            <a:solidFill>
              <a:srgbClr val="F59E0B"/>
            </a:solidFill>
            <a:prstDash val="solid"/>
            <a:headEnd type="oval" len="lg" w="lg"/>
            <a:tailEnd type="oval" len="lg" w="lg"/>
          </a:ln>
        </p:spPr>
      </p:sp>
      <p:pic>
        <p:nvPicPr>
          <p:cNvPr name="Picture 57" id="5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06141" y="3330012"/>
            <a:ext cx="2900736" cy="3948184"/>
          </a:xfrm>
          <a:prstGeom prst="rect">
            <a:avLst/>
          </a:prstGeom>
        </p:spPr>
      </p:pic>
      <p:sp>
        <p:nvSpPr>
          <p:cNvPr name="TextBox 58" id="58"/>
          <p:cNvSpPr txBox="true"/>
          <p:nvPr/>
        </p:nvSpPr>
        <p:spPr>
          <a:xfrm rot="0">
            <a:off x="5294903" y="4342216"/>
            <a:ext cx="1437561" cy="71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6"/>
              </a:lnSpc>
            </a:pPr>
            <a:r>
              <a:rPr lang="en-US" sz="2435" b="true">
                <a:solidFill>
                  <a:srgbClr val="034C4D"/>
                </a:solidFill>
                <a:latin typeface="Inter Bold"/>
                <a:ea typeface="Inter Bold"/>
                <a:cs typeface="Inter Bold"/>
                <a:sym typeface="Inter Bold"/>
              </a:rPr>
              <a:t>Modal Sendiri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38977" y="6069903"/>
            <a:ext cx="1520693" cy="67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9"/>
              </a:lnSpc>
            </a:pPr>
            <a:r>
              <a:rPr lang="en-US" sz="2435" b="true">
                <a:solidFill>
                  <a:srgbClr val="034C4D"/>
                </a:solidFill>
                <a:latin typeface="Inter Bold"/>
                <a:ea typeface="Inter Bold"/>
                <a:cs typeface="Inter Bold"/>
                <a:sym typeface="Inter Bold"/>
              </a:rPr>
              <a:t>Modal Pinjaman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134803" y="4325019"/>
            <a:ext cx="1306735" cy="64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7"/>
              </a:lnSpc>
            </a:pPr>
            <a:r>
              <a:rPr lang="en-US" sz="3833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30%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134803" y="6050418"/>
            <a:ext cx="1306735" cy="64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7"/>
              </a:lnSpc>
            </a:pPr>
            <a:r>
              <a:rPr lang="en-US" sz="3833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70%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869477" y="4242634"/>
            <a:ext cx="2292501" cy="1370216"/>
            <a:chOff x="0" y="0"/>
            <a:chExt cx="3056668" cy="182695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56668" cy="1826955"/>
            </a:xfrm>
            <a:custGeom>
              <a:avLst/>
              <a:gdLst/>
              <a:ahLst/>
              <a:cxnLst/>
              <a:rect r="r" b="b" t="t" l="l"/>
              <a:pathLst>
                <a:path h="1826955" w="3056668">
                  <a:moveTo>
                    <a:pt x="697026" y="0"/>
                  </a:moveTo>
                  <a:lnTo>
                    <a:pt x="2359642" y="0"/>
                  </a:lnTo>
                  <a:cubicBezTo>
                    <a:pt x="2744599" y="0"/>
                    <a:pt x="3056668" y="312069"/>
                    <a:pt x="3056668" y="697026"/>
                  </a:cubicBezTo>
                  <a:lnTo>
                    <a:pt x="3056668" y="1129929"/>
                  </a:lnTo>
                  <a:cubicBezTo>
                    <a:pt x="3056668" y="1514886"/>
                    <a:pt x="2744599" y="1826955"/>
                    <a:pt x="2359642" y="1826955"/>
                  </a:cubicBezTo>
                  <a:lnTo>
                    <a:pt x="697026" y="1826955"/>
                  </a:lnTo>
                  <a:cubicBezTo>
                    <a:pt x="312069" y="1826955"/>
                    <a:pt x="0" y="1514886"/>
                    <a:pt x="0" y="1129929"/>
                  </a:cubicBezTo>
                  <a:lnTo>
                    <a:pt x="0" y="697026"/>
                  </a:lnTo>
                  <a:cubicBezTo>
                    <a:pt x="0" y="312069"/>
                    <a:pt x="312069" y="0"/>
                    <a:pt x="697026" y="0"/>
                  </a:cubicBezTo>
                  <a:close/>
                </a:path>
              </a:pathLst>
            </a:custGeom>
            <a:solidFill>
              <a:srgbClr val="D9F1F1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869477" y="4258793"/>
            <a:ext cx="2300775" cy="797309"/>
            <a:chOff x="0" y="0"/>
            <a:chExt cx="3067700" cy="106307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067700" cy="1063079"/>
            </a:xfrm>
            <a:custGeom>
              <a:avLst/>
              <a:gdLst/>
              <a:ahLst/>
              <a:cxnLst/>
              <a:rect r="r" b="b" t="t" l="l"/>
              <a:pathLst>
                <a:path h="1063079" w="3067700">
                  <a:moveTo>
                    <a:pt x="452245" y="0"/>
                  </a:moveTo>
                  <a:lnTo>
                    <a:pt x="2615455" y="0"/>
                  </a:lnTo>
                  <a:cubicBezTo>
                    <a:pt x="2735398" y="0"/>
                    <a:pt x="2850428" y="47647"/>
                    <a:pt x="2935241" y="132459"/>
                  </a:cubicBezTo>
                  <a:cubicBezTo>
                    <a:pt x="3020053" y="217272"/>
                    <a:pt x="3067700" y="332302"/>
                    <a:pt x="3067700" y="452245"/>
                  </a:cubicBezTo>
                  <a:lnTo>
                    <a:pt x="3067700" y="610834"/>
                  </a:lnTo>
                  <a:cubicBezTo>
                    <a:pt x="3067700" y="860602"/>
                    <a:pt x="2865223" y="1063079"/>
                    <a:pt x="2615455" y="1063079"/>
                  </a:cubicBezTo>
                  <a:lnTo>
                    <a:pt x="452245" y="1063079"/>
                  </a:lnTo>
                  <a:cubicBezTo>
                    <a:pt x="202477" y="1063079"/>
                    <a:pt x="0" y="860602"/>
                    <a:pt x="0" y="610834"/>
                  </a:cubicBezTo>
                  <a:lnTo>
                    <a:pt x="0" y="452245"/>
                  </a:lnTo>
                  <a:cubicBezTo>
                    <a:pt x="0" y="202477"/>
                    <a:pt x="202477" y="0"/>
                    <a:pt x="452245" y="0"/>
                  </a:cubicBezTo>
                  <a:close/>
                </a:path>
              </a:pathLst>
            </a:custGeom>
            <a:solidFill>
              <a:srgbClr val="D9F1F1">
                <a:alpha val="0"/>
              </a:srgbClr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3067700" cy="1063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Capital Investment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837469" y="5075503"/>
            <a:ext cx="2332783" cy="457200"/>
            <a:chOff x="0" y="0"/>
            <a:chExt cx="3110377" cy="609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110377" cy="609600"/>
            </a:xfrm>
            <a:custGeom>
              <a:avLst/>
              <a:gdLst/>
              <a:ahLst/>
              <a:cxnLst/>
              <a:rect r="r" b="b" t="t" l="l"/>
              <a:pathLst>
                <a:path h="609600" w="3110377">
                  <a:moveTo>
                    <a:pt x="304800" y="0"/>
                  </a:moveTo>
                  <a:lnTo>
                    <a:pt x="2805577" y="0"/>
                  </a:lnTo>
                  <a:cubicBezTo>
                    <a:pt x="2886415" y="0"/>
                    <a:pt x="2963942" y="32113"/>
                    <a:pt x="3021103" y="89274"/>
                  </a:cubicBezTo>
                  <a:cubicBezTo>
                    <a:pt x="3078264" y="146435"/>
                    <a:pt x="3110377" y="223962"/>
                    <a:pt x="3110377" y="304800"/>
                  </a:cubicBezTo>
                  <a:lnTo>
                    <a:pt x="3110377" y="304800"/>
                  </a:lnTo>
                  <a:cubicBezTo>
                    <a:pt x="3110377" y="473136"/>
                    <a:pt x="2973914" y="609600"/>
                    <a:pt x="2805577" y="609600"/>
                  </a:cubicBezTo>
                  <a:lnTo>
                    <a:pt x="304800" y="609600"/>
                  </a:lnTo>
                  <a:cubicBezTo>
                    <a:pt x="136464" y="609600"/>
                    <a:pt x="0" y="473136"/>
                    <a:pt x="0" y="3048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D9F1F1">
                <a:alpha val="0"/>
              </a:srgbClr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3110377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Rp9.800.642.406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617732" y="4242634"/>
            <a:ext cx="2259875" cy="1370216"/>
            <a:chOff x="0" y="0"/>
            <a:chExt cx="3013167" cy="182695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013166" cy="1826955"/>
            </a:xfrm>
            <a:custGeom>
              <a:avLst/>
              <a:gdLst/>
              <a:ahLst/>
              <a:cxnLst/>
              <a:rect r="r" b="b" t="t" l="l"/>
              <a:pathLst>
                <a:path h="1826955" w="3013166">
                  <a:moveTo>
                    <a:pt x="707089" y="0"/>
                  </a:moveTo>
                  <a:lnTo>
                    <a:pt x="2306078" y="0"/>
                  </a:lnTo>
                  <a:cubicBezTo>
                    <a:pt x="2696592" y="0"/>
                    <a:pt x="3013166" y="316574"/>
                    <a:pt x="3013166" y="707089"/>
                  </a:cubicBezTo>
                  <a:lnTo>
                    <a:pt x="3013166" y="1119866"/>
                  </a:lnTo>
                  <a:cubicBezTo>
                    <a:pt x="3013166" y="1510380"/>
                    <a:pt x="2696592" y="1826955"/>
                    <a:pt x="2306078" y="1826955"/>
                  </a:cubicBezTo>
                  <a:lnTo>
                    <a:pt x="707089" y="1826955"/>
                  </a:lnTo>
                  <a:cubicBezTo>
                    <a:pt x="316574" y="1826955"/>
                    <a:pt x="0" y="1510380"/>
                    <a:pt x="0" y="1119866"/>
                  </a:cubicBezTo>
                  <a:lnTo>
                    <a:pt x="0" y="707089"/>
                  </a:lnTo>
                  <a:cubicBezTo>
                    <a:pt x="0" y="316574"/>
                    <a:pt x="316574" y="0"/>
                    <a:pt x="707089" y="0"/>
                  </a:cubicBezTo>
                  <a:close/>
                </a:path>
              </a:pathLst>
            </a:custGeom>
            <a:solidFill>
              <a:srgbClr val="D9F1F1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724386" y="4282486"/>
            <a:ext cx="2046567" cy="797309"/>
            <a:chOff x="0" y="0"/>
            <a:chExt cx="2728756" cy="106307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728756" cy="1063079"/>
            </a:xfrm>
            <a:custGeom>
              <a:avLst/>
              <a:gdLst/>
              <a:ahLst/>
              <a:cxnLst/>
              <a:rect r="r" b="b" t="t" l="l"/>
              <a:pathLst>
                <a:path h="1063079" w="2728756">
                  <a:moveTo>
                    <a:pt x="508419" y="0"/>
                  </a:moveTo>
                  <a:lnTo>
                    <a:pt x="2220336" y="0"/>
                  </a:lnTo>
                  <a:cubicBezTo>
                    <a:pt x="2355177" y="0"/>
                    <a:pt x="2484496" y="53565"/>
                    <a:pt x="2579843" y="148913"/>
                  </a:cubicBezTo>
                  <a:cubicBezTo>
                    <a:pt x="2675190" y="244260"/>
                    <a:pt x="2728756" y="373578"/>
                    <a:pt x="2728756" y="508419"/>
                  </a:cubicBezTo>
                  <a:lnTo>
                    <a:pt x="2728756" y="554660"/>
                  </a:lnTo>
                  <a:cubicBezTo>
                    <a:pt x="2728756" y="689501"/>
                    <a:pt x="2675190" y="818819"/>
                    <a:pt x="2579843" y="914167"/>
                  </a:cubicBezTo>
                  <a:cubicBezTo>
                    <a:pt x="2484496" y="1009514"/>
                    <a:pt x="2355177" y="1063079"/>
                    <a:pt x="2220336" y="1063079"/>
                  </a:cubicBezTo>
                  <a:lnTo>
                    <a:pt x="508419" y="1063079"/>
                  </a:lnTo>
                  <a:cubicBezTo>
                    <a:pt x="373578" y="1063079"/>
                    <a:pt x="244260" y="1009514"/>
                    <a:pt x="148913" y="914167"/>
                  </a:cubicBezTo>
                  <a:cubicBezTo>
                    <a:pt x="53565" y="818819"/>
                    <a:pt x="0" y="689501"/>
                    <a:pt x="0" y="554660"/>
                  </a:cubicBezTo>
                  <a:lnTo>
                    <a:pt x="0" y="508419"/>
                  </a:lnTo>
                  <a:cubicBezTo>
                    <a:pt x="0" y="373578"/>
                    <a:pt x="53565" y="244260"/>
                    <a:pt x="148913" y="148913"/>
                  </a:cubicBezTo>
                  <a:cubicBezTo>
                    <a:pt x="244260" y="53565"/>
                    <a:pt x="373578" y="0"/>
                    <a:pt x="508419" y="0"/>
                  </a:cubicBezTo>
                  <a:close/>
                </a:path>
              </a:pathLst>
            </a:custGeom>
            <a:solidFill>
              <a:srgbClr val="D9F1F1">
                <a:alpha val="0"/>
              </a:srgbClr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2728756" cy="1063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Inventory Value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685869" y="5056102"/>
            <a:ext cx="2123601" cy="457200"/>
            <a:chOff x="0" y="0"/>
            <a:chExt cx="2831468" cy="609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831467" cy="609600"/>
            </a:xfrm>
            <a:custGeom>
              <a:avLst/>
              <a:gdLst/>
              <a:ahLst/>
              <a:cxnLst/>
              <a:rect r="r" b="b" t="t" l="l"/>
              <a:pathLst>
                <a:path h="609600" w="2831467">
                  <a:moveTo>
                    <a:pt x="304800" y="0"/>
                  </a:moveTo>
                  <a:lnTo>
                    <a:pt x="2526667" y="0"/>
                  </a:lnTo>
                  <a:cubicBezTo>
                    <a:pt x="2695004" y="0"/>
                    <a:pt x="2831467" y="136464"/>
                    <a:pt x="2831467" y="304800"/>
                  </a:cubicBezTo>
                  <a:lnTo>
                    <a:pt x="2831467" y="304800"/>
                  </a:lnTo>
                  <a:cubicBezTo>
                    <a:pt x="2831467" y="385638"/>
                    <a:pt x="2799355" y="463165"/>
                    <a:pt x="2742194" y="520326"/>
                  </a:cubicBezTo>
                  <a:cubicBezTo>
                    <a:pt x="2685033" y="577487"/>
                    <a:pt x="2607506" y="609600"/>
                    <a:pt x="2526667" y="609600"/>
                  </a:cubicBezTo>
                  <a:lnTo>
                    <a:pt x="304800" y="609600"/>
                  </a:lnTo>
                  <a:cubicBezTo>
                    <a:pt x="136464" y="609600"/>
                    <a:pt x="0" y="473136"/>
                    <a:pt x="0" y="3048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D9F1F1">
                <a:alpha val="0"/>
              </a:srgbClr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2831468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Rp6.637.310.060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5313220" y="4258793"/>
            <a:ext cx="2289443" cy="1354058"/>
            <a:chOff x="0" y="0"/>
            <a:chExt cx="3052591" cy="180541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052591" cy="1805410"/>
            </a:xfrm>
            <a:custGeom>
              <a:avLst/>
              <a:gdLst/>
              <a:ahLst/>
              <a:cxnLst/>
              <a:rect r="r" b="b" t="t" l="l"/>
              <a:pathLst>
                <a:path h="1805410" w="3052591">
                  <a:moveTo>
                    <a:pt x="697957" y="0"/>
                  </a:moveTo>
                  <a:lnTo>
                    <a:pt x="2354634" y="0"/>
                  </a:lnTo>
                  <a:cubicBezTo>
                    <a:pt x="2740105" y="0"/>
                    <a:pt x="3052591" y="312486"/>
                    <a:pt x="3052591" y="697957"/>
                  </a:cubicBezTo>
                  <a:lnTo>
                    <a:pt x="3052591" y="1107453"/>
                  </a:lnTo>
                  <a:cubicBezTo>
                    <a:pt x="3052591" y="1492924"/>
                    <a:pt x="2740105" y="1805410"/>
                    <a:pt x="2354634" y="1805410"/>
                  </a:cubicBezTo>
                  <a:lnTo>
                    <a:pt x="697957" y="1805410"/>
                  </a:lnTo>
                  <a:cubicBezTo>
                    <a:pt x="312486" y="1805410"/>
                    <a:pt x="0" y="1492924"/>
                    <a:pt x="0" y="1107453"/>
                  </a:cubicBezTo>
                  <a:lnTo>
                    <a:pt x="0" y="697957"/>
                  </a:lnTo>
                  <a:cubicBezTo>
                    <a:pt x="0" y="312486"/>
                    <a:pt x="312486" y="0"/>
                    <a:pt x="697957" y="0"/>
                  </a:cubicBezTo>
                  <a:close/>
                </a:path>
              </a:pathLst>
            </a:custGeom>
            <a:solidFill>
              <a:srgbClr val="D9F1F1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5417995" y="4306154"/>
            <a:ext cx="2079893" cy="797309"/>
            <a:chOff x="0" y="0"/>
            <a:chExt cx="2773191" cy="106307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773191" cy="1063079"/>
            </a:xfrm>
            <a:custGeom>
              <a:avLst/>
              <a:gdLst/>
              <a:ahLst/>
              <a:cxnLst/>
              <a:rect r="r" b="b" t="t" l="l"/>
              <a:pathLst>
                <a:path h="1063079" w="2773191">
                  <a:moveTo>
                    <a:pt x="500273" y="0"/>
                  </a:moveTo>
                  <a:lnTo>
                    <a:pt x="2272918" y="0"/>
                  </a:lnTo>
                  <a:cubicBezTo>
                    <a:pt x="2549211" y="0"/>
                    <a:pt x="2773191" y="223980"/>
                    <a:pt x="2773191" y="500273"/>
                  </a:cubicBezTo>
                  <a:lnTo>
                    <a:pt x="2773191" y="562806"/>
                  </a:lnTo>
                  <a:cubicBezTo>
                    <a:pt x="2773191" y="695487"/>
                    <a:pt x="2720484" y="822733"/>
                    <a:pt x="2626664" y="916553"/>
                  </a:cubicBezTo>
                  <a:cubicBezTo>
                    <a:pt x="2532845" y="1010372"/>
                    <a:pt x="2405599" y="1063079"/>
                    <a:pt x="2272918" y="1063079"/>
                  </a:cubicBezTo>
                  <a:lnTo>
                    <a:pt x="500273" y="1063079"/>
                  </a:lnTo>
                  <a:cubicBezTo>
                    <a:pt x="367592" y="1063079"/>
                    <a:pt x="240346" y="1010372"/>
                    <a:pt x="146527" y="916553"/>
                  </a:cubicBezTo>
                  <a:cubicBezTo>
                    <a:pt x="52707" y="822733"/>
                    <a:pt x="0" y="695487"/>
                    <a:pt x="0" y="562806"/>
                  </a:cubicBezTo>
                  <a:lnTo>
                    <a:pt x="0" y="500273"/>
                  </a:lnTo>
                  <a:cubicBezTo>
                    <a:pt x="0" y="367592"/>
                    <a:pt x="52707" y="240346"/>
                    <a:pt x="146527" y="146527"/>
                  </a:cubicBezTo>
                  <a:cubicBezTo>
                    <a:pt x="240346" y="52707"/>
                    <a:pt x="367592" y="0"/>
                    <a:pt x="500273" y="0"/>
                  </a:cubicBezTo>
                  <a:close/>
                </a:path>
              </a:pathLst>
            </a:custGeom>
            <a:solidFill>
              <a:srgbClr val="D9F1F1">
                <a:alpha val="0"/>
              </a:srgbClr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2773191" cy="1063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Salaries &amp; Wages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5430057" y="5063445"/>
            <a:ext cx="2115456" cy="457200"/>
            <a:chOff x="0" y="0"/>
            <a:chExt cx="2820608" cy="609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820608" cy="609600"/>
            </a:xfrm>
            <a:custGeom>
              <a:avLst/>
              <a:gdLst/>
              <a:ahLst/>
              <a:cxnLst/>
              <a:rect r="r" b="b" t="t" l="l"/>
              <a:pathLst>
                <a:path h="609600" w="2820608">
                  <a:moveTo>
                    <a:pt x="304800" y="0"/>
                  </a:moveTo>
                  <a:lnTo>
                    <a:pt x="2515808" y="0"/>
                  </a:lnTo>
                  <a:cubicBezTo>
                    <a:pt x="2596646" y="0"/>
                    <a:pt x="2674173" y="32113"/>
                    <a:pt x="2731334" y="89274"/>
                  </a:cubicBezTo>
                  <a:cubicBezTo>
                    <a:pt x="2788495" y="146435"/>
                    <a:pt x="2820608" y="223962"/>
                    <a:pt x="2820608" y="304800"/>
                  </a:cubicBezTo>
                  <a:lnTo>
                    <a:pt x="2820608" y="304800"/>
                  </a:lnTo>
                  <a:cubicBezTo>
                    <a:pt x="2820608" y="473136"/>
                    <a:pt x="2684145" y="609600"/>
                    <a:pt x="2515808" y="609600"/>
                  </a:cubicBezTo>
                  <a:lnTo>
                    <a:pt x="304800" y="609600"/>
                  </a:lnTo>
                  <a:cubicBezTo>
                    <a:pt x="136464" y="609600"/>
                    <a:pt x="0" y="473136"/>
                    <a:pt x="0" y="3048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D9F1F1">
                <a:alpha val="0"/>
              </a:srgbClr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2820608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Rp4.525.300.000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4210108" y="5977832"/>
            <a:ext cx="2247833" cy="1280160"/>
            <a:chOff x="0" y="0"/>
            <a:chExt cx="2997111" cy="17068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997111" cy="1706880"/>
            </a:xfrm>
            <a:custGeom>
              <a:avLst/>
              <a:gdLst/>
              <a:ahLst/>
              <a:cxnLst/>
              <a:rect r="r" b="b" t="t" l="l"/>
              <a:pathLst>
                <a:path h="1706880" w="2997111">
                  <a:moveTo>
                    <a:pt x="710877" y="0"/>
                  </a:moveTo>
                  <a:lnTo>
                    <a:pt x="2286235" y="0"/>
                  </a:lnTo>
                  <a:cubicBezTo>
                    <a:pt x="2678841" y="0"/>
                    <a:pt x="2997111" y="318270"/>
                    <a:pt x="2997111" y="710877"/>
                  </a:cubicBezTo>
                  <a:lnTo>
                    <a:pt x="2997111" y="996003"/>
                  </a:lnTo>
                  <a:cubicBezTo>
                    <a:pt x="2997111" y="1184540"/>
                    <a:pt x="2922216" y="1365354"/>
                    <a:pt x="2788900" y="1498669"/>
                  </a:cubicBezTo>
                  <a:cubicBezTo>
                    <a:pt x="2655585" y="1631984"/>
                    <a:pt x="2474771" y="1706880"/>
                    <a:pt x="2286235" y="1706880"/>
                  </a:cubicBezTo>
                  <a:lnTo>
                    <a:pt x="710877" y="1706880"/>
                  </a:lnTo>
                  <a:cubicBezTo>
                    <a:pt x="522340" y="1706880"/>
                    <a:pt x="341526" y="1631984"/>
                    <a:pt x="208211" y="1498669"/>
                  </a:cubicBezTo>
                  <a:cubicBezTo>
                    <a:pt x="74896" y="1365354"/>
                    <a:pt x="0" y="1184540"/>
                    <a:pt x="0" y="996003"/>
                  </a:cubicBezTo>
                  <a:lnTo>
                    <a:pt x="0" y="710877"/>
                  </a:lnTo>
                  <a:cubicBezTo>
                    <a:pt x="0" y="522340"/>
                    <a:pt x="74896" y="341526"/>
                    <a:pt x="208211" y="208211"/>
                  </a:cubicBezTo>
                  <a:cubicBezTo>
                    <a:pt x="341526" y="74896"/>
                    <a:pt x="522340" y="0"/>
                    <a:pt x="710877" y="0"/>
                  </a:cubicBezTo>
                  <a:close/>
                </a:path>
              </a:pathLst>
            </a:custGeom>
            <a:solidFill>
              <a:srgbClr val="D9F1F1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4447622" y="6007886"/>
            <a:ext cx="1830041" cy="797309"/>
            <a:chOff x="0" y="0"/>
            <a:chExt cx="2440055" cy="106307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440055" cy="1063079"/>
            </a:xfrm>
            <a:custGeom>
              <a:avLst/>
              <a:gdLst/>
              <a:ahLst/>
              <a:cxnLst/>
              <a:rect r="r" b="b" t="t" l="l"/>
              <a:pathLst>
                <a:path h="1063079" w="2440055">
                  <a:moveTo>
                    <a:pt x="531540" y="0"/>
                  </a:moveTo>
                  <a:lnTo>
                    <a:pt x="1908515" y="0"/>
                  </a:lnTo>
                  <a:cubicBezTo>
                    <a:pt x="2202076" y="0"/>
                    <a:pt x="2440055" y="237978"/>
                    <a:pt x="2440055" y="531540"/>
                  </a:cubicBezTo>
                  <a:lnTo>
                    <a:pt x="2440055" y="531540"/>
                  </a:lnTo>
                  <a:cubicBezTo>
                    <a:pt x="2440055" y="825101"/>
                    <a:pt x="2202076" y="1063079"/>
                    <a:pt x="1908515" y="1063079"/>
                  </a:cubicBezTo>
                  <a:lnTo>
                    <a:pt x="531540" y="1063079"/>
                  </a:lnTo>
                  <a:cubicBezTo>
                    <a:pt x="237978" y="1063079"/>
                    <a:pt x="0" y="825101"/>
                    <a:pt x="0" y="531540"/>
                  </a:cubicBezTo>
                  <a:lnTo>
                    <a:pt x="0" y="531540"/>
                  </a:lnTo>
                  <a:cubicBezTo>
                    <a:pt x="0" y="237978"/>
                    <a:pt x="237978" y="0"/>
                    <a:pt x="531540" y="0"/>
                  </a:cubicBezTo>
                  <a:close/>
                </a:path>
              </a:pathLst>
            </a:custGeom>
            <a:solidFill>
              <a:srgbClr val="D9F1F1">
                <a:alpha val="0"/>
              </a:srgbClr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2440055" cy="1063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Other Expenses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390387" y="6720580"/>
            <a:ext cx="1887276" cy="457200"/>
            <a:chOff x="0" y="0"/>
            <a:chExt cx="2516368" cy="6096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516368" cy="609600"/>
            </a:xfrm>
            <a:custGeom>
              <a:avLst/>
              <a:gdLst/>
              <a:ahLst/>
              <a:cxnLst/>
              <a:rect r="r" b="b" t="t" l="l"/>
              <a:pathLst>
                <a:path h="609600" w="2516368">
                  <a:moveTo>
                    <a:pt x="304800" y="0"/>
                  </a:moveTo>
                  <a:lnTo>
                    <a:pt x="2211568" y="0"/>
                  </a:lnTo>
                  <a:cubicBezTo>
                    <a:pt x="2379905" y="0"/>
                    <a:pt x="2516368" y="136464"/>
                    <a:pt x="2516368" y="304800"/>
                  </a:cubicBezTo>
                  <a:lnTo>
                    <a:pt x="2516368" y="304800"/>
                  </a:lnTo>
                  <a:cubicBezTo>
                    <a:pt x="2516368" y="385638"/>
                    <a:pt x="2484255" y="463165"/>
                    <a:pt x="2427094" y="520326"/>
                  </a:cubicBezTo>
                  <a:cubicBezTo>
                    <a:pt x="2369933" y="577487"/>
                    <a:pt x="2292406" y="609600"/>
                    <a:pt x="2211568" y="609600"/>
                  </a:cubicBezTo>
                  <a:lnTo>
                    <a:pt x="304800" y="609600"/>
                  </a:lnTo>
                  <a:cubicBezTo>
                    <a:pt x="136464" y="609600"/>
                    <a:pt x="0" y="473136"/>
                    <a:pt x="0" y="3048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D9F1F1">
                <a:alpha val="0"/>
              </a:srgbClr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2516368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Rp1.116.261.006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337223" y="5977832"/>
            <a:ext cx="2324225" cy="1280160"/>
            <a:chOff x="0" y="0"/>
            <a:chExt cx="3098967" cy="170688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098967" cy="1706880"/>
            </a:xfrm>
            <a:custGeom>
              <a:avLst/>
              <a:gdLst/>
              <a:ahLst/>
              <a:cxnLst/>
              <a:rect r="r" b="b" t="t" l="l"/>
              <a:pathLst>
                <a:path h="1706880" w="3098967">
                  <a:moveTo>
                    <a:pt x="687512" y="0"/>
                  </a:moveTo>
                  <a:lnTo>
                    <a:pt x="2411455" y="0"/>
                  </a:lnTo>
                  <a:cubicBezTo>
                    <a:pt x="2593795" y="0"/>
                    <a:pt x="2768666" y="72434"/>
                    <a:pt x="2897599" y="201368"/>
                  </a:cubicBezTo>
                  <a:cubicBezTo>
                    <a:pt x="3026533" y="330301"/>
                    <a:pt x="3098967" y="505172"/>
                    <a:pt x="3098967" y="687512"/>
                  </a:cubicBezTo>
                  <a:lnTo>
                    <a:pt x="3098967" y="1019368"/>
                  </a:lnTo>
                  <a:cubicBezTo>
                    <a:pt x="3098967" y="1399070"/>
                    <a:pt x="2791158" y="1706880"/>
                    <a:pt x="2411455" y="1706880"/>
                  </a:cubicBezTo>
                  <a:lnTo>
                    <a:pt x="687512" y="1706880"/>
                  </a:lnTo>
                  <a:cubicBezTo>
                    <a:pt x="307810" y="1706880"/>
                    <a:pt x="0" y="1399070"/>
                    <a:pt x="0" y="1019368"/>
                  </a:cubicBezTo>
                  <a:lnTo>
                    <a:pt x="0" y="687512"/>
                  </a:lnTo>
                  <a:cubicBezTo>
                    <a:pt x="0" y="307810"/>
                    <a:pt x="307810" y="0"/>
                    <a:pt x="687512" y="0"/>
                  </a:cubicBezTo>
                  <a:close/>
                </a:path>
              </a:pathLst>
            </a:custGeom>
            <a:solidFill>
              <a:srgbClr val="D9F1F1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1421026" y="6007886"/>
            <a:ext cx="2156617" cy="797309"/>
            <a:chOff x="0" y="0"/>
            <a:chExt cx="2875490" cy="1063079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875490" cy="1063079"/>
            </a:xfrm>
            <a:custGeom>
              <a:avLst/>
              <a:gdLst/>
              <a:ahLst/>
              <a:cxnLst/>
              <a:rect r="r" b="b" t="t" l="l"/>
              <a:pathLst>
                <a:path h="1063079" w="2875490">
                  <a:moveTo>
                    <a:pt x="482475" y="0"/>
                  </a:moveTo>
                  <a:lnTo>
                    <a:pt x="2393015" y="0"/>
                  </a:lnTo>
                  <a:cubicBezTo>
                    <a:pt x="2520975" y="0"/>
                    <a:pt x="2643694" y="50832"/>
                    <a:pt x="2734176" y="141314"/>
                  </a:cubicBezTo>
                  <a:cubicBezTo>
                    <a:pt x="2824658" y="231795"/>
                    <a:pt x="2875490" y="354515"/>
                    <a:pt x="2875490" y="482475"/>
                  </a:cubicBezTo>
                  <a:lnTo>
                    <a:pt x="2875490" y="580604"/>
                  </a:lnTo>
                  <a:cubicBezTo>
                    <a:pt x="2875490" y="847068"/>
                    <a:pt x="2659478" y="1063079"/>
                    <a:pt x="2393015" y="1063079"/>
                  </a:cubicBezTo>
                  <a:lnTo>
                    <a:pt x="482475" y="1063079"/>
                  </a:lnTo>
                  <a:cubicBezTo>
                    <a:pt x="354515" y="1063079"/>
                    <a:pt x="231795" y="1012247"/>
                    <a:pt x="141314" y="921765"/>
                  </a:cubicBezTo>
                  <a:cubicBezTo>
                    <a:pt x="50832" y="831284"/>
                    <a:pt x="0" y="708564"/>
                    <a:pt x="0" y="580604"/>
                  </a:cubicBezTo>
                  <a:lnTo>
                    <a:pt x="0" y="482475"/>
                  </a:lnTo>
                  <a:cubicBezTo>
                    <a:pt x="0" y="216011"/>
                    <a:pt x="216011" y="0"/>
                    <a:pt x="482475" y="0"/>
                  </a:cubicBezTo>
                  <a:close/>
                </a:path>
              </a:pathLst>
            </a:custGeom>
            <a:solidFill>
              <a:srgbClr val="D9F1F1">
                <a:alpha val="0"/>
              </a:srgbClr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2875490" cy="1063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1E29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Rekrut &amp; Training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629945" y="6729356"/>
            <a:ext cx="1738780" cy="457200"/>
            <a:chOff x="0" y="0"/>
            <a:chExt cx="2318373" cy="6096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318373" cy="609600"/>
            </a:xfrm>
            <a:custGeom>
              <a:avLst/>
              <a:gdLst/>
              <a:ahLst/>
              <a:cxnLst/>
              <a:rect r="r" b="b" t="t" l="l"/>
              <a:pathLst>
                <a:path h="609600" w="2318373">
                  <a:moveTo>
                    <a:pt x="304800" y="0"/>
                  </a:moveTo>
                  <a:lnTo>
                    <a:pt x="2013573" y="0"/>
                  </a:lnTo>
                  <a:cubicBezTo>
                    <a:pt x="2094411" y="0"/>
                    <a:pt x="2171938" y="32113"/>
                    <a:pt x="2229099" y="89274"/>
                  </a:cubicBezTo>
                  <a:cubicBezTo>
                    <a:pt x="2286260" y="146435"/>
                    <a:pt x="2318373" y="223962"/>
                    <a:pt x="2318373" y="304800"/>
                  </a:cubicBezTo>
                  <a:lnTo>
                    <a:pt x="2318373" y="304800"/>
                  </a:lnTo>
                  <a:cubicBezTo>
                    <a:pt x="2318373" y="473136"/>
                    <a:pt x="2181909" y="609600"/>
                    <a:pt x="2013573" y="609600"/>
                  </a:cubicBezTo>
                  <a:lnTo>
                    <a:pt x="304800" y="609600"/>
                  </a:lnTo>
                  <a:cubicBezTo>
                    <a:pt x="136464" y="609600"/>
                    <a:pt x="0" y="473136"/>
                    <a:pt x="0" y="304800"/>
                  </a:cubicBezTo>
                  <a:lnTo>
                    <a:pt x="0" y="304800"/>
                  </a:ln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D9F1F1">
                <a:alpha val="0"/>
              </a:srgbClr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2318373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Rp73.849.000</a:t>
              </a:r>
            </a:p>
          </p:txBody>
        </p:sp>
      </p:grpSp>
      <p:pic>
        <p:nvPicPr>
          <p:cNvPr name="Picture 102" id="10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8751" y="6903449"/>
            <a:ext cx="6358452" cy="3530944"/>
          </a:xfrm>
          <a:prstGeom prst="rect">
            <a:avLst/>
          </a:prstGeom>
        </p:spPr>
      </p:pic>
      <p:grpSp>
        <p:nvGrpSpPr>
          <p:cNvPr name="Group 103" id="103"/>
          <p:cNvGrpSpPr/>
          <p:nvPr/>
        </p:nvGrpSpPr>
        <p:grpSpPr>
          <a:xfrm rot="0">
            <a:off x="977529" y="9098176"/>
            <a:ext cx="2397102" cy="2202396"/>
            <a:chOff x="0" y="0"/>
            <a:chExt cx="3196136" cy="293652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196136" cy="2936528"/>
            </a:xfrm>
            <a:custGeom>
              <a:avLst/>
              <a:gdLst/>
              <a:ahLst/>
              <a:cxnLst/>
              <a:rect r="r" b="b" t="t" l="l"/>
              <a:pathLst>
                <a:path h="2936528" w="3196136">
                  <a:moveTo>
                    <a:pt x="0" y="0"/>
                  </a:moveTo>
                  <a:lnTo>
                    <a:pt x="3196136" y="0"/>
                  </a:lnTo>
                  <a:lnTo>
                    <a:pt x="3196136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70" r="-60213" b="4941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57150"/>
              <a:ext cx="3196136" cy="29936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1A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99839" y="8568312"/>
            <a:ext cx="2397102" cy="2202396"/>
            <a:chOff x="0" y="0"/>
            <a:chExt cx="3196136" cy="293652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196136" cy="2936528"/>
            </a:xfrm>
            <a:custGeom>
              <a:avLst/>
              <a:gdLst/>
              <a:ahLst/>
              <a:cxnLst/>
              <a:rect r="r" b="b" t="t" l="l"/>
              <a:pathLst>
                <a:path h="2936528" w="3196136">
                  <a:moveTo>
                    <a:pt x="0" y="0"/>
                  </a:moveTo>
                  <a:lnTo>
                    <a:pt x="3196136" y="0"/>
                  </a:lnTo>
                  <a:lnTo>
                    <a:pt x="3196136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70" r="-60213" b="4941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57150"/>
              <a:ext cx="3196136" cy="29936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1B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77529" y="7996978"/>
            <a:ext cx="2397102" cy="2202396"/>
            <a:chOff x="0" y="0"/>
            <a:chExt cx="3196136" cy="293652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196136" cy="2936528"/>
            </a:xfrm>
            <a:custGeom>
              <a:avLst/>
              <a:gdLst/>
              <a:ahLst/>
              <a:cxnLst/>
              <a:rect r="r" b="b" t="t" l="l"/>
              <a:pathLst>
                <a:path h="2936528" w="3196136">
                  <a:moveTo>
                    <a:pt x="0" y="0"/>
                  </a:moveTo>
                  <a:lnTo>
                    <a:pt x="3196136" y="0"/>
                  </a:lnTo>
                  <a:lnTo>
                    <a:pt x="3196136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70" r="-60213" b="4941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57150"/>
              <a:ext cx="3196136" cy="29936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1C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99839" y="7347881"/>
            <a:ext cx="2397102" cy="2202396"/>
            <a:chOff x="0" y="0"/>
            <a:chExt cx="3196136" cy="293652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196136" cy="2936528"/>
            </a:xfrm>
            <a:custGeom>
              <a:avLst/>
              <a:gdLst/>
              <a:ahLst/>
              <a:cxnLst/>
              <a:rect r="r" b="b" t="t" l="l"/>
              <a:pathLst>
                <a:path h="2936528" w="3196136">
                  <a:moveTo>
                    <a:pt x="0" y="0"/>
                  </a:moveTo>
                  <a:lnTo>
                    <a:pt x="3196136" y="0"/>
                  </a:lnTo>
                  <a:lnTo>
                    <a:pt x="3196136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70" r="-60213" b="49415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57150"/>
              <a:ext cx="3196136" cy="29936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1D</a:t>
              </a:r>
            </a:p>
          </p:txBody>
        </p:sp>
      </p:grpSp>
      <p:pic>
        <p:nvPicPr>
          <p:cNvPr name="Picture 115" id="1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29503" y="6487892"/>
            <a:ext cx="5764055" cy="4024618"/>
          </a:xfrm>
          <a:prstGeom prst="rect">
            <a:avLst/>
          </a:prstGeom>
        </p:spPr>
      </p:pic>
      <p:pic>
        <p:nvPicPr>
          <p:cNvPr name="Picture 116" id="1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958360" y="6606403"/>
            <a:ext cx="4449898" cy="3824783"/>
          </a:xfrm>
          <a:prstGeom prst="rect">
            <a:avLst/>
          </a:prstGeom>
        </p:spPr>
      </p:pic>
      <p:grpSp>
        <p:nvGrpSpPr>
          <p:cNvPr name="Group 117" id="117"/>
          <p:cNvGrpSpPr/>
          <p:nvPr/>
        </p:nvGrpSpPr>
        <p:grpSpPr>
          <a:xfrm rot="0">
            <a:off x="6668836" y="8518795"/>
            <a:ext cx="1848084" cy="2202396"/>
            <a:chOff x="0" y="0"/>
            <a:chExt cx="2464113" cy="2936528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464113" cy="2936528"/>
            </a:xfrm>
            <a:custGeom>
              <a:avLst/>
              <a:gdLst/>
              <a:ahLst/>
              <a:cxnLst/>
              <a:rect r="r" b="b" t="t" l="l"/>
              <a:pathLst>
                <a:path h="2936528" w="2464113">
                  <a:moveTo>
                    <a:pt x="0" y="0"/>
                  </a:moveTo>
                  <a:lnTo>
                    <a:pt x="2464113" y="0"/>
                  </a:lnTo>
                  <a:lnTo>
                    <a:pt x="2464113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70" r="-107808" b="494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19" id="119"/>
            <p:cNvSpPr txBox="true"/>
            <p:nvPr/>
          </p:nvSpPr>
          <p:spPr>
            <a:xfrm>
              <a:off x="0" y="-57150"/>
              <a:ext cx="2464113" cy="29936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1B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5990473" y="7497585"/>
            <a:ext cx="1848084" cy="2202396"/>
            <a:chOff x="0" y="0"/>
            <a:chExt cx="2464113" cy="293652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464113" cy="2936528"/>
            </a:xfrm>
            <a:custGeom>
              <a:avLst/>
              <a:gdLst/>
              <a:ahLst/>
              <a:cxnLst/>
              <a:rect r="r" b="b" t="t" l="l"/>
              <a:pathLst>
                <a:path h="2936528" w="2464113">
                  <a:moveTo>
                    <a:pt x="0" y="0"/>
                  </a:moveTo>
                  <a:lnTo>
                    <a:pt x="2464113" y="0"/>
                  </a:lnTo>
                  <a:lnTo>
                    <a:pt x="2464113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70" r="-107808" b="494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0" y="-57150"/>
              <a:ext cx="2464113" cy="29936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1A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8045958" y="8518795"/>
            <a:ext cx="1848084" cy="2202396"/>
            <a:chOff x="0" y="0"/>
            <a:chExt cx="2464113" cy="293652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464113" cy="2936528"/>
            </a:xfrm>
            <a:custGeom>
              <a:avLst/>
              <a:gdLst/>
              <a:ahLst/>
              <a:cxnLst/>
              <a:rect r="r" b="b" t="t" l="l"/>
              <a:pathLst>
                <a:path h="2936528" w="2464113">
                  <a:moveTo>
                    <a:pt x="0" y="0"/>
                  </a:moveTo>
                  <a:lnTo>
                    <a:pt x="2464113" y="0"/>
                  </a:lnTo>
                  <a:lnTo>
                    <a:pt x="2464113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70" r="-107808" b="494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25" id="125"/>
            <p:cNvSpPr txBox="true"/>
            <p:nvPr/>
          </p:nvSpPr>
          <p:spPr>
            <a:xfrm>
              <a:off x="0" y="-57150"/>
              <a:ext cx="2464113" cy="29936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1D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7875620" y="8119101"/>
            <a:ext cx="750066" cy="2202396"/>
            <a:chOff x="0" y="0"/>
            <a:chExt cx="1000089" cy="293652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00089" cy="2936528"/>
            </a:xfrm>
            <a:custGeom>
              <a:avLst/>
              <a:gdLst/>
              <a:ahLst/>
              <a:cxnLst/>
              <a:rect r="r" b="b" t="t" l="l"/>
              <a:pathLst>
                <a:path h="2936528" w="1000089">
                  <a:moveTo>
                    <a:pt x="0" y="0"/>
                  </a:moveTo>
                  <a:lnTo>
                    <a:pt x="1000089" y="0"/>
                  </a:lnTo>
                  <a:lnTo>
                    <a:pt x="1000089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70" r="-412018" b="494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28" id="128"/>
            <p:cNvSpPr txBox="true"/>
            <p:nvPr/>
          </p:nvSpPr>
          <p:spPr>
            <a:xfrm>
              <a:off x="0" y="-57150"/>
              <a:ext cx="1000089" cy="29936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1C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4062512">
            <a:off x="8491323" y="8432979"/>
            <a:ext cx="1848084" cy="2202396"/>
            <a:chOff x="0" y="0"/>
            <a:chExt cx="2464113" cy="293652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464113" cy="2936528"/>
            </a:xfrm>
            <a:custGeom>
              <a:avLst/>
              <a:gdLst/>
              <a:ahLst/>
              <a:cxnLst/>
              <a:rect r="r" b="b" t="t" l="l"/>
              <a:pathLst>
                <a:path h="2936528" w="2464113">
                  <a:moveTo>
                    <a:pt x="0" y="0"/>
                  </a:moveTo>
                  <a:lnTo>
                    <a:pt x="2464113" y="0"/>
                  </a:lnTo>
                  <a:lnTo>
                    <a:pt x="2464113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70" r="-107808" b="494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31" id="131"/>
            <p:cNvSpPr txBox="true"/>
            <p:nvPr/>
          </p:nvSpPr>
          <p:spPr>
            <a:xfrm>
              <a:off x="0" y="-38100"/>
              <a:ext cx="2464113" cy="297462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080"/>
                </a:lnSpc>
              </a:pPr>
              <a:r>
                <a:rPr lang="en-US" sz="22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MARR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0824169" y="8589313"/>
            <a:ext cx="805777" cy="734913"/>
            <a:chOff x="0" y="0"/>
            <a:chExt cx="1074369" cy="979884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074369" cy="979884"/>
            </a:xfrm>
            <a:custGeom>
              <a:avLst/>
              <a:gdLst/>
              <a:ahLst/>
              <a:cxnLst/>
              <a:rect r="r" b="b" t="t" l="l"/>
              <a:pathLst>
                <a:path h="979884" w="1074369">
                  <a:moveTo>
                    <a:pt x="0" y="0"/>
                  </a:moveTo>
                  <a:lnTo>
                    <a:pt x="1074369" y="0"/>
                  </a:lnTo>
                  <a:lnTo>
                    <a:pt x="1074369" y="979884"/>
                  </a:lnTo>
                  <a:lnTo>
                    <a:pt x="0" y="9798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55" r="-376618" b="-51593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57150"/>
              <a:ext cx="1074369" cy="103703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1A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1972666" y="8605836"/>
            <a:ext cx="938864" cy="823912"/>
            <a:chOff x="0" y="0"/>
            <a:chExt cx="1251819" cy="1098549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251820" cy="1098549"/>
            </a:xfrm>
            <a:custGeom>
              <a:avLst/>
              <a:gdLst/>
              <a:ahLst/>
              <a:cxnLst/>
              <a:rect r="r" b="b" t="t" l="l"/>
              <a:pathLst>
                <a:path h="1098549" w="1251820">
                  <a:moveTo>
                    <a:pt x="0" y="0"/>
                  </a:moveTo>
                  <a:lnTo>
                    <a:pt x="1251820" y="0"/>
                  </a:lnTo>
                  <a:lnTo>
                    <a:pt x="1251820" y="1098549"/>
                  </a:lnTo>
                  <a:lnTo>
                    <a:pt x="0" y="10985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432" r="-309055" b="-35218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57150"/>
              <a:ext cx="1251819" cy="115569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1B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3173510" y="8589313"/>
            <a:ext cx="938864" cy="2342237"/>
            <a:chOff x="0" y="0"/>
            <a:chExt cx="1251819" cy="3122983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251820" cy="3122983"/>
            </a:xfrm>
            <a:custGeom>
              <a:avLst/>
              <a:gdLst/>
              <a:ahLst/>
              <a:cxnLst/>
              <a:rect r="r" b="b" t="t" l="l"/>
              <a:pathLst>
                <a:path h="3122983" w="1251820">
                  <a:moveTo>
                    <a:pt x="0" y="0"/>
                  </a:moveTo>
                  <a:lnTo>
                    <a:pt x="1251820" y="0"/>
                  </a:lnTo>
                  <a:lnTo>
                    <a:pt x="1251820" y="3122983"/>
                  </a:lnTo>
                  <a:lnTo>
                    <a:pt x="0" y="31229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33" r="-309055" b="52435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57150"/>
              <a:ext cx="1251819" cy="31801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1C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4301520" y="8605836"/>
            <a:ext cx="938864" cy="2342237"/>
            <a:chOff x="0" y="0"/>
            <a:chExt cx="1251819" cy="3122983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251820" cy="3122983"/>
            </a:xfrm>
            <a:custGeom>
              <a:avLst/>
              <a:gdLst/>
              <a:ahLst/>
              <a:cxnLst/>
              <a:rect r="r" b="b" t="t" l="l"/>
              <a:pathLst>
                <a:path h="3122983" w="1251820">
                  <a:moveTo>
                    <a:pt x="0" y="0"/>
                  </a:moveTo>
                  <a:lnTo>
                    <a:pt x="1251820" y="0"/>
                  </a:lnTo>
                  <a:lnTo>
                    <a:pt x="1251820" y="3122983"/>
                  </a:lnTo>
                  <a:lnTo>
                    <a:pt x="0" y="31229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33" r="-309055" b="52435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57150"/>
              <a:ext cx="1251819" cy="31801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1D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6732464" y="9324226"/>
            <a:ext cx="1848084" cy="2202396"/>
            <a:chOff x="0" y="0"/>
            <a:chExt cx="2464113" cy="293652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464113" cy="2936528"/>
            </a:xfrm>
            <a:custGeom>
              <a:avLst/>
              <a:gdLst/>
              <a:ahLst/>
              <a:cxnLst/>
              <a:rect r="r" b="b" t="t" l="l"/>
              <a:pathLst>
                <a:path h="2936528" w="2464113">
                  <a:moveTo>
                    <a:pt x="0" y="0"/>
                  </a:moveTo>
                  <a:lnTo>
                    <a:pt x="2464113" y="0"/>
                  </a:lnTo>
                  <a:lnTo>
                    <a:pt x="2464113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70" r="-107808" b="494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46" id="146"/>
            <p:cNvSpPr txBox="true"/>
            <p:nvPr/>
          </p:nvSpPr>
          <p:spPr>
            <a:xfrm>
              <a:off x="0" y="-57150"/>
              <a:ext cx="2464113" cy="29936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1B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7431708" y="8930974"/>
            <a:ext cx="1848084" cy="2202396"/>
            <a:chOff x="0" y="0"/>
            <a:chExt cx="2464113" cy="2936528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464113" cy="2936528"/>
            </a:xfrm>
            <a:custGeom>
              <a:avLst/>
              <a:gdLst/>
              <a:ahLst/>
              <a:cxnLst/>
              <a:rect r="r" b="b" t="t" l="l"/>
              <a:pathLst>
                <a:path h="2936528" w="2464113">
                  <a:moveTo>
                    <a:pt x="0" y="0"/>
                  </a:moveTo>
                  <a:lnTo>
                    <a:pt x="2464113" y="0"/>
                  </a:lnTo>
                  <a:lnTo>
                    <a:pt x="2464113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70" r="-107808" b="494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49" id="149"/>
            <p:cNvSpPr txBox="true"/>
            <p:nvPr/>
          </p:nvSpPr>
          <p:spPr>
            <a:xfrm>
              <a:off x="0" y="-57150"/>
              <a:ext cx="2464113" cy="29936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1C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8045958" y="9324226"/>
            <a:ext cx="1848084" cy="2202396"/>
            <a:chOff x="0" y="0"/>
            <a:chExt cx="2464113" cy="293652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464113" cy="2936528"/>
            </a:xfrm>
            <a:custGeom>
              <a:avLst/>
              <a:gdLst/>
              <a:ahLst/>
              <a:cxnLst/>
              <a:rect r="r" b="b" t="t" l="l"/>
              <a:pathLst>
                <a:path h="2936528" w="2464113">
                  <a:moveTo>
                    <a:pt x="0" y="0"/>
                  </a:moveTo>
                  <a:lnTo>
                    <a:pt x="2464113" y="0"/>
                  </a:lnTo>
                  <a:lnTo>
                    <a:pt x="2464113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70" r="-107808" b="494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52" id="152"/>
            <p:cNvSpPr txBox="true"/>
            <p:nvPr/>
          </p:nvSpPr>
          <p:spPr>
            <a:xfrm>
              <a:off x="0" y="-57150"/>
              <a:ext cx="2464113" cy="29936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1D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-3377396">
            <a:off x="9284732" y="9097781"/>
            <a:ext cx="1504980" cy="1143459"/>
            <a:chOff x="0" y="0"/>
            <a:chExt cx="3864953" cy="2936528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3864953" cy="2936528"/>
            </a:xfrm>
            <a:custGeom>
              <a:avLst/>
              <a:gdLst/>
              <a:ahLst/>
              <a:cxnLst/>
              <a:rect r="r" b="b" t="t" l="l"/>
              <a:pathLst>
                <a:path h="2936528" w="3864953">
                  <a:moveTo>
                    <a:pt x="0" y="0"/>
                  </a:moveTo>
                  <a:lnTo>
                    <a:pt x="3864953" y="0"/>
                  </a:lnTo>
                  <a:lnTo>
                    <a:pt x="3864953" y="2936528"/>
                  </a:lnTo>
                  <a:lnTo>
                    <a:pt x="0" y="2936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70" r="-32489" b="4941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55" id="155"/>
            <p:cNvSpPr txBox="true"/>
            <p:nvPr/>
          </p:nvSpPr>
          <p:spPr>
            <a:xfrm>
              <a:off x="0" y="-38100"/>
              <a:ext cx="3864953" cy="297462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660"/>
                </a:lnSpc>
              </a:pPr>
              <a:r>
                <a:rPr lang="en-US" sz="1900" b="tru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MARR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5430057" y="7532493"/>
            <a:ext cx="2559295" cy="2527868"/>
            <a:chOff x="0" y="0"/>
            <a:chExt cx="674053" cy="66577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674053" cy="665776"/>
            </a:xfrm>
            <a:custGeom>
              <a:avLst/>
              <a:gdLst/>
              <a:ahLst/>
              <a:cxnLst/>
              <a:rect r="r" b="b" t="t" l="l"/>
              <a:pathLst>
                <a:path h="665776" w="674053">
                  <a:moveTo>
                    <a:pt x="39325" y="0"/>
                  </a:moveTo>
                  <a:lnTo>
                    <a:pt x="634728" y="0"/>
                  </a:lnTo>
                  <a:cubicBezTo>
                    <a:pt x="645157" y="0"/>
                    <a:pt x="655160" y="4143"/>
                    <a:pt x="662535" y="11518"/>
                  </a:cubicBezTo>
                  <a:cubicBezTo>
                    <a:pt x="669910" y="18893"/>
                    <a:pt x="674053" y="28896"/>
                    <a:pt x="674053" y="39325"/>
                  </a:cubicBezTo>
                  <a:lnTo>
                    <a:pt x="674053" y="626451"/>
                  </a:lnTo>
                  <a:cubicBezTo>
                    <a:pt x="674053" y="648169"/>
                    <a:pt x="656446" y="665776"/>
                    <a:pt x="634728" y="665776"/>
                  </a:cubicBezTo>
                  <a:lnTo>
                    <a:pt x="39325" y="665776"/>
                  </a:lnTo>
                  <a:cubicBezTo>
                    <a:pt x="17607" y="665776"/>
                    <a:pt x="0" y="648169"/>
                    <a:pt x="0" y="626451"/>
                  </a:cubicBezTo>
                  <a:lnTo>
                    <a:pt x="0" y="39325"/>
                  </a:lnTo>
                  <a:cubicBezTo>
                    <a:pt x="0" y="17607"/>
                    <a:pt x="17607" y="0"/>
                    <a:pt x="3932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674053" cy="703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9" id="159"/>
          <p:cNvSpPr txBox="true"/>
          <p:nvPr/>
        </p:nvSpPr>
        <p:spPr>
          <a:xfrm rot="0">
            <a:off x="15540472" y="7562792"/>
            <a:ext cx="2338464" cy="241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4"/>
              </a:lnSpc>
            </a:pPr>
            <a:r>
              <a:rPr lang="en-US" sz="2760" b="true">
                <a:solidFill>
                  <a:srgbClr val="014CBD"/>
                </a:solidFill>
                <a:latin typeface="Inter Bold"/>
                <a:ea typeface="Inter Bold"/>
                <a:cs typeface="Inter Bold"/>
                <a:sym typeface="Inter Bold"/>
              </a:rPr>
              <a:t>Skenario 1A (Pembayaran rutin sama besar) terpilih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1028700" y="7014674"/>
            <a:ext cx="2783493" cy="34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9"/>
              </a:lnSpc>
            </a:pPr>
            <a:r>
              <a:rPr lang="en-US" sz="2435" b="true">
                <a:solidFill>
                  <a:srgbClr val="034C4D"/>
                </a:solidFill>
                <a:latin typeface="Inter Bold"/>
                <a:ea typeface="Inter Bold"/>
                <a:cs typeface="Inter Bold"/>
                <a:sym typeface="Inter Bold"/>
              </a:rPr>
              <a:t>Payback Period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7053976" y="7152324"/>
            <a:ext cx="2783493" cy="34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9"/>
              </a:lnSpc>
            </a:pPr>
            <a:r>
              <a:rPr lang="en-US" sz="2435" b="true">
                <a:solidFill>
                  <a:srgbClr val="034C4D"/>
                </a:solidFill>
                <a:latin typeface="Inter Bold"/>
                <a:ea typeface="Inter Bold"/>
                <a:cs typeface="Inter Bold"/>
                <a:sym typeface="Inter Bold"/>
              </a:rPr>
              <a:t>IRR vs MARR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1519784" y="7277042"/>
            <a:ext cx="2783493" cy="34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9"/>
              </a:lnSpc>
            </a:pPr>
            <a:r>
              <a:rPr lang="en-US" sz="2435" b="true">
                <a:solidFill>
                  <a:srgbClr val="034C4D"/>
                </a:solidFill>
                <a:latin typeface="Inter Bold"/>
                <a:ea typeface="Inter Bold"/>
                <a:cs typeface="Inter Bold"/>
                <a:sym typeface="Inter Bold"/>
              </a:rPr>
              <a:t>NPV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11859956" y="3551090"/>
            <a:ext cx="3775427" cy="41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2913">
                <a:gradFill>
                  <a:gsLst>
                    <a:gs pos="0">
                      <a:srgbClr val="0150C8">
                        <a:alpha val="100000"/>
                      </a:srgbClr>
                    </a:gs>
                    <a:gs pos="100000">
                      <a:srgbClr val="02101B">
                        <a:alpha val="100000"/>
                      </a:srgbClr>
                    </a:gs>
                  </a:gsLst>
                  <a:lin ang="0"/>
                </a:gradFill>
                <a:latin typeface="Public Sans 2 Bold"/>
                <a:ea typeface="Public Sans 2 Bold"/>
                <a:cs typeface="Public Sans 2 Bold"/>
                <a:sym typeface="Public Sans 2 Bold"/>
              </a:rPr>
              <a:t>Kebutuhan Investasi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05222" y="201321"/>
            <a:ext cx="2874537" cy="610570"/>
            <a:chOff x="0" y="0"/>
            <a:chExt cx="757080" cy="1608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7080" cy="160809"/>
            </a:xfrm>
            <a:custGeom>
              <a:avLst/>
              <a:gdLst/>
              <a:ahLst/>
              <a:cxnLst/>
              <a:rect r="r" b="b" t="t" l="l"/>
              <a:pathLst>
                <a:path h="160809" w="757080">
                  <a:moveTo>
                    <a:pt x="0" y="0"/>
                  </a:moveTo>
                  <a:lnTo>
                    <a:pt x="757080" y="0"/>
                  </a:lnTo>
                  <a:lnTo>
                    <a:pt x="757080" y="160809"/>
                  </a:lnTo>
                  <a:lnTo>
                    <a:pt x="0" y="160809"/>
                  </a:lnTo>
                  <a:close/>
                </a:path>
              </a:pathLst>
            </a:custGeom>
            <a:gradFill rotWithShape="true">
              <a:gsLst>
                <a:gs pos="0">
                  <a:srgbClr val="06D1B2">
                    <a:alpha val="100000"/>
                  </a:srgbClr>
                </a:gs>
                <a:gs pos="100000">
                  <a:srgbClr val="006D8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7080" cy="198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93108" y="-19244"/>
            <a:ext cx="12352120" cy="10325489"/>
          </a:xfrm>
          <a:custGeom>
            <a:avLst/>
            <a:gdLst/>
            <a:ahLst/>
            <a:cxnLst/>
            <a:rect r="r" b="b" t="t" l="l"/>
            <a:pathLst>
              <a:path h="10325489" w="12352120">
                <a:moveTo>
                  <a:pt x="0" y="0"/>
                </a:moveTo>
                <a:lnTo>
                  <a:pt x="12352120" y="0"/>
                </a:lnTo>
                <a:lnTo>
                  <a:pt x="12352120" y="10325488"/>
                </a:lnTo>
                <a:lnTo>
                  <a:pt x="0" y="10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33" t="0" r="-1273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83309" y="-275581"/>
            <a:ext cx="10972320" cy="10758087"/>
            <a:chOff x="0" y="0"/>
            <a:chExt cx="2889829" cy="28334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9829" cy="2833406"/>
            </a:xfrm>
            <a:custGeom>
              <a:avLst/>
              <a:gdLst/>
              <a:ahLst/>
              <a:cxnLst/>
              <a:rect r="r" b="b" t="t" l="l"/>
              <a:pathLst>
                <a:path h="2833406" w="2889829">
                  <a:moveTo>
                    <a:pt x="0" y="0"/>
                  </a:moveTo>
                  <a:lnTo>
                    <a:pt x="2889829" y="0"/>
                  </a:lnTo>
                  <a:lnTo>
                    <a:pt x="2889829" y="2833406"/>
                  </a:lnTo>
                  <a:lnTo>
                    <a:pt x="0" y="2833406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70000"/>
                  </a:srgbClr>
                </a:gs>
                <a:gs pos="100000">
                  <a:srgbClr val="FCE1A5">
                    <a:alpha val="745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889829" cy="2871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46584" y="506606"/>
            <a:ext cx="3526582" cy="785415"/>
            <a:chOff x="0" y="0"/>
            <a:chExt cx="928812" cy="2068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8812" cy="206858"/>
            </a:xfrm>
            <a:custGeom>
              <a:avLst/>
              <a:gdLst/>
              <a:ahLst/>
              <a:cxnLst/>
              <a:rect r="r" b="b" t="t" l="l"/>
              <a:pathLst>
                <a:path h="206858" w="928812">
                  <a:moveTo>
                    <a:pt x="103429" y="0"/>
                  </a:moveTo>
                  <a:lnTo>
                    <a:pt x="825383" y="0"/>
                  </a:lnTo>
                  <a:cubicBezTo>
                    <a:pt x="882505" y="0"/>
                    <a:pt x="928812" y="46307"/>
                    <a:pt x="928812" y="103429"/>
                  </a:cubicBezTo>
                  <a:lnTo>
                    <a:pt x="928812" y="103429"/>
                  </a:lnTo>
                  <a:cubicBezTo>
                    <a:pt x="928812" y="160552"/>
                    <a:pt x="882505" y="206858"/>
                    <a:pt x="825383" y="206858"/>
                  </a:cubicBezTo>
                  <a:lnTo>
                    <a:pt x="103429" y="206858"/>
                  </a:lnTo>
                  <a:cubicBezTo>
                    <a:pt x="46307" y="206858"/>
                    <a:pt x="0" y="160552"/>
                    <a:pt x="0" y="103429"/>
                  </a:cubicBezTo>
                  <a:lnTo>
                    <a:pt x="0" y="103429"/>
                  </a:lnTo>
                  <a:cubicBezTo>
                    <a:pt x="0" y="46307"/>
                    <a:pt x="46307" y="0"/>
                    <a:pt x="103429" y="0"/>
                  </a:cubicBez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8812" cy="2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15990825" y="605426"/>
            <a:ext cx="0" cy="587775"/>
          </a:xfrm>
          <a:prstGeom prst="line">
            <a:avLst/>
          </a:prstGeom>
          <a:ln cap="flat" w="19050">
            <a:solidFill>
              <a:srgbClr val="F9F8E4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69315" y="172159"/>
            <a:ext cx="2769128" cy="592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1"/>
              </a:lnSpc>
            </a:pPr>
            <a:r>
              <a:rPr lang="en-US" sz="3422" b="true">
                <a:solidFill>
                  <a:srgbClr val="000000"/>
                </a:solidFill>
                <a:latin typeface="Public Sans 1 Bold"/>
                <a:ea typeface="Public Sans 1 Bold"/>
                <a:cs typeface="Public Sans 1 Bold"/>
                <a:sym typeface="Public Sans 1 Bold"/>
              </a:rPr>
              <a:t>Kesimpulan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08188" y="537442"/>
            <a:ext cx="1525487" cy="61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TI3094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73792" y="720514"/>
            <a:ext cx="1529957" cy="42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3243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PPST IV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5058" y="1801003"/>
            <a:ext cx="796345" cy="750653"/>
            <a:chOff x="0" y="0"/>
            <a:chExt cx="1061794" cy="100087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61794" cy="1000871"/>
              <a:chOff x="0" y="0"/>
              <a:chExt cx="862275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622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2275">
                    <a:moveTo>
                      <a:pt x="431138" y="0"/>
                    </a:moveTo>
                    <a:cubicBezTo>
                      <a:pt x="193027" y="0"/>
                      <a:pt x="0" y="181951"/>
                      <a:pt x="0" y="406400"/>
                    </a:cubicBezTo>
                    <a:cubicBezTo>
                      <a:pt x="0" y="630849"/>
                      <a:pt x="193027" y="812800"/>
                      <a:pt x="431138" y="812800"/>
                    </a:cubicBezTo>
                    <a:cubicBezTo>
                      <a:pt x="669248" y="812800"/>
                      <a:pt x="862275" y="630849"/>
                      <a:pt x="862275" y="406400"/>
                    </a:cubicBezTo>
                    <a:cubicBezTo>
                      <a:pt x="862275" y="181951"/>
                      <a:pt x="669248" y="0"/>
                      <a:pt x="43113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D47900">
                      <a:alpha val="86000"/>
                    </a:srgbClr>
                  </a:gs>
                  <a:gs pos="50000">
                    <a:srgbClr val="FBDC9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80838" y="19050"/>
                <a:ext cx="700599" cy="717550"/>
              </a:xfrm>
              <a:prstGeom prst="rect">
                <a:avLst/>
              </a:prstGeom>
            </p:spPr>
            <p:txBody>
              <a:bodyPr anchor="ctr" rtlCol="false" tIns="55816" lIns="55816" bIns="55816" rIns="55816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14776" y="119765"/>
              <a:ext cx="661855" cy="7799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3"/>
                </a:lnSpc>
              </a:pPr>
              <a:r>
                <a:rPr lang="en-US" sz="3698" b="true">
                  <a:solidFill>
                    <a:srgbClr val="AA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5058" y="3218588"/>
            <a:ext cx="796345" cy="750653"/>
            <a:chOff x="0" y="0"/>
            <a:chExt cx="1061794" cy="100087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61794" cy="1000871"/>
              <a:chOff x="0" y="0"/>
              <a:chExt cx="862275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622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2275">
                    <a:moveTo>
                      <a:pt x="431138" y="0"/>
                    </a:moveTo>
                    <a:cubicBezTo>
                      <a:pt x="193027" y="0"/>
                      <a:pt x="0" y="181951"/>
                      <a:pt x="0" y="406400"/>
                    </a:cubicBezTo>
                    <a:cubicBezTo>
                      <a:pt x="0" y="630849"/>
                      <a:pt x="193027" y="812800"/>
                      <a:pt x="431138" y="812800"/>
                    </a:cubicBezTo>
                    <a:cubicBezTo>
                      <a:pt x="669248" y="812800"/>
                      <a:pt x="862275" y="630849"/>
                      <a:pt x="862275" y="406400"/>
                    </a:cubicBezTo>
                    <a:cubicBezTo>
                      <a:pt x="862275" y="181951"/>
                      <a:pt x="669248" y="0"/>
                      <a:pt x="43113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D47900">
                      <a:alpha val="86000"/>
                    </a:srgbClr>
                  </a:gs>
                  <a:gs pos="50000">
                    <a:srgbClr val="FBDC9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80838" y="19050"/>
                <a:ext cx="700599" cy="717550"/>
              </a:xfrm>
              <a:prstGeom prst="rect">
                <a:avLst/>
              </a:prstGeom>
            </p:spPr>
            <p:txBody>
              <a:bodyPr anchor="ctr" rtlCol="false" tIns="55816" lIns="55816" bIns="55816" rIns="55816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14776" y="119765"/>
              <a:ext cx="661855" cy="7799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3"/>
                </a:lnSpc>
              </a:pPr>
              <a:r>
                <a:rPr lang="en-US" sz="3698" b="true">
                  <a:solidFill>
                    <a:srgbClr val="AA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5058" y="4515478"/>
            <a:ext cx="796345" cy="750653"/>
            <a:chOff x="0" y="0"/>
            <a:chExt cx="1061794" cy="1000871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061794" cy="1000871"/>
              <a:chOff x="0" y="0"/>
              <a:chExt cx="862275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622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2275">
                    <a:moveTo>
                      <a:pt x="431138" y="0"/>
                    </a:moveTo>
                    <a:cubicBezTo>
                      <a:pt x="193027" y="0"/>
                      <a:pt x="0" y="181951"/>
                      <a:pt x="0" y="406400"/>
                    </a:cubicBezTo>
                    <a:cubicBezTo>
                      <a:pt x="0" y="630849"/>
                      <a:pt x="193027" y="812800"/>
                      <a:pt x="431138" y="812800"/>
                    </a:cubicBezTo>
                    <a:cubicBezTo>
                      <a:pt x="669248" y="812800"/>
                      <a:pt x="862275" y="630849"/>
                      <a:pt x="862275" y="406400"/>
                    </a:cubicBezTo>
                    <a:cubicBezTo>
                      <a:pt x="862275" y="181951"/>
                      <a:pt x="669248" y="0"/>
                      <a:pt x="43113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D47900">
                      <a:alpha val="86000"/>
                    </a:srgbClr>
                  </a:gs>
                  <a:gs pos="50000">
                    <a:srgbClr val="FBDC9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80838" y="19050"/>
                <a:ext cx="700599" cy="717550"/>
              </a:xfrm>
              <a:prstGeom prst="rect">
                <a:avLst/>
              </a:prstGeom>
            </p:spPr>
            <p:txBody>
              <a:bodyPr anchor="ctr" rtlCol="false" tIns="55816" lIns="55816" bIns="55816" rIns="55816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14776" y="119765"/>
              <a:ext cx="661855" cy="7799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3"/>
                </a:lnSpc>
              </a:pPr>
              <a:r>
                <a:rPr lang="en-US" sz="3698" b="true">
                  <a:solidFill>
                    <a:srgbClr val="AA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8700" y="5755033"/>
            <a:ext cx="796345" cy="750653"/>
            <a:chOff x="0" y="0"/>
            <a:chExt cx="1061794" cy="1000871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061794" cy="1000871"/>
              <a:chOff x="0" y="0"/>
              <a:chExt cx="862275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622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2275">
                    <a:moveTo>
                      <a:pt x="431138" y="0"/>
                    </a:moveTo>
                    <a:cubicBezTo>
                      <a:pt x="193027" y="0"/>
                      <a:pt x="0" y="181951"/>
                      <a:pt x="0" y="406400"/>
                    </a:cubicBezTo>
                    <a:cubicBezTo>
                      <a:pt x="0" y="630849"/>
                      <a:pt x="193027" y="812800"/>
                      <a:pt x="431138" y="812800"/>
                    </a:cubicBezTo>
                    <a:cubicBezTo>
                      <a:pt x="669248" y="812800"/>
                      <a:pt x="862275" y="630849"/>
                      <a:pt x="862275" y="406400"/>
                    </a:cubicBezTo>
                    <a:cubicBezTo>
                      <a:pt x="862275" y="181951"/>
                      <a:pt x="669248" y="0"/>
                      <a:pt x="43113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D47900">
                      <a:alpha val="86000"/>
                    </a:srgbClr>
                  </a:gs>
                  <a:gs pos="50000">
                    <a:srgbClr val="FBDC9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80838" y="19050"/>
                <a:ext cx="700599" cy="717550"/>
              </a:xfrm>
              <a:prstGeom prst="rect">
                <a:avLst/>
              </a:prstGeom>
            </p:spPr>
            <p:txBody>
              <a:bodyPr anchor="ctr" rtlCol="false" tIns="55816" lIns="55816" bIns="55816" rIns="55816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214776" y="119765"/>
              <a:ext cx="661855" cy="7799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3"/>
                </a:lnSpc>
              </a:pPr>
              <a:r>
                <a:rPr lang="en-US" sz="3698" b="true">
                  <a:solidFill>
                    <a:srgbClr val="AA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85058" y="6994589"/>
            <a:ext cx="796345" cy="750653"/>
            <a:chOff x="0" y="0"/>
            <a:chExt cx="1061794" cy="1000871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061794" cy="1000871"/>
              <a:chOff x="0" y="0"/>
              <a:chExt cx="862275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622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2275">
                    <a:moveTo>
                      <a:pt x="431138" y="0"/>
                    </a:moveTo>
                    <a:cubicBezTo>
                      <a:pt x="193027" y="0"/>
                      <a:pt x="0" y="181951"/>
                      <a:pt x="0" y="406400"/>
                    </a:cubicBezTo>
                    <a:cubicBezTo>
                      <a:pt x="0" y="630849"/>
                      <a:pt x="193027" y="812800"/>
                      <a:pt x="431138" y="812800"/>
                    </a:cubicBezTo>
                    <a:cubicBezTo>
                      <a:pt x="669248" y="812800"/>
                      <a:pt x="862275" y="630849"/>
                      <a:pt x="862275" y="406400"/>
                    </a:cubicBezTo>
                    <a:cubicBezTo>
                      <a:pt x="862275" y="181951"/>
                      <a:pt x="669248" y="0"/>
                      <a:pt x="43113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D47900">
                      <a:alpha val="86000"/>
                    </a:srgbClr>
                  </a:gs>
                  <a:gs pos="50000">
                    <a:srgbClr val="FBDC9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80838" y="19050"/>
                <a:ext cx="700599" cy="717550"/>
              </a:xfrm>
              <a:prstGeom prst="rect">
                <a:avLst/>
              </a:prstGeom>
            </p:spPr>
            <p:txBody>
              <a:bodyPr anchor="ctr" rtlCol="false" tIns="55816" lIns="55816" bIns="55816" rIns="55816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214776" y="119765"/>
              <a:ext cx="661855" cy="7799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3"/>
                </a:lnSpc>
              </a:pPr>
              <a:r>
                <a:rPr lang="en-US" sz="3698" b="true">
                  <a:solidFill>
                    <a:srgbClr val="AA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85058" y="8364590"/>
            <a:ext cx="796345" cy="750653"/>
            <a:chOff x="0" y="0"/>
            <a:chExt cx="1061794" cy="1000871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1061794" cy="1000871"/>
              <a:chOff x="0" y="0"/>
              <a:chExt cx="862275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622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2275">
                    <a:moveTo>
                      <a:pt x="431138" y="0"/>
                    </a:moveTo>
                    <a:cubicBezTo>
                      <a:pt x="193027" y="0"/>
                      <a:pt x="0" y="181951"/>
                      <a:pt x="0" y="406400"/>
                    </a:cubicBezTo>
                    <a:cubicBezTo>
                      <a:pt x="0" y="630849"/>
                      <a:pt x="193027" y="812800"/>
                      <a:pt x="431138" y="812800"/>
                    </a:cubicBezTo>
                    <a:cubicBezTo>
                      <a:pt x="669248" y="812800"/>
                      <a:pt x="862275" y="630849"/>
                      <a:pt x="862275" y="406400"/>
                    </a:cubicBezTo>
                    <a:cubicBezTo>
                      <a:pt x="862275" y="181951"/>
                      <a:pt x="669248" y="0"/>
                      <a:pt x="43113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D47900">
                      <a:alpha val="86000"/>
                    </a:srgbClr>
                  </a:gs>
                  <a:gs pos="50000">
                    <a:srgbClr val="FBDC9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80838" y="19050"/>
                <a:ext cx="700599" cy="717550"/>
              </a:xfrm>
              <a:prstGeom prst="rect">
                <a:avLst/>
              </a:prstGeom>
            </p:spPr>
            <p:txBody>
              <a:bodyPr anchor="ctr" rtlCol="false" tIns="55816" lIns="55816" bIns="55816" rIns="55816"/>
              <a:lstStyle/>
              <a:p>
                <a:pPr algn="ctr">
                  <a:lnSpc>
                    <a:spcPts val="251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214776" y="119765"/>
              <a:ext cx="661855" cy="7799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3"/>
                </a:lnSpc>
              </a:pPr>
              <a:r>
                <a:rPr lang="en-US" sz="3698" b="true">
                  <a:solidFill>
                    <a:srgbClr val="AA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989309" y="1801003"/>
            <a:ext cx="15436297" cy="1081491"/>
            <a:chOff x="0" y="0"/>
            <a:chExt cx="4065527" cy="28483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65527" cy="284837"/>
            </a:xfrm>
            <a:custGeom>
              <a:avLst/>
              <a:gdLst/>
              <a:ahLst/>
              <a:cxnLst/>
              <a:rect r="r" b="b" t="t" l="l"/>
              <a:pathLst>
                <a:path h="284837" w="4065527">
                  <a:moveTo>
                    <a:pt x="6520" y="0"/>
                  </a:moveTo>
                  <a:lnTo>
                    <a:pt x="4059007" y="0"/>
                  </a:lnTo>
                  <a:cubicBezTo>
                    <a:pt x="4060736" y="0"/>
                    <a:pt x="4062394" y="687"/>
                    <a:pt x="4063617" y="1910"/>
                  </a:cubicBezTo>
                  <a:cubicBezTo>
                    <a:pt x="4064840" y="3132"/>
                    <a:pt x="4065527" y="4791"/>
                    <a:pt x="4065527" y="6520"/>
                  </a:cubicBezTo>
                  <a:lnTo>
                    <a:pt x="4065527" y="278317"/>
                  </a:lnTo>
                  <a:cubicBezTo>
                    <a:pt x="4065527" y="280046"/>
                    <a:pt x="4064840" y="281705"/>
                    <a:pt x="4063617" y="282927"/>
                  </a:cubicBezTo>
                  <a:cubicBezTo>
                    <a:pt x="4062394" y="284150"/>
                    <a:pt x="4060736" y="284837"/>
                    <a:pt x="4059007" y="284837"/>
                  </a:cubicBezTo>
                  <a:lnTo>
                    <a:pt x="6520" y="284837"/>
                  </a:lnTo>
                  <a:cubicBezTo>
                    <a:pt x="4791" y="284837"/>
                    <a:pt x="3132" y="284150"/>
                    <a:pt x="1910" y="282927"/>
                  </a:cubicBezTo>
                  <a:cubicBezTo>
                    <a:pt x="687" y="281705"/>
                    <a:pt x="0" y="280046"/>
                    <a:pt x="0" y="278317"/>
                  </a:cubicBezTo>
                  <a:lnTo>
                    <a:pt x="0" y="6520"/>
                  </a:lnTo>
                  <a:cubicBezTo>
                    <a:pt x="0" y="4791"/>
                    <a:pt x="687" y="3132"/>
                    <a:pt x="1910" y="1910"/>
                  </a:cubicBezTo>
                  <a:cubicBezTo>
                    <a:pt x="3132" y="687"/>
                    <a:pt x="4791" y="0"/>
                    <a:pt x="65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065527" cy="322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364730" y="1886910"/>
            <a:ext cx="14863599" cy="85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Estimasi kebutuhan produksi tripod portable PT Opticapture adalah se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 29.538 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ni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 p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hu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a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 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ek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ita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 123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unit per h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8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j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989309" y="3075531"/>
            <a:ext cx="15436297" cy="1081491"/>
            <a:chOff x="0" y="0"/>
            <a:chExt cx="4065527" cy="28483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65527" cy="284837"/>
            </a:xfrm>
            <a:custGeom>
              <a:avLst/>
              <a:gdLst/>
              <a:ahLst/>
              <a:cxnLst/>
              <a:rect r="r" b="b" t="t" l="l"/>
              <a:pathLst>
                <a:path h="284837" w="4065527">
                  <a:moveTo>
                    <a:pt x="6520" y="0"/>
                  </a:moveTo>
                  <a:lnTo>
                    <a:pt x="4059007" y="0"/>
                  </a:lnTo>
                  <a:cubicBezTo>
                    <a:pt x="4060736" y="0"/>
                    <a:pt x="4062394" y="687"/>
                    <a:pt x="4063617" y="1910"/>
                  </a:cubicBezTo>
                  <a:cubicBezTo>
                    <a:pt x="4064840" y="3132"/>
                    <a:pt x="4065527" y="4791"/>
                    <a:pt x="4065527" y="6520"/>
                  </a:cubicBezTo>
                  <a:lnTo>
                    <a:pt x="4065527" y="278317"/>
                  </a:lnTo>
                  <a:cubicBezTo>
                    <a:pt x="4065527" y="280046"/>
                    <a:pt x="4064840" y="281705"/>
                    <a:pt x="4063617" y="282927"/>
                  </a:cubicBezTo>
                  <a:cubicBezTo>
                    <a:pt x="4062394" y="284150"/>
                    <a:pt x="4060736" y="284837"/>
                    <a:pt x="4059007" y="284837"/>
                  </a:cubicBezTo>
                  <a:lnTo>
                    <a:pt x="6520" y="284837"/>
                  </a:lnTo>
                  <a:cubicBezTo>
                    <a:pt x="4791" y="284837"/>
                    <a:pt x="3132" y="284150"/>
                    <a:pt x="1910" y="282927"/>
                  </a:cubicBezTo>
                  <a:cubicBezTo>
                    <a:pt x="687" y="281705"/>
                    <a:pt x="0" y="280046"/>
                    <a:pt x="0" y="278317"/>
                  </a:cubicBezTo>
                  <a:lnTo>
                    <a:pt x="0" y="6520"/>
                  </a:lnTo>
                  <a:cubicBezTo>
                    <a:pt x="0" y="4791"/>
                    <a:pt x="687" y="3132"/>
                    <a:pt x="1910" y="1910"/>
                  </a:cubicBezTo>
                  <a:cubicBezTo>
                    <a:pt x="3132" y="687"/>
                    <a:pt x="4791" y="0"/>
                    <a:pt x="65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065527" cy="322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395701" y="3161438"/>
            <a:ext cx="14863599" cy="85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Multi Product Proces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Ch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(MPPC) berhasil disusun berdasarkan Routing Sheet dan Operation Process Chart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989309" y="4350059"/>
            <a:ext cx="15436297" cy="1081491"/>
            <a:chOff x="0" y="0"/>
            <a:chExt cx="4065527" cy="28483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065527" cy="284837"/>
            </a:xfrm>
            <a:custGeom>
              <a:avLst/>
              <a:gdLst/>
              <a:ahLst/>
              <a:cxnLst/>
              <a:rect r="r" b="b" t="t" l="l"/>
              <a:pathLst>
                <a:path h="284837" w="4065527">
                  <a:moveTo>
                    <a:pt x="6520" y="0"/>
                  </a:moveTo>
                  <a:lnTo>
                    <a:pt x="4059007" y="0"/>
                  </a:lnTo>
                  <a:cubicBezTo>
                    <a:pt x="4060736" y="0"/>
                    <a:pt x="4062394" y="687"/>
                    <a:pt x="4063617" y="1910"/>
                  </a:cubicBezTo>
                  <a:cubicBezTo>
                    <a:pt x="4064840" y="3132"/>
                    <a:pt x="4065527" y="4791"/>
                    <a:pt x="4065527" y="6520"/>
                  </a:cubicBezTo>
                  <a:lnTo>
                    <a:pt x="4065527" y="278317"/>
                  </a:lnTo>
                  <a:cubicBezTo>
                    <a:pt x="4065527" y="280046"/>
                    <a:pt x="4064840" y="281705"/>
                    <a:pt x="4063617" y="282927"/>
                  </a:cubicBezTo>
                  <a:cubicBezTo>
                    <a:pt x="4062394" y="284150"/>
                    <a:pt x="4060736" y="284837"/>
                    <a:pt x="4059007" y="284837"/>
                  </a:cubicBezTo>
                  <a:lnTo>
                    <a:pt x="6520" y="284837"/>
                  </a:lnTo>
                  <a:cubicBezTo>
                    <a:pt x="4791" y="284837"/>
                    <a:pt x="3132" y="284150"/>
                    <a:pt x="1910" y="282927"/>
                  </a:cubicBezTo>
                  <a:cubicBezTo>
                    <a:pt x="687" y="281705"/>
                    <a:pt x="0" y="280046"/>
                    <a:pt x="0" y="278317"/>
                  </a:cubicBezTo>
                  <a:lnTo>
                    <a:pt x="0" y="6520"/>
                  </a:lnTo>
                  <a:cubicBezTo>
                    <a:pt x="0" y="4791"/>
                    <a:pt x="687" y="3132"/>
                    <a:pt x="1910" y="1910"/>
                  </a:cubicBezTo>
                  <a:cubicBezTo>
                    <a:pt x="3132" y="687"/>
                    <a:pt x="4791" y="0"/>
                    <a:pt x="65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065527" cy="322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2395701" y="4435966"/>
            <a:ext cx="14863599" cy="85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Biay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OMH untuk penggunaan forklift adalah sebesar Rp12,16/meter, sedangkan biaya OMH untuk pallet adalah sebesar Rp0,01507/meter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989309" y="5622050"/>
            <a:ext cx="15436297" cy="1081491"/>
            <a:chOff x="0" y="0"/>
            <a:chExt cx="4065527" cy="28483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065527" cy="284837"/>
            </a:xfrm>
            <a:custGeom>
              <a:avLst/>
              <a:gdLst/>
              <a:ahLst/>
              <a:cxnLst/>
              <a:rect r="r" b="b" t="t" l="l"/>
              <a:pathLst>
                <a:path h="284837" w="4065527">
                  <a:moveTo>
                    <a:pt x="6520" y="0"/>
                  </a:moveTo>
                  <a:lnTo>
                    <a:pt x="4059007" y="0"/>
                  </a:lnTo>
                  <a:cubicBezTo>
                    <a:pt x="4060736" y="0"/>
                    <a:pt x="4062394" y="687"/>
                    <a:pt x="4063617" y="1910"/>
                  </a:cubicBezTo>
                  <a:cubicBezTo>
                    <a:pt x="4064840" y="3132"/>
                    <a:pt x="4065527" y="4791"/>
                    <a:pt x="4065527" y="6520"/>
                  </a:cubicBezTo>
                  <a:lnTo>
                    <a:pt x="4065527" y="278317"/>
                  </a:lnTo>
                  <a:cubicBezTo>
                    <a:pt x="4065527" y="280046"/>
                    <a:pt x="4064840" y="281705"/>
                    <a:pt x="4063617" y="282927"/>
                  </a:cubicBezTo>
                  <a:cubicBezTo>
                    <a:pt x="4062394" y="284150"/>
                    <a:pt x="4060736" y="284837"/>
                    <a:pt x="4059007" y="284837"/>
                  </a:cubicBezTo>
                  <a:lnTo>
                    <a:pt x="6520" y="284837"/>
                  </a:lnTo>
                  <a:cubicBezTo>
                    <a:pt x="4791" y="284837"/>
                    <a:pt x="3132" y="284150"/>
                    <a:pt x="1910" y="282927"/>
                  </a:cubicBezTo>
                  <a:cubicBezTo>
                    <a:pt x="687" y="281705"/>
                    <a:pt x="0" y="280046"/>
                    <a:pt x="0" y="278317"/>
                  </a:cubicBezTo>
                  <a:lnTo>
                    <a:pt x="0" y="6520"/>
                  </a:lnTo>
                  <a:cubicBezTo>
                    <a:pt x="0" y="4791"/>
                    <a:pt x="687" y="3132"/>
                    <a:pt x="1910" y="1910"/>
                  </a:cubicBezTo>
                  <a:cubicBezTo>
                    <a:pt x="3132" y="687"/>
                    <a:pt x="4791" y="0"/>
                    <a:pt x="65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4065527" cy="322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2395701" y="5707957"/>
            <a:ext cx="14863599" cy="85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Activity Relationship Chart (ARC), Activity Relationship Diagram (ARD), dan Area Allocation Diagram (AAD) berhasil disusun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989309" y="6894041"/>
            <a:ext cx="15436297" cy="1081491"/>
            <a:chOff x="0" y="0"/>
            <a:chExt cx="4065527" cy="28483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065527" cy="284837"/>
            </a:xfrm>
            <a:custGeom>
              <a:avLst/>
              <a:gdLst/>
              <a:ahLst/>
              <a:cxnLst/>
              <a:rect r="r" b="b" t="t" l="l"/>
              <a:pathLst>
                <a:path h="284837" w="4065527">
                  <a:moveTo>
                    <a:pt x="6520" y="0"/>
                  </a:moveTo>
                  <a:lnTo>
                    <a:pt x="4059007" y="0"/>
                  </a:lnTo>
                  <a:cubicBezTo>
                    <a:pt x="4060736" y="0"/>
                    <a:pt x="4062394" y="687"/>
                    <a:pt x="4063617" y="1910"/>
                  </a:cubicBezTo>
                  <a:cubicBezTo>
                    <a:pt x="4064840" y="3132"/>
                    <a:pt x="4065527" y="4791"/>
                    <a:pt x="4065527" y="6520"/>
                  </a:cubicBezTo>
                  <a:lnTo>
                    <a:pt x="4065527" y="278317"/>
                  </a:lnTo>
                  <a:cubicBezTo>
                    <a:pt x="4065527" y="280046"/>
                    <a:pt x="4064840" y="281705"/>
                    <a:pt x="4063617" y="282927"/>
                  </a:cubicBezTo>
                  <a:cubicBezTo>
                    <a:pt x="4062394" y="284150"/>
                    <a:pt x="4060736" y="284837"/>
                    <a:pt x="4059007" y="284837"/>
                  </a:cubicBezTo>
                  <a:lnTo>
                    <a:pt x="6520" y="284837"/>
                  </a:lnTo>
                  <a:cubicBezTo>
                    <a:pt x="4791" y="284837"/>
                    <a:pt x="3132" y="284150"/>
                    <a:pt x="1910" y="282927"/>
                  </a:cubicBezTo>
                  <a:cubicBezTo>
                    <a:pt x="687" y="281705"/>
                    <a:pt x="0" y="280046"/>
                    <a:pt x="0" y="278317"/>
                  </a:cubicBezTo>
                  <a:lnTo>
                    <a:pt x="0" y="6520"/>
                  </a:lnTo>
                  <a:cubicBezTo>
                    <a:pt x="0" y="4791"/>
                    <a:pt x="687" y="3132"/>
                    <a:pt x="1910" y="1910"/>
                  </a:cubicBezTo>
                  <a:cubicBezTo>
                    <a:pt x="3132" y="687"/>
                    <a:pt x="4791" y="0"/>
                    <a:pt x="65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065527" cy="322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2395701" y="6979948"/>
            <a:ext cx="14863599" cy="85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Berdasarkan evaluasi beberapa alternatif tata letak menggunakan metode WinQSB, CRAFT/Add-ins Excel, Python, dan perhitungan manual, tata letak hasil algoritma Python dipilih sebagai layout terbaik.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989309" y="8176809"/>
            <a:ext cx="15436297" cy="1081491"/>
            <a:chOff x="0" y="0"/>
            <a:chExt cx="4065527" cy="28483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65527" cy="284837"/>
            </a:xfrm>
            <a:custGeom>
              <a:avLst/>
              <a:gdLst/>
              <a:ahLst/>
              <a:cxnLst/>
              <a:rect r="r" b="b" t="t" l="l"/>
              <a:pathLst>
                <a:path h="284837" w="4065527">
                  <a:moveTo>
                    <a:pt x="6520" y="0"/>
                  </a:moveTo>
                  <a:lnTo>
                    <a:pt x="4059007" y="0"/>
                  </a:lnTo>
                  <a:cubicBezTo>
                    <a:pt x="4060736" y="0"/>
                    <a:pt x="4062394" y="687"/>
                    <a:pt x="4063617" y="1910"/>
                  </a:cubicBezTo>
                  <a:cubicBezTo>
                    <a:pt x="4064840" y="3132"/>
                    <a:pt x="4065527" y="4791"/>
                    <a:pt x="4065527" y="6520"/>
                  </a:cubicBezTo>
                  <a:lnTo>
                    <a:pt x="4065527" y="278317"/>
                  </a:lnTo>
                  <a:cubicBezTo>
                    <a:pt x="4065527" y="280046"/>
                    <a:pt x="4064840" y="281705"/>
                    <a:pt x="4063617" y="282927"/>
                  </a:cubicBezTo>
                  <a:cubicBezTo>
                    <a:pt x="4062394" y="284150"/>
                    <a:pt x="4060736" y="284837"/>
                    <a:pt x="4059007" y="284837"/>
                  </a:cubicBezTo>
                  <a:lnTo>
                    <a:pt x="6520" y="284837"/>
                  </a:lnTo>
                  <a:cubicBezTo>
                    <a:pt x="4791" y="284837"/>
                    <a:pt x="3132" y="284150"/>
                    <a:pt x="1910" y="282927"/>
                  </a:cubicBezTo>
                  <a:cubicBezTo>
                    <a:pt x="687" y="281705"/>
                    <a:pt x="0" y="280046"/>
                    <a:pt x="0" y="278317"/>
                  </a:cubicBezTo>
                  <a:lnTo>
                    <a:pt x="0" y="6520"/>
                  </a:lnTo>
                  <a:cubicBezTo>
                    <a:pt x="0" y="4791"/>
                    <a:pt x="687" y="3132"/>
                    <a:pt x="1910" y="1910"/>
                  </a:cubicBezTo>
                  <a:cubicBezTo>
                    <a:pt x="3132" y="687"/>
                    <a:pt x="4791" y="0"/>
                    <a:pt x="65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065527" cy="322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2395701" y="8262715"/>
            <a:ext cx="14863599" cy="85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Dari analisis kelayakan investasi, didapat bahwasanya skenario 1 terpilih sebagai skenario terbaik untuk pengembalian pinjaman (pembayaran rutin sama besar)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389455"/>
            <a:chOff x="0" y="0"/>
            <a:chExt cx="4816593" cy="27363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36317"/>
            </a:xfrm>
            <a:custGeom>
              <a:avLst/>
              <a:gdLst/>
              <a:ahLst/>
              <a:cxnLst/>
              <a:rect r="r" b="b" t="t" l="l"/>
              <a:pathLst>
                <a:path h="273631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36317"/>
                  </a:lnTo>
                  <a:lnTo>
                    <a:pt x="0" y="2736317"/>
                  </a:lnTo>
                  <a:close/>
                </a:path>
              </a:pathLst>
            </a:custGeom>
            <a:solidFill>
              <a:srgbClr val="B6B6B6">
                <a:alpha val="4196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74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58608" y="4305061"/>
            <a:ext cx="8370783" cy="126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70"/>
              </a:lnSpc>
            </a:pPr>
            <a:r>
              <a:rPr lang="en-US" b="true" sz="8746">
                <a:gradFill>
                  <a:gsLst>
                    <a:gs pos="0">
                      <a:srgbClr val="D8F9FF">
                        <a:alpha val="100000"/>
                      </a:srgbClr>
                    </a:gs>
                    <a:gs pos="100000">
                      <a:srgbClr val="F9F8E4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Terima Kasih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246584" y="506606"/>
            <a:ext cx="3526582" cy="785415"/>
            <a:chOff x="0" y="0"/>
            <a:chExt cx="928812" cy="2068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8812" cy="206858"/>
            </a:xfrm>
            <a:custGeom>
              <a:avLst/>
              <a:gdLst/>
              <a:ahLst/>
              <a:cxnLst/>
              <a:rect r="r" b="b" t="t" l="l"/>
              <a:pathLst>
                <a:path h="206858" w="928812">
                  <a:moveTo>
                    <a:pt x="103429" y="0"/>
                  </a:moveTo>
                  <a:lnTo>
                    <a:pt x="825383" y="0"/>
                  </a:lnTo>
                  <a:cubicBezTo>
                    <a:pt x="882505" y="0"/>
                    <a:pt x="928812" y="46307"/>
                    <a:pt x="928812" y="103429"/>
                  </a:cubicBezTo>
                  <a:lnTo>
                    <a:pt x="928812" y="103429"/>
                  </a:lnTo>
                  <a:cubicBezTo>
                    <a:pt x="928812" y="160552"/>
                    <a:pt x="882505" y="206858"/>
                    <a:pt x="825383" y="206858"/>
                  </a:cubicBezTo>
                  <a:lnTo>
                    <a:pt x="103429" y="206858"/>
                  </a:lnTo>
                  <a:cubicBezTo>
                    <a:pt x="46307" y="206858"/>
                    <a:pt x="0" y="160552"/>
                    <a:pt x="0" y="103429"/>
                  </a:cubicBezTo>
                  <a:lnTo>
                    <a:pt x="0" y="103429"/>
                  </a:lnTo>
                  <a:cubicBezTo>
                    <a:pt x="0" y="46307"/>
                    <a:pt x="46307" y="0"/>
                    <a:pt x="103429" y="0"/>
                  </a:cubicBezTo>
                  <a:close/>
                </a:path>
              </a:pathLst>
            </a:custGeom>
            <a:solidFill>
              <a:srgbClr val="003C4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28812" cy="2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408188" y="537442"/>
            <a:ext cx="1525487" cy="61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TI3094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73792" y="720514"/>
            <a:ext cx="1529957" cy="42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1"/>
              </a:lnSpc>
            </a:pPr>
            <a:r>
              <a:rPr lang="en-US" sz="3243" b="true">
                <a:solidFill>
                  <a:srgbClr val="F9F8E4"/>
                </a:solidFill>
                <a:latin typeface="Poppins Bold"/>
                <a:ea typeface="Poppins Bold"/>
                <a:cs typeface="Poppins Bold"/>
                <a:sym typeface="Poppins Bold"/>
              </a:rPr>
              <a:t>PPST IV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5990825" y="605426"/>
            <a:ext cx="0" cy="587775"/>
          </a:xfrm>
          <a:prstGeom prst="line">
            <a:avLst/>
          </a:prstGeom>
          <a:ln cap="flat" w="19050">
            <a:solidFill>
              <a:srgbClr val="F9F8E4"/>
            </a:solidFill>
            <a:prstDash val="sysDash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DAHLllElCRI</dc:identifier>
  <dcterms:modified xsi:type="dcterms:W3CDTF">2011-08-01T06:04:30Z</dcterms:modified>
  <cp:revision>1</cp:revision>
  <dc:title>Slide Presentasi_C15_OptiCapture</dc:title>
</cp:coreProperties>
</file>